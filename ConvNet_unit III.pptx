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59" r:id="rId7"/>
    <p:sldId id="273" r:id="rId8"/>
    <p:sldId id="266" r:id="rId9"/>
    <p:sldId id="267" r:id="rId10"/>
    <p:sldId id="268" r:id="rId11"/>
    <p:sldId id="263" r:id="rId12"/>
    <p:sldId id="264" r:id="rId13"/>
    <p:sldId id="274" r:id="rId14"/>
    <p:sldId id="275" r:id="rId15"/>
    <p:sldId id="277" r:id="rId16"/>
    <p:sldId id="276" r:id="rId17"/>
    <p:sldId id="279" r:id="rId18"/>
    <p:sldId id="280" r:id="rId19"/>
    <p:sldId id="282" r:id="rId20"/>
    <p:sldId id="283" r:id="rId21"/>
    <p:sldId id="284" r:id="rId22"/>
    <p:sldId id="285" r:id="rId23"/>
    <p:sldId id="281" r:id="rId24"/>
    <p:sldId id="286" r:id="rId25"/>
    <p:sldId id="265" r:id="rId26"/>
    <p:sldId id="269" r:id="rId27"/>
    <p:sldId id="270" r:id="rId28"/>
    <p:sldId id="271" r:id="rId29"/>
    <p:sldId id="272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3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77A0-C7E4-4918-B074-2478297F721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7727B-A78B-444C-B8B0-CD4565A446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77A0-C7E4-4918-B074-2478297F721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7727B-A78B-444C-B8B0-CD4565A446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77A0-C7E4-4918-B074-2478297F721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7727B-A78B-444C-B8B0-CD4565A446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77A0-C7E4-4918-B074-2478297F721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7727B-A78B-444C-B8B0-CD4565A446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77A0-C7E4-4918-B074-2478297F721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7727B-A78B-444C-B8B0-CD4565A446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77A0-C7E4-4918-B074-2478297F721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7727B-A78B-444C-B8B0-CD4565A446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77A0-C7E4-4918-B074-2478297F721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7727B-A78B-444C-B8B0-CD4565A446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77A0-C7E4-4918-B074-2478297F721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7727B-A78B-444C-B8B0-CD4565A446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77A0-C7E4-4918-B074-2478297F721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7727B-A78B-444C-B8B0-CD4565A446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77A0-C7E4-4918-B074-2478297F721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7727B-A78B-444C-B8B0-CD4565A446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77A0-C7E4-4918-B074-2478297F721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7727B-A78B-444C-B8B0-CD4565A446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777A0-C7E4-4918-B074-2478297F721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7727B-A78B-444C-B8B0-CD4565A4463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50000"/>
        </a:lnSpc>
        <a:spcBef>
          <a:spcPts val="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lnSpc>
          <a:spcPct val="150000"/>
        </a:lnSpc>
        <a:spcBef>
          <a:spcPts val="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/>
          <a:lstStyle/>
          <a:p>
            <a:r>
              <a:rPr lang="en-US" dirty="0" err="1" smtClean="0"/>
              <a:t>ConvNet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 smtClean="0"/>
              <a:t>S.Hemalatha</a:t>
            </a:r>
            <a:endParaRPr lang="en-US" dirty="0" smtClean="0"/>
          </a:p>
          <a:p>
            <a:r>
              <a:rPr lang="en-US" dirty="0" smtClean="0"/>
              <a:t>AP(S</a:t>
            </a:r>
            <a:r>
              <a:rPr lang="en-US" dirty="0" smtClean="0"/>
              <a:t> </a:t>
            </a:r>
            <a:r>
              <a:rPr lang="en-US" dirty="0" err="1" smtClean="0"/>
              <a:t>r.G</a:t>
            </a:r>
            <a:r>
              <a:rPr lang="en-US" dirty="0" smtClean="0"/>
              <a:t>) </a:t>
            </a:r>
          </a:p>
          <a:p>
            <a:r>
              <a:rPr lang="en-US" dirty="0" smtClean="0"/>
              <a:t>Dept. Of Computer Applications</a:t>
            </a:r>
          </a:p>
          <a:p>
            <a:r>
              <a:rPr lang="en-US" dirty="0" smtClean="0"/>
              <a:t>KEC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779912" y="2348880"/>
            <a:ext cx="38884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Convolutional</a:t>
            </a:r>
            <a:r>
              <a:rPr lang="en-US" dirty="0" smtClean="0"/>
              <a:t> N</a:t>
            </a:r>
            <a:r>
              <a:rPr lang="en-US" dirty="0" smtClean="0"/>
              <a:t>etwork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b="1" dirty="0" smtClean="0"/>
              <a:t>CNN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8568952" cy="547260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/>
              <a:t>A </a:t>
            </a:r>
            <a:r>
              <a:rPr lang="en-US" dirty="0" err="1"/>
              <a:t>Convolutional</a:t>
            </a:r>
            <a:r>
              <a:rPr lang="en-US" dirty="0"/>
              <a:t> Neural Network (</a:t>
            </a:r>
            <a:r>
              <a:rPr lang="en-US" dirty="0" err="1"/>
              <a:t>ConvNet</a:t>
            </a:r>
            <a:r>
              <a:rPr lang="en-US" dirty="0"/>
              <a:t> or CNN) is a class of deep neural networks primarily used for </a:t>
            </a:r>
            <a:r>
              <a:rPr lang="en-US" b="1" dirty="0">
                <a:solidFill>
                  <a:srgbClr val="0000FF"/>
                </a:solidFill>
              </a:rPr>
              <a:t>analyzing visual </a:t>
            </a:r>
            <a:r>
              <a:rPr lang="en-US" b="1" dirty="0" smtClean="0">
                <a:solidFill>
                  <a:srgbClr val="0000FF"/>
                </a:solidFill>
              </a:rPr>
              <a:t>data </a:t>
            </a:r>
            <a:r>
              <a:rPr lang="en-US" dirty="0" smtClean="0"/>
              <a:t>such as </a:t>
            </a:r>
            <a:r>
              <a:rPr lang="en-US" b="1" dirty="0" smtClean="0">
                <a:solidFill>
                  <a:srgbClr val="C00000"/>
                </a:solidFill>
              </a:rPr>
              <a:t>images or videos</a:t>
            </a:r>
            <a:r>
              <a:rPr lang="en-US" dirty="0" smtClean="0"/>
              <a:t>, where </a:t>
            </a:r>
            <a:r>
              <a:rPr lang="en-US" b="1" dirty="0" smtClean="0">
                <a:solidFill>
                  <a:srgbClr val="C00000"/>
                </a:solidFill>
              </a:rPr>
              <a:t>data patterns play a crucial role</a:t>
            </a:r>
            <a:r>
              <a:rPr lang="en-US" dirty="0" smtClean="0"/>
              <a:t>. </a:t>
            </a:r>
            <a:r>
              <a:rPr lang="en-US" dirty="0" smtClean="0"/>
              <a:t>.</a:t>
            </a:r>
          </a:p>
          <a:p>
            <a:pPr>
              <a:lnSpc>
                <a:spcPct val="170000"/>
              </a:lnSpc>
            </a:pPr>
            <a:r>
              <a:rPr lang="en-US" dirty="0"/>
              <a:t> </a:t>
            </a:r>
            <a:r>
              <a:rPr lang="en-US" b="1" dirty="0" smtClean="0">
                <a:solidFill>
                  <a:srgbClr val="0000FF"/>
                </a:solidFill>
              </a:rPr>
              <a:t>advanced </a:t>
            </a:r>
            <a:r>
              <a:rPr lang="en-US" b="1" dirty="0">
                <a:solidFill>
                  <a:srgbClr val="0000FF"/>
                </a:solidFill>
              </a:rPr>
              <a:t>version of artificial neural networks (ANNs</a:t>
            </a:r>
            <a:r>
              <a:rPr lang="en-US" b="1" dirty="0"/>
              <a:t>)</a:t>
            </a:r>
            <a:r>
              <a:rPr lang="en-US" dirty="0"/>
              <a:t>, </a:t>
            </a:r>
            <a:r>
              <a:rPr lang="en-US" b="1" dirty="0">
                <a:solidFill>
                  <a:srgbClr val="0000FF"/>
                </a:solidFill>
              </a:rPr>
              <a:t>primarily designed to extract features</a:t>
            </a:r>
            <a:r>
              <a:rPr lang="en-US" dirty="0"/>
              <a:t> from grid-like matrix datasets. </a:t>
            </a:r>
            <a:endParaRPr lang="en-US" dirty="0" smtClean="0"/>
          </a:p>
          <a:p>
            <a:pPr>
              <a:lnSpc>
                <a:spcPct val="170000"/>
              </a:lnSpc>
            </a:pPr>
            <a:r>
              <a:rPr lang="en-US" dirty="0" smtClean="0"/>
              <a:t>CNNs </a:t>
            </a:r>
            <a:r>
              <a:rPr lang="en-US" dirty="0"/>
              <a:t>are widely used in </a:t>
            </a:r>
            <a:r>
              <a:rPr lang="en-US" b="1" dirty="0">
                <a:solidFill>
                  <a:srgbClr val="0000FF"/>
                </a:solidFill>
              </a:rPr>
              <a:t>computer vision</a:t>
            </a:r>
            <a:r>
              <a:rPr lang="en-US" dirty="0"/>
              <a:t> </a:t>
            </a:r>
            <a:r>
              <a:rPr lang="en-US" dirty="0" smtClean="0"/>
              <a:t>applications.</a:t>
            </a:r>
            <a:endParaRPr lang="en-US" dirty="0"/>
          </a:p>
          <a:p>
            <a:pPr fontAlgn="base"/>
            <a:r>
              <a:rPr lang="en-US" dirty="0"/>
              <a:t>CNNs consist of multiple layers like the </a:t>
            </a:r>
            <a:r>
              <a:rPr lang="en-US" b="1" dirty="0">
                <a:solidFill>
                  <a:srgbClr val="0000FF"/>
                </a:solidFill>
              </a:rPr>
              <a:t>input layer, </a:t>
            </a:r>
            <a:r>
              <a:rPr lang="en-US" b="1" dirty="0" err="1">
                <a:solidFill>
                  <a:srgbClr val="0000FF"/>
                </a:solidFill>
              </a:rPr>
              <a:t>Convolutional</a:t>
            </a:r>
            <a:r>
              <a:rPr lang="en-US" b="1" dirty="0">
                <a:solidFill>
                  <a:srgbClr val="0000FF"/>
                </a:solidFill>
              </a:rPr>
              <a:t> layer, pooling layer, and fully connected layers</a:t>
            </a:r>
            <a:r>
              <a:rPr lang="en-US" dirty="0"/>
              <a:t>.</a:t>
            </a:r>
          </a:p>
          <a:p>
            <a:pPr>
              <a:lnSpc>
                <a:spcPct val="170000"/>
              </a:lnSpc>
            </a:pPr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Architecture of CNN</a:t>
            </a:r>
            <a:endParaRPr lang="en-US" b="1" dirty="0"/>
          </a:p>
        </p:txBody>
      </p:sp>
      <p:pic>
        <p:nvPicPr>
          <p:cNvPr id="4" name="Picture 2" descr="ma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3" y="1700808"/>
            <a:ext cx="8581613" cy="3600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Core Components and Layers of a </a:t>
            </a:r>
            <a:r>
              <a:rPr lang="en-US" sz="3200" b="1" dirty="0" err="1" smtClean="0"/>
              <a:t>ConvNet</a:t>
            </a:r>
            <a:r>
              <a:rPr lang="en-US" sz="3200" b="1" dirty="0" smtClean="0"/>
              <a:t>: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20688"/>
            <a:ext cx="8640960" cy="568863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b="1" dirty="0" smtClean="0"/>
              <a:t>Input </a:t>
            </a:r>
            <a:r>
              <a:rPr lang="en-US" sz="1200" b="1" dirty="0"/>
              <a:t>Layer:</a:t>
            </a:r>
            <a:endParaRPr lang="en-US" sz="1200" dirty="0"/>
          </a:p>
          <a:p>
            <a:pPr fontAlgn="ctr"/>
            <a:r>
              <a:rPr lang="en-US" sz="1200" dirty="0"/>
              <a:t>This layer receives the raw input data, typically an image represented as a multi-dimensional array (e.g., height x width x color channels</a:t>
            </a:r>
            <a:r>
              <a:rPr lang="en-US" sz="1200" dirty="0" smtClean="0"/>
              <a:t>). </a:t>
            </a:r>
            <a:r>
              <a:rPr lang="en-US" sz="1200" dirty="0" smtClean="0"/>
              <a:t>(</a:t>
            </a:r>
            <a:r>
              <a:rPr lang="en-US" sz="1200" dirty="0" err="1" smtClean="0"/>
              <a:t>eg.image</a:t>
            </a:r>
            <a:r>
              <a:rPr lang="en-US" sz="1200" dirty="0" smtClean="0"/>
              <a:t> of dimension 32 x 32 x 3)</a:t>
            </a:r>
            <a:endParaRPr lang="en-US" sz="1200" dirty="0" smtClean="0"/>
          </a:p>
          <a:p>
            <a:pPr fontAlgn="ctr"/>
            <a:r>
              <a:rPr lang="en-US" sz="1200" dirty="0" smtClean="0"/>
              <a:t>This layer holds the raw input of the image with width 32, height 32, and depth 3.</a:t>
            </a:r>
          </a:p>
          <a:p>
            <a:pPr fontAlgn="ctr">
              <a:buNone/>
            </a:pPr>
            <a:r>
              <a:rPr lang="en-US" sz="1200" b="1" dirty="0" err="1" smtClean="0"/>
              <a:t>Convolutional</a:t>
            </a:r>
            <a:r>
              <a:rPr lang="en-US" sz="1200" b="1" dirty="0" smtClean="0"/>
              <a:t> </a:t>
            </a:r>
            <a:r>
              <a:rPr lang="en-US" sz="1200" b="1" dirty="0"/>
              <a:t>Layer:</a:t>
            </a:r>
            <a:endParaRPr lang="en-US" sz="1200" dirty="0"/>
          </a:p>
          <a:p>
            <a:pPr fontAlgn="ctr"/>
            <a:r>
              <a:rPr lang="en-US" sz="1200" dirty="0"/>
              <a:t>This is the fundamental building block of a </a:t>
            </a:r>
            <a:r>
              <a:rPr lang="en-US" sz="1200" dirty="0" err="1"/>
              <a:t>ConvNet</a:t>
            </a:r>
            <a:r>
              <a:rPr lang="en-US" sz="1200" dirty="0"/>
              <a:t>.</a:t>
            </a:r>
          </a:p>
          <a:p>
            <a:pPr fontAlgn="ctr"/>
            <a:r>
              <a:rPr lang="en-US" sz="1200" dirty="0"/>
              <a:t>It applies a </a:t>
            </a:r>
            <a:r>
              <a:rPr lang="en-US" sz="1200" b="1" dirty="0">
                <a:solidFill>
                  <a:srgbClr val="0000FF"/>
                </a:solidFill>
              </a:rPr>
              <a:t>set of learnable filters (also called kernels</a:t>
            </a:r>
            <a:r>
              <a:rPr lang="en-US" sz="1200" dirty="0"/>
              <a:t>) to the input volume</a:t>
            </a:r>
            <a:r>
              <a:rPr lang="en-US" sz="1200" dirty="0" smtClean="0"/>
              <a:t>. </a:t>
            </a:r>
            <a:r>
              <a:rPr lang="en-US" sz="1200" dirty="0" smtClean="0"/>
              <a:t>The filters/kernels are smaller matrices usually 2x2, 3x3, or 5x5 shape.</a:t>
            </a:r>
            <a:endParaRPr lang="en-US" sz="1200" dirty="0"/>
          </a:p>
          <a:p>
            <a:pPr fontAlgn="ctr"/>
            <a:r>
              <a:rPr lang="en-US" sz="1200" dirty="0"/>
              <a:t>Each filter </a:t>
            </a:r>
            <a:r>
              <a:rPr lang="en-US" sz="1200" b="1" dirty="0">
                <a:solidFill>
                  <a:srgbClr val="0000FF"/>
                </a:solidFill>
              </a:rPr>
              <a:t>performs a convolution operation</a:t>
            </a:r>
            <a:r>
              <a:rPr lang="en-US" sz="1200" dirty="0"/>
              <a:t>, </a:t>
            </a:r>
            <a:r>
              <a:rPr lang="en-US" sz="1200" b="1" dirty="0">
                <a:solidFill>
                  <a:srgbClr val="C00000"/>
                </a:solidFill>
              </a:rPr>
              <a:t>sliding</a:t>
            </a:r>
            <a:r>
              <a:rPr lang="en-US" sz="1200" dirty="0"/>
              <a:t> across the input and </a:t>
            </a:r>
            <a:r>
              <a:rPr lang="en-US" sz="1200" b="1" dirty="0">
                <a:solidFill>
                  <a:srgbClr val="C00000"/>
                </a:solidFill>
              </a:rPr>
              <a:t>computing the dot product </a:t>
            </a:r>
            <a:r>
              <a:rPr lang="en-US" sz="1200" dirty="0"/>
              <a:t>between the filter's weights and the corresponding input region.</a:t>
            </a:r>
          </a:p>
          <a:p>
            <a:pPr fontAlgn="ctr"/>
            <a:r>
              <a:rPr lang="en-US" sz="1200" dirty="0"/>
              <a:t>This process </a:t>
            </a:r>
            <a:r>
              <a:rPr lang="en-US" sz="1200" b="1" dirty="0">
                <a:solidFill>
                  <a:srgbClr val="0000FF"/>
                </a:solidFill>
              </a:rPr>
              <a:t>extracts features like edges, textures, and patterns</a:t>
            </a:r>
            <a:r>
              <a:rPr lang="en-US" sz="1200" dirty="0"/>
              <a:t>, generating feature maps that represent the presence of these features at different locations.</a:t>
            </a:r>
          </a:p>
          <a:p>
            <a:pPr fontAlgn="ctr">
              <a:buNone/>
            </a:pPr>
            <a:r>
              <a:rPr lang="en-US" sz="1200" b="1" dirty="0"/>
              <a:t>Activation Function (e.g., </a:t>
            </a:r>
            <a:r>
              <a:rPr lang="en-US" sz="1200" b="1" dirty="0" err="1"/>
              <a:t>ReLU</a:t>
            </a:r>
            <a:r>
              <a:rPr lang="en-US" sz="1200" b="1" dirty="0"/>
              <a:t>):</a:t>
            </a:r>
            <a:endParaRPr lang="en-US" sz="1200" dirty="0"/>
          </a:p>
          <a:p>
            <a:pPr fontAlgn="ctr"/>
            <a:r>
              <a:rPr lang="en-US" sz="1200" dirty="0"/>
              <a:t>Typically applied after the </a:t>
            </a:r>
            <a:r>
              <a:rPr lang="en-US" sz="1200" dirty="0" err="1"/>
              <a:t>convolutional</a:t>
            </a:r>
            <a:r>
              <a:rPr lang="en-US" sz="1200" dirty="0"/>
              <a:t> layer.</a:t>
            </a:r>
          </a:p>
          <a:p>
            <a:pPr fontAlgn="ctr"/>
            <a:r>
              <a:rPr lang="en-US" sz="1200" dirty="0"/>
              <a:t>It </a:t>
            </a:r>
            <a:r>
              <a:rPr lang="en-US" sz="1200" b="1" dirty="0">
                <a:solidFill>
                  <a:srgbClr val="0000FF"/>
                </a:solidFill>
              </a:rPr>
              <a:t>introduces non-linearity </a:t>
            </a:r>
            <a:r>
              <a:rPr lang="en-US" sz="1200" dirty="0"/>
              <a:t>into the model, allowing it to learn more complex relationships in the data. </a:t>
            </a:r>
          </a:p>
          <a:p>
            <a:pPr fontAlgn="ctr"/>
            <a:r>
              <a:rPr lang="en-US" sz="1200" dirty="0"/>
              <a:t>Rectified Linear Unit (</a:t>
            </a:r>
            <a:r>
              <a:rPr lang="en-US" sz="1200" dirty="0" err="1"/>
              <a:t>ReLU</a:t>
            </a:r>
            <a:r>
              <a:rPr lang="en-US" sz="1200" dirty="0"/>
              <a:t>) is a common choice, setting all negative values in the feature map to zero and keeping positive values unchanged</a:t>
            </a:r>
            <a:r>
              <a:rPr lang="en-US" sz="1200" dirty="0" smtClean="0"/>
              <a:t>.</a:t>
            </a:r>
          </a:p>
          <a:p>
            <a:pPr fontAlgn="ctr">
              <a:buNone/>
            </a:pPr>
            <a:r>
              <a:rPr lang="en-US" sz="1200" b="1" dirty="0" smtClean="0"/>
              <a:t>Pooling Layer:</a:t>
            </a:r>
            <a:endParaRPr lang="en-US" sz="1200" dirty="0" smtClean="0"/>
          </a:p>
          <a:p>
            <a:pPr fontAlgn="ctr"/>
            <a:r>
              <a:rPr lang="en-US" sz="1200" dirty="0" smtClean="0"/>
              <a:t>Its purpose is to </a:t>
            </a:r>
            <a:r>
              <a:rPr lang="en-US" sz="1200" b="1" dirty="0" smtClean="0">
                <a:solidFill>
                  <a:srgbClr val="0000FF"/>
                </a:solidFill>
              </a:rPr>
              <a:t>reduce the spatial dimensions </a:t>
            </a:r>
            <a:r>
              <a:rPr lang="en-US" sz="1200" dirty="0" smtClean="0"/>
              <a:t>(height and width) of the feature maps, thereby decreasing computational complexity and the number of parameters.</a:t>
            </a:r>
          </a:p>
          <a:p>
            <a:pPr fontAlgn="ctr"/>
            <a:r>
              <a:rPr lang="en-US" sz="1200" dirty="0" smtClean="0"/>
              <a:t>Common pooling operations include </a:t>
            </a:r>
            <a:r>
              <a:rPr lang="en-US" sz="1200" b="1" dirty="0" smtClean="0">
                <a:solidFill>
                  <a:srgbClr val="0000FF"/>
                </a:solidFill>
              </a:rPr>
              <a:t>Max Pooling </a:t>
            </a:r>
            <a:r>
              <a:rPr lang="en-US" sz="1200" dirty="0" smtClean="0"/>
              <a:t>(selecting the maximum value within a defined window) and </a:t>
            </a:r>
            <a:r>
              <a:rPr lang="en-US" sz="1200" b="1" dirty="0" smtClean="0">
                <a:solidFill>
                  <a:srgbClr val="0000FF"/>
                </a:solidFill>
              </a:rPr>
              <a:t>Average Pooling</a:t>
            </a:r>
            <a:r>
              <a:rPr lang="en-US" sz="1200" dirty="0" smtClean="0"/>
              <a:t> (calculating the average value within a window).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260648"/>
            <a:ext cx="8712968" cy="6408712"/>
          </a:xfrm>
        </p:spPr>
        <p:txBody>
          <a:bodyPr>
            <a:normAutofit fontScale="47500" lnSpcReduction="20000"/>
          </a:bodyPr>
          <a:lstStyle/>
          <a:p>
            <a:pPr fontAlgn="ctr">
              <a:buNone/>
            </a:pPr>
            <a:r>
              <a:rPr lang="en-US" b="1" dirty="0" smtClean="0"/>
              <a:t>Fully Connected Layer (FC Layer):</a:t>
            </a:r>
            <a:endParaRPr lang="en-US" dirty="0" smtClean="0"/>
          </a:p>
          <a:p>
            <a:pPr fontAlgn="ctr"/>
            <a:r>
              <a:rPr lang="en-US" dirty="0" smtClean="0"/>
              <a:t>Located at the end of the network, after several </a:t>
            </a:r>
            <a:r>
              <a:rPr lang="en-US" dirty="0" err="1" smtClean="0"/>
              <a:t>convolutional</a:t>
            </a:r>
            <a:r>
              <a:rPr lang="en-US" dirty="0" smtClean="0"/>
              <a:t> and pooling layers.</a:t>
            </a:r>
          </a:p>
          <a:p>
            <a:pPr fontAlgn="ctr"/>
            <a:r>
              <a:rPr lang="en-US" dirty="0" smtClean="0"/>
              <a:t>The </a:t>
            </a:r>
            <a:r>
              <a:rPr lang="en-US" b="1" dirty="0" smtClean="0">
                <a:solidFill>
                  <a:srgbClr val="0000FF"/>
                </a:solidFill>
              </a:rPr>
              <a:t>flattened output from the preceding layers </a:t>
            </a:r>
            <a:r>
              <a:rPr lang="en-US" dirty="0" smtClean="0"/>
              <a:t>is fed into this layer.</a:t>
            </a:r>
          </a:p>
          <a:p>
            <a:pPr fontAlgn="ctr"/>
            <a:r>
              <a:rPr lang="en-US" dirty="0" smtClean="0"/>
              <a:t>Each neuron in a fully connected layer is connected to every neuron in the previous layer, allowing the network to learn high-level representations and make predictions based on the extracted features.</a:t>
            </a:r>
          </a:p>
          <a:p>
            <a:pPr fontAlgn="ctr">
              <a:buNone/>
            </a:pPr>
            <a:r>
              <a:rPr lang="en-US" b="1" dirty="0" smtClean="0"/>
              <a:t>Output Layer:</a:t>
            </a:r>
            <a:endParaRPr lang="en-US" dirty="0" smtClean="0"/>
          </a:p>
          <a:p>
            <a:pPr fontAlgn="ctr"/>
            <a:r>
              <a:rPr lang="en-US" dirty="0" smtClean="0"/>
              <a:t>The final layer of the </a:t>
            </a:r>
            <a:r>
              <a:rPr lang="en-US" dirty="0" err="1" smtClean="0"/>
              <a:t>ConvNet</a:t>
            </a:r>
            <a:r>
              <a:rPr lang="en-US" dirty="0" smtClean="0"/>
              <a:t>.</a:t>
            </a:r>
          </a:p>
          <a:p>
            <a:pPr fontAlgn="ctr"/>
            <a:r>
              <a:rPr lang="en-US" dirty="0" smtClean="0"/>
              <a:t>It typically uses an </a:t>
            </a:r>
            <a:r>
              <a:rPr lang="en-US" b="1" dirty="0" smtClean="0">
                <a:solidFill>
                  <a:srgbClr val="0000FF"/>
                </a:solidFill>
              </a:rPr>
              <a:t>activation function like </a:t>
            </a:r>
            <a:r>
              <a:rPr lang="en-US" b="1" dirty="0" err="1" smtClean="0">
                <a:solidFill>
                  <a:srgbClr val="0000FF"/>
                </a:solidFill>
              </a:rPr>
              <a:t>Softmax</a:t>
            </a:r>
            <a:r>
              <a:rPr lang="en-US" b="1" dirty="0" smtClean="0">
                <a:solidFill>
                  <a:srgbClr val="0000FF"/>
                </a:solidFill>
              </a:rPr>
              <a:t> for classification tasks</a:t>
            </a:r>
            <a:r>
              <a:rPr lang="en-US" dirty="0" smtClean="0"/>
              <a:t>, producing a </a:t>
            </a:r>
            <a:r>
              <a:rPr lang="en-US" b="1" dirty="0" smtClean="0">
                <a:solidFill>
                  <a:srgbClr val="0000FF"/>
                </a:solidFill>
              </a:rPr>
              <a:t>probability distribution over the possible classes.</a:t>
            </a:r>
          </a:p>
          <a:p>
            <a:pPr fontAlgn="ctr"/>
            <a:endParaRPr lang="en-US" dirty="0" smtClean="0"/>
          </a:p>
          <a:p>
            <a:pPr fontAlgn="ctr">
              <a:buNone/>
            </a:pPr>
            <a:r>
              <a:rPr lang="en-US" b="1" u="sng" dirty="0" smtClean="0"/>
              <a:t>Additional Components:</a:t>
            </a:r>
          </a:p>
          <a:p>
            <a:pPr>
              <a:buNone/>
            </a:pPr>
            <a:r>
              <a:rPr lang="en-US" b="1" dirty="0" smtClean="0"/>
              <a:t>Dropout Layer: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A regularization technique often used in fully connected layers to prevent </a:t>
            </a:r>
            <a:r>
              <a:rPr lang="en-US" dirty="0" err="1" smtClean="0"/>
              <a:t>overfitting</a:t>
            </a:r>
            <a:r>
              <a:rPr lang="en-US" dirty="0" smtClean="0"/>
              <a:t> by randomly deactivating a fraction of neurons during training.</a:t>
            </a:r>
          </a:p>
          <a:p>
            <a:pPr>
              <a:buNone/>
            </a:pPr>
            <a:r>
              <a:rPr lang="en-US" b="1" dirty="0" smtClean="0"/>
              <a:t>Batch Normalization:</a:t>
            </a:r>
            <a:endParaRPr lang="en-US" dirty="0" smtClean="0"/>
          </a:p>
          <a:p>
            <a:pPr fontAlgn="ctr">
              <a:buNone/>
            </a:pPr>
            <a:r>
              <a:rPr lang="en-US" dirty="0" smtClean="0"/>
              <a:t>A technique to normalize the activations of a layer, which can improve training stability and speed.</a:t>
            </a:r>
          </a:p>
          <a:p>
            <a:pPr>
              <a:buNone/>
            </a:pPr>
            <a:r>
              <a:rPr lang="en-US" dirty="0" smtClean="0"/>
              <a:t>This hierarchical structure allows </a:t>
            </a:r>
            <a:r>
              <a:rPr lang="en-US" dirty="0" err="1" smtClean="0"/>
              <a:t>ConvNets</a:t>
            </a:r>
            <a:r>
              <a:rPr lang="en-US" dirty="0" smtClean="0"/>
              <a:t> to automatically learn and extract increasingly complex features from raw visual data, making them highly effective for tasks such as image classification, object detection, and segmentation.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Detailed description of each layers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12968" cy="5544616"/>
          </a:xfrm>
        </p:spPr>
        <p:txBody>
          <a:bodyPr numCol="2">
            <a:normAutofit fontScale="40000" lnSpcReduction="20000"/>
          </a:bodyPr>
          <a:lstStyle/>
          <a:p>
            <a:pPr>
              <a:buNone/>
            </a:pPr>
            <a:r>
              <a:rPr lang="en-US" b="1" dirty="0" smtClean="0"/>
              <a:t>1. Input Layer</a:t>
            </a:r>
          </a:p>
          <a:p>
            <a:pPr>
              <a:buNone/>
            </a:pPr>
            <a:r>
              <a:rPr lang="en-US" b="1" dirty="0" smtClean="0"/>
              <a:t>Purpose:</a:t>
            </a:r>
            <a:r>
              <a:rPr lang="en-US" dirty="0" smtClean="0"/>
              <a:t> Accepts raw image data (e.g., 224×224×3 for a color image).</a:t>
            </a:r>
          </a:p>
          <a:p>
            <a:pPr>
              <a:buNone/>
            </a:pPr>
            <a:r>
              <a:rPr lang="en-US" b="1" dirty="0" smtClean="0"/>
              <a:t>Data shape:</a:t>
            </a:r>
            <a:r>
              <a:rPr lang="en-US" dirty="0" smtClean="0"/>
              <a:t> (Height × Width × Channels).</a:t>
            </a:r>
          </a:p>
          <a:p>
            <a:pPr>
              <a:buNone/>
            </a:pPr>
            <a:r>
              <a:rPr lang="en-US" b="1" dirty="0" smtClean="0"/>
              <a:t>Example:</a:t>
            </a:r>
            <a:r>
              <a:rPr lang="en-US" dirty="0" smtClean="0"/>
              <a:t> For grayscale: 28×28×1, for RGB: 32×32×3.</a:t>
            </a:r>
          </a:p>
          <a:p>
            <a:pPr>
              <a:buNone/>
            </a:pPr>
            <a:r>
              <a:rPr lang="en-US" b="1" dirty="0" smtClean="0"/>
              <a:t>2. </a:t>
            </a:r>
            <a:r>
              <a:rPr lang="en-US" b="1" dirty="0" err="1" smtClean="0"/>
              <a:t>Convolutional</a:t>
            </a:r>
            <a:r>
              <a:rPr lang="en-US" b="1" dirty="0" smtClean="0"/>
              <a:t> Layers</a:t>
            </a:r>
          </a:p>
          <a:p>
            <a:pPr>
              <a:buNone/>
            </a:pPr>
            <a:r>
              <a:rPr lang="en-US" b="1" dirty="0" smtClean="0"/>
              <a:t>Core operation:</a:t>
            </a:r>
            <a:r>
              <a:rPr lang="en-US" dirty="0" smtClean="0"/>
              <a:t> Applies a set of learnable filters (kernels) to extract local features.</a:t>
            </a:r>
          </a:p>
          <a:p>
            <a:pPr>
              <a:buNone/>
            </a:pPr>
            <a:r>
              <a:rPr lang="en-US" b="1" dirty="0" smtClean="0"/>
              <a:t>Key parameters:</a:t>
            </a:r>
            <a:endParaRPr lang="en-US" dirty="0" smtClean="0"/>
          </a:p>
          <a:p>
            <a:pPr lvl="1">
              <a:buNone/>
            </a:pPr>
            <a:r>
              <a:rPr lang="en-US" b="1" dirty="0" smtClean="0"/>
              <a:t>Number of filters</a:t>
            </a:r>
            <a:r>
              <a:rPr lang="en-US" dirty="0" smtClean="0"/>
              <a:t> (e.g., 32, 64, 128…)</a:t>
            </a:r>
          </a:p>
          <a:p>
            <a:pPr lvl="1">
              <a:buNone/>
            </a:pPr>
            <a:r>
              <a:rPr lang="en-US" b="1" dirty="0" smtClean="0"/>
              <a:t>Kernel size</a:t>
            </a:r>
            <a:r>
              <a:rPr lang="en-US" dirty="0" smtClean="0"/>
              <a:t> (e.g., 3×3, 5×5)</a:t>
            </a:r>
          </a:p>
          <a:p>
            <a:pPr lvl="1">
              <a:buNone/>
            </a:pPr>
            <a:r>
              <a:rPr lang="en-US" b="1" dirty="0" smtClean="0"/>
              <a:t>Stride</a:t>
            </a:r>
            <a:r>
              <a:rPr lang="en-US" dirty="0" smtClean="0"/>
              <a:t> (step size of filter movement </a:t>
            </a:r>
            <a:r>
              <a:rPr lang="en-US" dirty="0" err="1" smtClean="0"/>
              <a:t>eg</a:t>
            </a:r>
            <a:r>
              <a:rPr lang="en-US" dirty="0" smtClean="0"/>
              <a:t> 1 or 2 or 3 etc)</a:t>
            </a:r>
          </a:p>
          <a:p>
            <a:pPr lvl="1">
              <a:buNone/>
            </a:pPr>
            <a:r>
              <a:rPr lang="en-US" b="1" dirty="0" smtClean="0"/>
              <a:t>Padding</a:t>
            </a:r>
            <a:r>
              <a:rPr lang="en-US" dirty="0" smtClean="0"/>
              <a:t> ("same" to preserve dimensions, "valid" to reduce)</a:t>
            </a:r>
          </a:p>
          <a:p>
            <a:pPr>
              <a:buNone/>
            </a:pPr>
            <a:r>
              <a:rPr lang="en-US" b="1" dirty="0" smtClean="0"/>
              <a:t>Activation:</a:t>
            </a:r>
            <a:r>
              <a:rPr lang="en-US" dirty="0" smtClean="0"/>
              <a:t> Usually </a:t>
            </a:r>
            <a:r>
              <a:rPr lang="en-US" b="1" dirty="0" err="1" smtClean="0"/>
              <a:t>ReLU</a:t>
            </a:r>
            <a:r>
              <a:rPr lang="en-US" dirty="0" smtClean="0"/>
              <a:t> for non-linearity.</a:t>
            </a:r>
          </a:p>
          <a:p>
            <a:pPr>
              <a:buNone/>
            </a:pPr>
            <a:r>
              <a:rPr lang="en-US" b="1" dirty="0" smtClean="0"/>
              <a:t>Outcome:</a:t>
            </a:r>
            <a:r>
              <a:rPr lang="en-US" dirty="0" smtClean="0"/>
              <a:t> Feature maps (spatial representation of learned features).</a:t>
            </a:r>
          </a:p>
          <a:p>
            <a:pPr>
              <a:buNone/>
            </a:pPr>
            <a:r>
              <a:rPr lang="en-US" b="1" dirty="0" smtClean="0"/>
              <a:t>3. Pooling Layers</a:t>
            </a:r>
          </a:p>
          <a:p>
            <a:pPr>
              <a:buNone/>
            </a:pPr>
            <a:r>
              <a:rPr lang="en-US" b="1" dirty="0" smtClean="0"/>
              <a:t>Purpose:</a:t>
            </a:r>
            <a:r>
              <a:rPr lang="en-US" dirty="0" smtClean="0"/>
              <a:t> Reduce spatial dimensions to lower computational cost and control </a:t>
            </a:r>
            <a:r>
              <a:rPr lang="en-US" dirty="0" err="1" smtClean="0"/>
              <a:t>overfitting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Types:</a:t>
            </a:r>
            <a:endParaRPr lang="en-US" dirty="0" smtClean="0"/>
          </a:p>
          <a:p>
            <a:pPr lvl="1">
              <a:buNone/>
            </a:pPr>
            <a:r>
              <a:rPr lang="en-US" b="1" dirty="0" smtClean="0"/>
              <a:t>Max Pooling:</a:t>
            </a:r>
            <a:r>
              <a:rPr lang="en-US" dirty="0" smtClean="0"/>
              <a:t> Keeps the largest value in each window.</a:t>
            </a:r>
          </a:p>
          <a:p>
            <a:pPr lvl="1">
              <a:buNone/>
            </a:pPr>
            <a:r>
              <a:rPr lang="en-US" b="1" dirty="0" smtClean="0"/>
              <a:t>Average Pooling:</a:t>
            </a:r>
            <a:r>
              <a:rPr lang="en-US" dirty="0" smtClean="0"/>
              <a:t> Takes the mean of values in the window.</a:t>
            </a:r>
          </a:p>
          <a:p>
            <a:pPr>
              <a:buNone/>
            </a:pPr>
            <a:r>
              <a:rPr lang="en-US" b="1" dirty="0" smtClean="0"/>
              <a:t>Typical size:</a:t>
            </a:r>
            <a:r>
              <a:rPr lang="en-US" dirty="0" smtClean="0"/>
              <a:t> 2×2 with stride 2.</a:t>
            </a:r>
          </a:p>
          <a:p>
            <a:pPr>
              <a:buNone/>
            </a:pPr>
            <a:r>
              <a:rPr lang="en-US" b="1" dirty="0" smtClean="0"/>
              <a:t>4. Dropout Layers (optional)</a:t>
            </a:r>
          </a:p>
          <a:p>
            <a:pPr>
              <a:buNone/>
            </a:pPr>
            <a:r>
              <a:rPr lang="en-US" b="1" dirty="0" smtClean="0"/>
              <a:t>Purpose:</a:t>
            </a:r>
            <a:r>
              <a:rPr lang="en-US" dirty="0" smtClean="0"/>
              <a:t> Randomly "turns off" a fraction of neurons during training to prevent </a:t>
            </a:r>
            <a:r>
              <a:rPr lang="en-US" dirty="0" err="1" smtClean="0"/>
              <a:t>overfitting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Typical rate:</a:t>
            </a:r>
            <a:r>
              <a:rPr lang="en-US" dirty="0" smtClean="0"/>
              <a:t> 0.25–0.5.</a:t>
            </a:r>
          </a:p>
          <a:p>
            <a:pPr>
              <a:buNone/>
            </a:pPr>
            <a:r>
              <a:rPr lang="en-US" b="1" dirty="0" smtClean="0"/>
              <a:t>5. Fully Connected (Dense) Layers</a:t>
            </a:r>
          </a:p>
          <a:p>
            <a:pPr>
              <a:buNone/>
            </a:pPr>
            <a:r>
              <a:rPr lang="en-US" b="1" dirty="0" smtClean="0"/>
              <a:t>Purpose:</a:t>
            </a:r>
            <a:r>
              <a:rPr lang="en-US" dirty="0" smtClean="0"/>
              <a:t> Flatten the feature maps into a vector and learn high-level representations. </a:t>
            </a:r>
            <a:r>
              <a:rPr lang="en-US" b="1" dirty="0" smtClean="0">
                <a:solidFill>
                  <a:srgbClr val="0000FF"/>
                </a:solidFill>
              </a:rPr>
              <a:t>(</a:t>
            </a:r>
            <a:r>
              <a:rPr lang="en-US" b="1" dirty="0" err="1" smtClean="0">
                <a:solidFill>
                  <a:srgbClr val="0000FF"/>
                </a:solidFill>
              </a:rPr>
              <a:t>nD</a:t>
            </a:r>
            <a:r>
              <a:rPr lang="en-US" b="1" dirty="0" smtClean="0">
                <a:solidFill>
                  <a:srgbClr val="0000FF"/>
                </a:solidFill>
              </a:rPr>
              <a:t> to 1D)</a:t>
            </a:r>
          </a:p>
          <a:p>
            <a:pPr>
              <a:buNone/>
            </a:pPr>
            <a:r>
              <a:rPr lang="en-US" dirty="0" smtClean="0"/>
              <a:t>Often uses </a:t>
            </a:r>
            <a:r>
              <a:rPr lang="en-US" b="1" dirty="0" err="1" smtClean="0"/>
              <a:t>ReLU</a:t>
            </a:r>
            <a:r>
              <a:rPr lang="en-US" dirty="0" smtClean="0"/>
              <a:t> activation, ending with a </a:t>
            </a:r>
            <a:r>
              <a:rPr lang="en-US" b="1" dirty="0" err="1" smtClean="0"/>
              <a:t>Softmax</a:t>
            </a:r>
            <a:r>
              <a:rPr lang="en-US" dirty="0" smtClean="0"/>
              <a:t> (for classification).</a:t>
            </a:r>
          </a:p>
          <a:p>
            <a:pPr>
              <a:buNone/>
            </a:pPr>
            <a:r>
              <a:rPr lang="en-US" b="1" dirty="0" smtClean="0"/>
              <a:t>6. Output Layer</a:t>
            </a:r>
          </a:p>
          <a:p>
            <a:pPr>
              <a:buNone/>
            </a:pPr>
            <a:r>
              <a:rPr lang="en-US" b="1" dirty="0" smtClean="0"/>
              <a:t>Purpose:</a:t>
            </a:r>
            <a:r>
              <a:rPr lang="en-US" dirty="0" smtClean="0"/>
              <a:t> Produces final predictions.</a:t>
            </a:r>
          </a:p>
          <a:p>
            <a:pPr>
              <a:buNone/>
            </a:pPr>
            <a:r>
              <a:rPr lang="en-US" b="1" dirty="0" smtClean="0"/>
              <a:t>Activation:</a:t>
            </a:r>
            <a:endParaRPr lang="en-US" dirty="0" smtClean="0"/>
          </a:p>
          <a:p>
            <a:pPr lvl="1">
              <a:buNone/>
            </a:pPr>
            <a:r>
              <a:rPr lang="en-US" b="1" dirty="0" err="1" smtClean="0"/>
              <a:t>Softmax</a:t>
            </a:r>
            <a:r>
              <a:rPr lang="en-US" dirty="0" smtClean="0"/>
              <a:t> for multi-class classification.</a:t>
            </a:r>
          </a:p>
          <a:p>
            <a:pPr lvl="1">
              <a:buNone/>
            </a:pPr>
            <a:r>
              <a:rPr lang="en-US" b="1" dirty="0" smtClean="0"/>
              <a:t>Sigmoid</a:t>
            </a:r>
            <a:r>
              <a:rPr lang="en-US" dirty="0" smtClean="0"/>
              <a:t> for binary classification.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Architecture of the CNNs applied to digit recognition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772816"/>
            <a:ext cx="8715418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620688"/>
            <a:ext cx="7844493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76256" y="1916832"/>
            <a:ext cx="504056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 smtClean="0">
                <a:solidFill>
                  <a:schemeClr val="tx1"/>
                </a:solidFill>
              </a:rPr>
              <a:t>0.1*1</a:t>
            </a:r>
            <a:endParaRPr lang="en-US" sz="1000" b="1" dirty="0">
              <a:solidFill>
                <a:schemeClr val="tx1"/>
              </a:solidFill>
            </a:endParaRPr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6967" y="476672"/>
            <a:ext cx="8472138" cy="5976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764704"/>
            <a:ext cx="7898378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8064" y="188640"/>
            <a:ext cx="3754760" cy="6408712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Convolution- </a:t>
            </a:r>
            <a:r>
              <a:rPr lang="en-US" dirty="0"/>
              <a:t>The term </a:t>
            </a:r>
            <a:r>
              <a:rPr lang="en-US" b="1" dirty="0"/>
              <a:t>convolution</a:t>
            </a:r>
            <a:r>
              <a:rPr lang="en-US" dirty="0"/>
              <a:t> refers to the mathematical combination of two functions to produce a third function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/>
              <a:t>Pooling- </a:t>
            </a:r>
            <a:r>
              <a:rPr lang="en-US" dirty="0"/>
              <a:t>The objective of </a:t>
            </a:r>
            <a:r>
              <a:rPr lang="en-US" b="1" dirty="0"/>
              <a:t>Pooling</a:t>
            </a:r>
            <a:r>
              <a:rPr lang="en-US" dirty="0"/>
              <a:t> is to down-sample an input representation (image, hidden-layer output matrix, etc.), </a:t>
            </a:r>
            <a:r>
              <a:rPr lang="en-US" b="1" dirty="0"/>
              <a:t>reducing its dimensions</a:t>
            </a:r>
            <a:r>
              <a:rPr lang="en-US" dirty="0"/>
              <a:t> and allowing for assumptions to be made about features contained in the sub-regions created.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20688"/>
            <a:ext cx="3923928" cy="288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177696"/>
            <a:ext cx="5004048" cy="2372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51520" y="188640"/>
            <a:ext cx="2123716" cy="461665"/>
          </a:xfrm>
          <a:prstGeom prst="rect">
            <a:avLst/>
          </a:prstGeom>
          <a:solidFill>
            <a:srgbClr val="FFCCFF"/>
          </a:solidFill>
          <a:ln>
            <a:solidFill>
              <a:srgbClr val="7030A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sz="2400" b="1" dirty="0" smtClean="0"/>
              <a:t>Convolution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323528" y="3717032"/>
            <a:ext cx="1440160" cy="461665"/>
          </a:xfrm>
          <a:prstGeom prst="rect">
            <a:avLst/>
          </a:prstGeom>
          <a:solidFill>
            <a:srgbClr val="FFCCFF"/>
          </a:solidFill>
          <a:ln>
            <a:solidFill>
              <a:srgbClr val="7030A0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sz="2400" b="1" dirty="0" smtClean="0"/>
              <a:t>Pooling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0"/>
            <a:ext cx="4176464" cy="3278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3429000"/>
            <a:ext cx="4392488" cy="333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148064" y="1844824"/>
            <a:ext cx="3995936" cy="17113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Fully Connected Layers- FCL</a:t>
            </a:r>
            <a:r>
              <a:rPr lang="en-US" dirty="0"/>
              <a:t> in a neural network are those layers where all the inputs from one layer are connected to every activation unit of the next layer.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260648"/>
            <a:ext cx="8712968" cy="6408712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/>
              <a:t>1. What is a </a:t>
            </a:r>
            <a:r>
              <a:rPr lang="en-US" b="1" dirty="0" err="1" smtClean="0"/>
              <a:t>Convolutional</a:t>
            </a:r>
            <a:r>
              <a:rPr lang="en-US" b="1" dirty="0" smtClean="0"/>
              <a:t> Layer?</a:t>
            </a:r>
          </a:p>
          <a:p>
            <a:pPr>
              <a:buNone/>
            </a:pPr>
            <a:r>
              <a:rPr lang="en-US" dirty="0" smtClean="0"/>
              <a:t>A </a:t>
            </a:r>
            <a:r>
              <a:rPr lang="en-US" b="1" dirty="0" err="1" smtClean="0"/>
              <a:t>Convolutional</a:t>
            </a:r>
            <a:r>
              <a:rPr lang="en-US" b="1" dirty="0" smtClean="0"/>
              <a:t> Layer</a:t>
            </a:r>
            <a:r>
              <a:rPr lang="en-US" dirty="0" smtClean="0"/>
              <a:t> in a CNN applies small, </a:t>
            </a:r>
            <a:r>
              <a:rPr lang="en-US" b="1" dirty="0" smtClean="0">
                <a:solidFill>
                  <a:srgbClr val="0000FF"/>
                </a:solidFill>
              </a:rPr>
              <a:t>trainable filters (also called kernels</a:t>
            </a:r>
            <a:r>
              <a:rPr lang="en-US" dirty="0" smtClean="0"/>
              <a:t>) over an input image (or feature map) to detect features such as edges, textures, shapes, etc.</a:t>
            </a:r>
          </a:p>
          <a:p>
            <a:pPr>
              <a:buNone/>
            </a:pPr>
            <a:r>
              <a:rPr lang="en-US" b="1" dirty="0" smtClean="0"/>
              <a:t>2. Key Components</a:t>
            </a:r>
          </a:p>
          <a:p>
            <a:pPr>
              <a:buNone/>
            </a:pPr>
            <a:r>
              <a:rPr lang="en-US" b="1" dirty="0" smtClean="0"/>
              <a:t>a) Filter (Kernel)</a:t>
            </a:r>
          </a:p>
          <a:p>
            <a:r>
              <a:rPr lang="en-US" dirty="0" smtClean="0"/>
              <a:t>A small matrix of weights, e.g., </a:t>
            </a:r>
            <a:r>
              <a:rPr lang="en-US" b="1" dirty="0" smtClean="0"/>
              <a:t>3×3</a:t>
            </a:r>
            <a:r>
              <a:rPr lang="en-US" dirty="0" smtClean="0"/>
              <a:t> or </a:t>
            </a:r>
            <a:r>
              <a:rPr lang="en-US" b="1" dirty="0" smtClean="0"/>
              <a:t>5×5</a:t>
            </a:r>
            <a:r>
              <a:rPr lang="en-US" dirty="0" smtClean="0"/>
              <a:t>.</a:t>
            </a:r>
          </a:p>
          <a:p>
            <a:r>
              <a:rPr lang="en-US" dirty="0" smtClean="0"/>
              <a:t>Scans across the image, multiplying values element-wise and summing them up.</a:t>
            </a:r>
          </a:p>
          <a:p>
            <a:r>
              <a:rPr lang="en-US" dirty="0" smtClean="0"/>
              <a:t>Each filter detects a specific pattern (e.g., vertical edges, curves).</a:t>
            </a:r>
          </a:p>
          <a:p>
            <a:r>
              <a:rPr lang="en-US" dirty="0" smtClean="0"/>
              <a:t>One </a:t>
            </a:r>
            <a:r>
              <a:rPr lang="en-US" dirty="0" err="1" smtClean="0"/>
              <a:t>convolutional</a:t>
            </a:r>
            <a:r>
              <a:rPr lang="en-US" dirty="0" smtClean="0"/>
              <a:t> layer typically has </a:t>
            </a:r>
            <a:r>
              <a:rPr lang="en-US" b="1" dirty="0" smtClean="0"/>
              <a:t>many filters</a:t>
            </a:r>
            <a:r>
              <a:rPr lang="en-US" dirty="0" smtClean="0"/>
              <a:t> (e.g., 32, 64…).</a:t>
            </a:r>
          </a:p>
          <a:p>
            <a:pPr>
              <a:buNone/>
            </a:pPr>
            <a:r>
              <a:rPr lang="en-US" b="1" dirty="0" smtClean="0"/>
              <a:t>b) Stride</a:t>
            </a:r>
          </a:p>
          <a:p>
            <a:r>
              <a:rPr lang="en-US" dirty="0" smtClean="0"/>
              <a:t>How many pixels the filter moves at each step.</a:t>
            </a:r>
          </a:p>
          <a:p>
            <a:pPr>
              <a:buNone/>
            </a:pPr>
            <a:r>
              <a:rPr lang="en-US" b="1" dirty="0" smtClean="0"/>
              <a:t>Stride = 1</a:t>
            </a:r>
            <a:r>
              <a:rPr lang="en-US" dirty="0" smtClean="0"/>
              <a:t> → Filter moves one pixel at a time (more overlap, bigger output).</a:t>
            </a:r>
          </a:p>
          <a:p>
            <a:pPr>
              <a:buNone/>
            </a:pPr>
            <a:r>
              <a:rPr lang="en-US" b="1" dirty="0" smtClean="0"/>
              <a:t>Stride = 2</a:t>
            </a:r>
            <a:r>
              <a:rPr lang="en-US" dirty="0" smtClean="0"/>
              <a:t> → Filter moves two pixels at a time (less overlap, smaller output).</a:t>
            </a:r>
          </a:p>
          <a:p>
            <a:pPr>
              <a:buNone/>
            </a:pPr>
            <a:r>
              <a:rPr lang="en-US" b="1" dirty="0" smtClean="0"/>
              <a:t>c) Padding</a:t>
            </a:r>
          </a:p>
          <a:p>
            <a:pPr>
              <a:buNone/>
            </a:pPr>
            <a:r>
              <a:rPr lang="en-US" dirty="0" smtClean="0"/>
              <a:t>Decides what happens at the image borders:</a:t>
            </a:r>
          </a:p>
          <a:p>
            <a:pPr lvl="1">
              <a:buNone/>
            </a:pPr>
            <a:r>
              <a:rPr lang="en-US" b="1" dirty="0" smtClean="0"/>
              <a:t>Valid padding</a:t>
            </a:r>
            <a:r>
              <a:rPr lang="en-US" dirty="0" smtClean="0"/>
              <a:t> → No padding, output shrinks.</a:t>
            </a:r>
          </a:p>
          <a:p>
            <a:pPr lvl="1">
              <a:buNone/>
            </a:pPr>
            <a:r>
              <a:rPr lang="en-US" b="1" dirty="0" smtClean="0"/>
              <a:t>Same padding</a:t>
            </a:r>
            <a:r>
              <a:rPr lang="en-US" dirty="0" smtClean="0"/>
              <a:t> → Pads with zeros so output has the same spatial size as input.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88640"/>
            <a:ext cx="8712968" cy="648072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 smtClean="0"/>
              <a:t>3. How the Process Works</a:t>
            </a:r>
          </a:p>
          <a:p>
            <a:pPr>
              <a:buNone/>
            </a:pPr>
            <a:r>
              <a:rPr lang="en-US" b="1" dirty="0" smtClean="0"/>
              <a:t>Example Input</a:t>
            </a:r>
          </a:p>
          <a:p>
            <a:pPr>
              <a:buNone/>
            </a:pPr>
            <a:r>
              <a:rPr lang="en-US" dirty="0" smtClean="0"/>
              <a:t>A </a:t>
            </a:r>
            <a:r>
              <a:rPr lang="en-US" b="1" dirty="0" smtClean="0"/>
              <a:t>5×5 grayscale image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1 1 1 0 0</a:t>
            </a:r>
          </a:p>
          <a:p>
            <a:pPr>
              <a:buNone/>
            </a:pPr>
            <a:r>
              <a:rPr lang="en-US" dirty="0" smtClean="0"/>
              <a:t>0 1 1 1 0</a:t>
            </a:r>
          </a:p>
          <a:p>
            <a:pPr>
              <a:buNone/>
            </a:pPr>
            <a:r>
              <a:rPr lang="en-US" dirty="0" smtClean="0"/>
              <a:t>0 0 1 1 1</a:t>
            </a:r>
          </a:p>
          <a:p>
            <a:pPr>
              <a:buNone/>
            </a:pPr>
            <a:r>
              <a:rPr lang="en-US" dirty="0" smtClean="0"/>
              <a:t>0 0 1 1 0</a:t>
            </a:r>
          </a:p>
          <a:p>
            <a:pPr>
              <a:buNone/>
            </a:pPr>
            <a:r>
              <a:rPr lang="en-US" dirty="0" smtClean="0"/>
              <a:t>0 1 1 0 0</a:t>
            </a:r>
          </a:p>
          <a:p>
            <a:pPr>
              <a:buNone/>
            </a:pPr>
            <a:r>
              <a:rPr lang="en-US" b="1" dirty="0" smtClean="0"/>
              <a:t>Filter (Kernel)</a:t>
            </a:r>
          </a:p>
          <a:p>
            <a:pPr>
              <a:buNone/>
            </a:pPr>
            <a:r>
              <a:rPr lang="en-US" dirty="0" smtClean="0"/>
              <a:t>A </a:t>
            </a:r>
            <a:r>
              <a:rPr lang="en-US" b="1" dirty="0" smtClean="0"/>
              <a:t>3×3 filter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1 0 1</a:t>
            </a:r>
          </a:p>
          <a:p>
            <a:pPr>
              <a:buNone/>
            </a:pPr>
            <a:r>
              <a:rPr lang="en-US" dirty="0" smtClean="0"/>
              <a:t>0 1 0</a:t>
            </a:r>
          </a:p>
          <a:p>
            <a:pPr>
              <a:buNone/>
            </a:pPr>
            <a:r>
              <a:rPr lang="en-US" dirty="0" smtClean="0"/>
              <a:t>1 0 1</a:t>
            </a:r>
          </a:p>
          <a:p>
            <a:pPr>
              <a:buNone/>
            </a:pPr>
            <a:r>
              <a:rPr lang="en-US" b="1" dirty="0" smtClean="0"/>
              <a:t>step-by-Step (Stride = 1, No Padding)</a:t>
            </a:r>
          </a:p>
          <a:p>
            <a:pPr>
              <a:buNone/>
            </a:pPr>
            <a:r>
              <a:rPr lang="en-US" b="1" dirty="0" smtClean="0"/>
              <a:t>Place</a:t>
            </a:r>
            <a:r>
              <a:rPr lang="en-US" dirty="0" smtClean="0"/>
              <a:t> the filter on the top-left corner of the image.</a:t>
            </a:r>
          </a:p>
          <a:p>
            <a:pPr>
              <a:buNone/>
            </a:pPr>
            <a:r>
              <a:rPr lang="en-US" b="1" dirty="0" smtClean="0"/>
              <a:t>Multiply</a:t>
            </a:r>
            <a:r>
              <a:rPr lang="en-US" dirty="0" smtClean="0"/>
              <a:t> each filter value with the overlapping image pixel.</a:t>
            </a:r>
          </a:p>
          <a:p>
            <a:pPr>
              <a:buNone/>
            </a:pPr>
            <a:r>
              <a:rPr lang="en-US" b="1" dirty="0" smtClean="0"/>
              <a:t>Sum</a:t>
            </a:r>
            <a:r>
              <a:rPr lang="en-US" dirty="0" smtClean="0"/>
              <a:t> the results → This becomes </a:t>
            </a:r>
            <a:r>
              <a:rPr lang="en-US" b="1" dirty="0" smtClean="0"/>
              <a:t>one pixel</a:t>
            </a:r>
            <a:r>
              <a:rPr lang="en-US" dirty="0" smtClean="0"/>
              <a:t> in the output.</a:t>
            </a:r>
          </a:p>
          <a:p>
            <a:pPr>
              <a:buNone/>
            </a:pPr>
            <a:r>
              <a:rPr lang="en-US" b="1" dirty="0" smtClean="0"/>
              <a:t>Slide</a:t>
            </a:r>
            <a:r>
              <a:rPr lang="en-US" dirty="0" smtClean="0"/>
              <a:t> the filter right by stride steps → Repeat until the end of the row.</a:t>
            </a:r>
          </a:p>
          <a:p>
            <a:pPr>
              <a:buNone/>
            </a:pPr>
            <a:r>
              <a:rPr lang="en-US" dirty="0" smtClean="0"/>
              <a:t>Move </a:t>
            </a:r>
            <a:r>
              <a:rPr lang="en-US" b="1" dirty="0" smtClean="0"/>
              <a:t>down</a:t>
            </a:r>
            <a:r>
              <a:rPr lang="en-US" dirty="0" smtClean="0"/>
              <a:t> by stride steps and repeat for the next row.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404664"/>
            <a:ext cx="8640960" cy="626469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First Position Calculation</a:t>
            </a:r>
          </a:p>
          <a:p>
            <a:pPr>
              <a:buNone/>
            </a:pPr>
            <a:r>
              <a:rPr lang="en-US" dirty="0" smtClean="0"/>
              <a:t>Filter on top-left corner: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Image patch           Filter          Multiply &amp; Sum</a:t>
            </a:r>
          </a:p>
          <a:p>
            <a:pPr>
              <a:buNone/>
            </a:pPr>
            <a:r>
              <a:rPr lang="en-US" dirty="0" smtClean="0"/>
              <a:t>1 1 1            	 1 0 1           (1×1)+(1×0)+(1×1) +</a:t>
            </a:r>
          </a:p>
          <a:p>
            <a:pPr>
              <a:buNone/>
            </a:pPr>
            <a:r>
              <a:rPr lang="en-US" dirty="0" smtClean="0"/>
              <a:t>0 1 1      	</a:t>
            </a:r>
            <a:r>
              <a:rPr lang="en-US" b="1" dirty="0" smtClean="0"/>
              <a:t>×</a:t>
            </a:r>
            <a:r>
              <a:rPr lang="en-US" dirty="0" smtClean="0"/>
              <a:t>     	 0 1 0    =     (0×0)+(1×1)+(1×0) +</a:t>
            </a:r>
          </a:p>
          <a:p>
            <a:pPr>
              <a:buNone/>
            </a:pPr>
            <a:r>
              <a:rPr lang="en-US" dirty="0" smtClean="0"/>
              <a:t>0 0 1             	 1 0 1            (0×1)+(0×0)+(1×1)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= 1 + 0 + 1 + 0 + 1 + 0 + 0 + 0 + 1 = 4</a:t>
            </a:r>
          </a:p>
          <a:p>
            <a:pPr>
              <a:buNone/>
            </a:pPr>
            <a:r>
              <a:rPr lang="en-US" dirty="0" smtClean="0"/>
              <a:t>So, the </a:t>
            </a:r>
            <a:r>
              <a:rPr lang="en-US" b="1" dirty="0" smtClean="0"/>
              <a:t>first output pixel = 4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260648"/>
            <a:ext cx="8712968" cy="6408712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Output Size Formula</a:t>
            </a:r>
          </a:p>
          <a:p>
            <a:pPr>
              <a:buNone/>
            </a:pPr>
            <a:r>
              <a:rPr lang="en-US" dirty="0" smtClean="0"/>
              <a:t>If:</a:t>
            </a:r>
          </a:p>
          <a:p>
            <a:pPr>
              <a:buNone/>
            </a:pPr>
            <a:r>
              <a:rPr lang="en-US" b="1" dirty="0" smtClean="0"/>
              <a:t>n</a:t>
            </a:r>
            <a:r>
              <a:rPr lang="en-US" dirty="0" smtClean="0"/>
              <a:t> = input size</a:t>
            </a:r>
          </a:p>
          <a:p>
            <a:pPr>
              <a:buNone/>
            </a:pPr>
            <a:r>
              <a:rPr lang="en-US" b="1" dirty="0" smtClean="0"/>
              <a:t>f</a:t>
            </a:r>
            <a:r>
              <a:rPr lang="en-US" dirty="0" smtClean="0"/>
              <a:t> = filter size</a:t>
            </a:r>
          </a:p>
          <a:p>
            <a:pPr>
              <a:buNone/>
            </a:pPr>
            <a:r>
              <a:rPr lang="en-US" b="1" dirty="0" smtClean="0"/>
              <a:t>p</a:t>
            </a:r>
            <a:r>
              <a:rPr lang="en-US" dirty="0" smtClean="0"/>
              <a:t> = padding</a:t>
            </a:r>
          </a:p>
          <a:p>
            <a:pPr>
              <a:buNone/>
            </a:pPr>
            <a:r>
              <a:rPr lang="en-US" b="1" dirty="0" smtClean="0"/>
              <a:t>s</a:t>
            </a:r>
            <a:r>
              <a:rPr lang="en-US" dirty="0" smtClean="0"/>
              <a:t> = stride</a:t>
            </a:r>
          </a:p>
          <a:p>
            <a:pPr>
              <a:buNone/>
            </a:pPr>
            <a:r>
              <a:rPr lang="en-US" dirty="0" smtClean="0"/>
              <a:t>Then output size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 smtClean="0"/>
              <a:t>Example: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Input = 5×5, Filter = 3×3, Stride = 1, Padding = 0: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So output is </a:t>
            </a:r>
            <a:r>
              <a:rPr lang="en-US" b="1" dirty="0" smtClean="0"/>
              <a:t>3×3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4. Multiple Filters</a:t>
            </a:r>
          </a:p>
          <a:p>
            <a:pPr>
              <a:buNone/>
            </a:pPr>
            <a:r>
              <a:rPr lang="en-US" dirty="0" smtClean="0"/>
              <a:t>If the layer has 32 filters, it produces </a:t>
            </a:r>
            <a:r>
              <a:rPr lang="en-US" b="1" dirty="0" smtClean="0"/>
              <a:t>32 different feature maps</a:t>
            </a:r>
            <a:r>
              <a:rPr lang="en-US" dirty="0" smtClean="0"/>
              <a:t> (one per filter), stacked together as the output.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2276872"/>
            <a:ext cx="3483446" cy="1235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52120" y="3645024"/>
            <a:ext cx="2581620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548680"/>
            <a:ext cx="8472627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What is a Pooling Layer?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784976" cy="5760640"/>
          </a:xfrm>
        </p:spPr>
        <p:txBody>
          <a:bodyPr numCol="1"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Purpose: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0000FF"/>
                </a:solidFill>
              </a:rPr>
              <a:t>Reduce spatial dimensions of feature maps </a:t>
            </a:r>
            <a:r>
              <a:rPr lang="en-US" dirty="0" smtClean="0"/>
              <a:t>while keeping important features.</a:t>
            </a:r>
          </a:p>
          <a:p>
            <a:pPr>
              <a:buNone/>
            </a:pPr>
            <a:r>
              <a:rPr lang="en-US" b="1" dirty="0" smtClean="0"/>
              <a:t>Benefit:</a:t>
            </a:r>
            <a:r>
              <a:rPr lang="en-US" dirty="0" smtClean="0"/>
              <a:t> Fewer parameters → faster computation → less </a:t>
            </a:r>
            <a:r>
              <a:rPr lang="en-US" dirty="0" err="1" smtClean="0"/>
              <a:t>overfitting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How:</a:t>
            </a:r>
            <a:r>
              <a:rPr lang="en-US" dirty="0" smtClean="0"/>
              <a:t> Applies a small window (e.g., 2×2) and replaces it with a single value.</a:t>
            </a:r>
          </a:p>
          <a:p>
            <a:pPr>
              <a:buNone/>
            </a:pPr>
            <a:r>
              <a:rPr lang="en-US" dirty="0" smtClean="0"/>
              <a:t>use the same </a:t>
            </a:r>
            <a:r>
              <a:rPr lang="en-US" b="1" dirty="0" smtClean="0"/>
              <a:t>5×5 matrix</a:t>
            </a:r>
            <a:r>
              <a:rPr lang="en-US" dirty="0" smtClean="0"/>
              <a:t> (after convolution) for pooling demonstration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4 2 </a:t>
            </a:r>
            <a:r>
              <a:rPr lang="en-US" dirty="0" smtClean="0"/>
              <a:t>1 0 3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3 1</a:t>
            </a:r>
            <a:r>
              <a:rPr lang="en-US" dirty="0" smtClean="0"/>
              <a:t> 2 3 4</a:t>
            </a:r>
          </a:p>
          <a:p>
            <a:pPr>
              <a:buNone/>
            </a:pPr>
            <a:r>
              <a:rPr lang="en-US" dirty="0" smtClean="0"/>
              <a:t>1 0 1 2 3</a:t>
            </a:r>
          </a:p>
          <a:p>
            <a:pPr>
              <a:buNone/>
            </a:pPr>
            <a:r>
              <a:rPr lang="en-US" dirty="0" smtClean="0"/>
              <a:t>0 1 3 4 2</a:t>
            </a:r>
          </a:p>
          <a:p>
            <a:pPr>
              <a:buNone/>
            </a:pPr>
            <a:r>
              <a:rPr lang="en-US" dirty="0" smtClean="0"/>
              <a:t>2 3 0 1 1</a:t>
            </a:r>
          </a:p>
          <a:p>
            <a:pPr>
              <a:buNone/>
            </a:pPr>
            <a:r>
              <a:rPr lang="en-US" b="1" dirty="0" smtClean="0"/>
              <a:t>Max Pooling</a:t>
            </a:r>
          </a:p>
          <a:p>
            <a:pPr>
              <a:buNone/>
            </a:pPr>
            <a:r>
              <a:rPr lang="en-US" b="1" dirty="0" smtClean="0"/>
              <a:t>Operation:</a:t>
            </a:r>
            <a:r>
              <a:rPr lang="en-US" dirty="0" smtClean="0"/>
              <a:t> Take the </a:t>
            </a:r>
            <a:r>
              <a:rPr lang="en-US" b="1" dirty="0" smtClean="0"/>
              <a:t>maximum</a:t>
            </a:r>
            <a:r>
              <a:rPr lang="en-US" dirty="0" smtClean="0"/>
              <a:t> value in each window.</a:t>
            </a:r>
          </a:p>
          <a:p>
            <a:pPr>
              <a:buNone/>
            </a:pPr>
            <a:r>
              <a:rPr lang="en-US" b="1" dirty="0" smtClean="0"/>
              <a:t>Pooling size:</a:t>
            </a:r>
            <a:r>
              <a:rPr lang="en-US" dirty="0" smtClean="0"/>
              <a:t> 2×2, </a:t>
            </a:r>
            <a:r>
              <a:rPr lang="en-US" b="1" dirty="0" smtClean="0"/>
              <a:t>Stride:</a:t>
            </a:r>
            <a:r>
              <a:rPr lang="en-US" dirty="0" smtClean="0"/>
              <a:t> 1, </a:t>
            </a:r>
            <a:r>
              <a:rPr lang="en-US" b="1" dirty="0" smtClean="0"/>
              <a:t>Padding:</a:t>
            </a:r>
            <a:r>
              <a:rPr lang="en-US" dirty="0" smtClean="0"/>
              <a:t> None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88640"/>
            <a:ext cx="8784976" cy="6408712"/>
          </a:xfrm>
        </p:spPr>
        <p:txBody>
          <a:bodyPr numCol="3">
            <a:noAutofit/>
          </a:bodyPr>
          <a:lstStyle/>
          <a:p>
            <a:pPr>
              <a:buNone/>
            </a:pPr>
            <a:r>
              <a:rPr lang="en-US" sz="1500" dirty="0" smtClean="0"/>
              <a:t>step-by-step:</a:t>
            </a:r>
          </a:p>
          <a:p>
            <a:pPr>
              <a:buNone/>
            </a:pPr>
            <a:r>
              <a:rPr lang="en-US" sz="1500" b="1" dirty="0" smtClean="0"/>
              <a:t>First Output Row</a:t>
            </a:r>
          </a:p>
          <a:p>
            <a:pPr>
              <a:buNone/>
            </a:pPr>
            <a:r>
              <a:rPr lang="en-US" sz="1500" b="1" dirty="0" smtClean="0"/>
              <a:t>(1,1)</a:t>
            </a:r>
            <a:r>
              <a:rPr lang="en-US" sz="1500" dirty="0" smtClean="0"/>
              <a:t> →</a:t>
            </a:r>
          </a:p>
          <a:p>
            <a:pPr>
              <a:buNone/>
            </a:pPr>
            <a:r>
              <a:rPr lang="en-US" sz="1500" dirty="0" smtClean="0"/>
              <a:t>4 2 </a:t>
            </a:r>
          </a:p>
          <a:p>
            <a:pPr>
              <a:buNone/>
            </a:pPr>
            <a:r>
              <a:rPr lang="en-US" sz="1500" dirty="0" smtClean="0"/>
              <a:t>3 1 </a:t>
            </a:r>
          </a:p>
          <a:p>
            <a:pPr>
              <a:buNone/>
            </a:pPr>
            <a:r>
              <a:rPr lang="en-US" sz="1500" dirty="0" smtClean="0"/>
              <a:t>Max = 4 </a:t>
            </a:r>
          </a:p>
          <a:p>
            <a:pPr>
              <a:buNone/>
            </a:pPr>
            <a:r>
              <a:rPr lang="en-US" sz="1500" b="1" dirty="0" smtClean="0"/>
              <a:t>(1,2)</a:t>
            </a:r>
            <a:r>
              <a:rPr lang="en-US" sz="1500" dirty="0" smtClean="0"/>
              <a:t> →</a:t>
            </a:r>
          </a:p>
          <a:p>
            <a:pPr>
              <a:buNone/>
            </a:pPr>
            <a:r>
              <a:rPr lang="en-US" sz="1500" dirty="0" smtClean="0"/>
              <a:t>2 1 </a:t>
            </a:r>
          </a:p>
          <a:p>
            <a:pPr>
              <a:buNone/>
            </a:pPr>
            <a:r>
              <a:rPr lang="en-US" sz="1500" dirty="0" smtClean="0"/>
              <a:t>1 2 </a:t>
            </a:r>
          </a:p>
          <a:p>
            <a:pPr>
              <a:buNone/>
            </a:pPr>
            <a:r>
              <a:rPr lang="en-US" sz="1500" dirty="0" smtClean="0"/>
              <a:t>Max = 2 </a:t>
            </a:r>
          </a:p>
          <a:p>
            <a:pPr>
              <a:buNone/>
            </a:pPr>
            <a:r>
              <a:rPr lang="en-US" sz="1500" b="1" dirty="0" smtClean="0"/>
              <a:t>(1,3)</a:t>
            </a:r>
            <a:r>
              <a:rPr lang="en-US" sz="1500" dirty="0" smtClean="0"/>
              <a:t> →</a:t>
            </a:r>
          </a:p>
          <a:p>
            <a:pPr>
              <a:buNone/>
            </a:pPr>
            <a:r>
              <a:rPr lang="en-US" sz="1500" dirty="0" smtClean="0"/>
              <a:t>1 0 </a:t>
            </a:r>
          </a:p>
          <a:p>
            <a:pPr>
              <a:buNone/>
            </a:pPr>
            <a:r>
              <a:rPr lang="en-US" sz="1500" dirty="0" smtClean="0"/>
              <a:t>2 3 </a:t>
            </a:r>
          </a:p>
          <a:p>
            <a:pPr>
              <a:buNone/>
            </a:pPr>
            <a:r>
              <a:rPr lang="en-US" sz="1500" dirty="0" smtClean="0"/>
              <a:t>Max = 3 </a:t>
            </a:r>
          </a:p>
          <a:p>
            <a:pPr>
              <a:buNone/>
            </a:pPr>
            <a:r>
              <a:rPr lang="en-US" sz="1500" dirty="0" smtClean="0"/>
              <a:t>Output row → </a:t>
            </a:r>
            <a:r>
              <a:rPr lang="en-US" sz="1500" b="1" dirty="0" smtClean="0"/>
              <a:t>[4, 2, 3]</a:t>
            </a:r>
            <a:endParaRPr lang="en-US" sz="1500" dirty="0" smtClean="0"/>
          </a:p>
          <a:p>
            <a:pPr>
              <a:buNone/>
            </a:pPr>
            <a:r>
              <a:rPr lang="en-US" sz="1500" b="1" dirty="0" smtClean="0"/>
              <a:t>Second Output Row</a:t>
            </a:r>
          </a:p>
          <a:p>
            <a:pPr>
              <a:buNone/>
            </a:pPr>
            <a:r>
              <a:rPr lang="en-US" sz="1500" b="1" dirty="0" smtClean="0"/>
              <a:t>(2,1)</a:t>
            </a:r>
            <a:r>
              <a:rPr lang="en-US" sz="1500" dirty="0" smtClean="0"/>
              <a:t> →</a:t>
            </a:r>
          </a:p>
          <a:p>
            <a:pPr>
              <a:buNone/>
            </a:pPr>
            <a:r>
              <a:rPr lang="en-US" sz="1500" dirty="0" smtClean="0"/>
              <a:t>3 1 </a:t>
            </a:r>
          </a:p>
          <a:p>
            <a:pPr>
              <a:buNone/>
            </a:pPr>
            <a:r>
              <a:rPr lang="en-US" sz="1500" dirty="0" smtClean="0"/>
              <a:t>1 0 </a:t>
            </a:r>
          </a:p>
          <a:p>
            <a:pPr>
              <a:buNone/>
            </a:pPr>
            <a:r>
              <a:rPr lang="en-US" sz="1500" dirty="0" smtClean="0"/>
              <a:t>Max = 3 </a:t>
            </a:r>
          </a:p>
          <a:p>
            <a:pPr>
              <a:buNone/>
            </a:pPr>
            <a:r>
              <a:rPr lang="en-US" sz="1500" b="1" dirty="0" smtClean="0"/>
              <a:t>(2,2)</a:t>
            </a:r>
            <a:r>
              <a:rPr lang="en-US" sz="1500" dirty="0" smtClean="0"/>
              <a:t> →</a:t>
            </a:r>
          </a:p>
          <a:p>
            <a:pPr>
              <a:buNone/>
            </a:pPr>
            <a:r>
              <a:rPr lang="en-US" sz="1500" dirty="0" smtClean="0"/>
              <a:t>1 2</a:t>
            </a:r>
          </a:p>
          <a:p>
            <a:pPr>
              <a:buNone/>
            </a:pPr>
            <a:r>
              <a:rPr lang="en-US" sz="1500" dirty="0" smtClean="0"/>
              <a:t> 0 1 </a:t>
            </a:r>
          </a:p>
          <a:p>
            <a:pPr>
              <a:buNone/>
            </a:pPr>
            <a:r>
              <a:rPr lang="en-US" sz="1500" dirty="0" smtClean="0"/>
              <a:t>Max = 2 </a:t>
            </a:r>
          </a:p>
          <a:p>
            <a:pPr>
              <a:buNone/>
            </a:pPr>
            <a:r>
              <a:rPr lang="en-US" sz="1500" b="1" dirty="0" smtClean="0"/>
              <a:t>(2,3)</a:t>
            </a:r>
            <a:r>
              <a:rPr lang="en-US" sz="1500" dirty="0" smtClean="0"/>
              <a:t> →</a:t>
            </a:r>
          </a:p>
          <a:p>
            <a:pPr>
              <a:buNone/>
            </a:pPr>
            <a:r>
              <a:rPr lang="en-US" sz="1500" dirty="0" smtClean="0"/>
              <a:t>2 3 </a:t>
            </a:r>
          </a:p>
          <a:p>
            <a:pPr>
              <a:buNone/>
            </a:pPr>
            <a:r>
              <a:rPr lang="en-US" sz="1500" dirty="0" smtClean="0"/>
              <a:t>1 2 </a:t>
            </a:r>
          </a:p>
          <a:p>
            <a:pPr>
              <a:buNone/>
            </a:pPr>
            <a:r>
              <a:rPr lang="en-US" sz="1500" dirty="0" smtClean="0"/>
              <a:t>Max = 3 </a:t>
            </a:r>
          </a:p>
          <a:p>
            <a:pPr>
              <a:buNone/>
            </a:pPr>
            <a:r>
              <a:rPr lang="en-US" sz="1500" dirty="0" smtClean="0"/>
              <a:t>Output row → </a:t>
            </a:r>
            <a:r>
              <a:rPr lang="en-US" sz="1500" b="1" dirty="0" smtClean="0"/>
              <a:t>[3, 2, 3]</a:t>
            </a:r>
            <a:endParaRPr lang="en-US" sz="1500" dirty="0" smtClean="0"/>
          </a:p>
          <a:p>
            <a:pPr>
              <a:buNone/>
            </a:pPr>
            <a:r>
              <a:rPr lang="en-US" sz="1500" b="1" dirty="0" smtClean="0"/>
              <a:t>Third Output Row</a:t>
            </a:r>
          </a:p>
          <a:p>
            <a:pPr>
              <a:buNone/>
            </a:pPr>
            <a:r>
              <a:rPr lang="en-US" sz="1500" b="1" dirty="0" smtClean="0"/>
              <a:t>(3,1)</a:t>
            </a:r>
            <a:r>
              <a:rPr lang="en-US" sz="1500" dirty="0" smtClean="0"/>
              <a:t> →</a:t>
            </a:r>
          </a:p>
          <a:p>
            <a:pPr>
              <a:buNone/>
            </a:pPr>
            <a:r>
              <a:rPr lang="en-US" sz="1500" dirty="0" smtClean="0"/>
              <a:t>1 0 </a:t>
            </a:r>
          </a:p>
          <a:p>
            <a:pPr>
              <a:buNone/>
            </a:pPr>
            <a:r>
              <a:rPr lang="en-US" sz="1500" dirty="0" smtClean="0"/>
              <a:t>0 3 </a:t>
            </a:r>
          </a:p>
          <a:p>
            <a:pPr>
              <a:buNone/>
            </a:pPr>
            <a:r>
              <a:rPr lang="en-US" sz="1500" dirty="0" smtClean="0"/>
              <a:t>Max = 3 </a:t>
            </a:r>
          </a:p>
          <a:p>
            <a:pPr>
              <a:buNone/>
            </a:pPr>
            <a:r>
              <a:rPr lang="en-US" sz="1500" b="1" dirty="0" smtClean="0"/>
              <a:t>(3,2)</a:t>
            </a:r>
            <a:r>
              <a:rPr lang="en-US" sz="1500" dirty="0" smtClean="0"/>
              <a:t> →</a:t>
            </a:r>
          </a:p>
          <a:p>
            <a:pPr>
              <a:buNone/>
            </a:pPr>
            <a:r>
              <a:rPr lang="en-US" sz="1500" dirty="0" smtClean="0"/>
              <a:t>0 1 </a:t>
            </a:r>
          </a:p>
          <a:p>
            <a:pPr>
              <a:buNone/>
            </a:pPr>
            <a:r>
              <a:rPr lang="en-US" sz="1500" dirty="0" smtClean="0"/>
              <a:t>3 4 </a:t>
            </a:r>
          </a:p>
          <a:p>
            <a:pPr>
              <a:buNone/>
            </a:pPr>
            <a:r>
              <a:rPr lang="en-US" sz="1500" dirty="0" smtClean="0"/>
              <a:t>Max = 4 </a:t>
            </a:r>
          </a:p>
          <a:p>
            <a:pPr>
              <a:buNone/>
            </a:pPr>
            <a:r>
              <a:rPr lang="en-US" sz="1500" b="1" dirty="0" smtClean="0"/>
              <a:t>(3,3)</a:t>
            </a:r>
            <a:r>
              <a:rPr lang="en-US" sz="1500" dirty="0" smtClean="0"/>
              <a:t> →</a:t>
            </a:r>
          </a:p>
          <a:p>
            <a:pPr>
              <a:buNone/>
            </a:pPr>
            <a:r>
              <a:rPr lang="en-US" sz="1500" dirty="0" smtClean="0"/>
              <a:t>1 2 </a:t>
            </a:r>
          </a:p>
          <a:p>
            <a:pPr>
              <a:buNone/>
            </a:pPr>
            <a:r>
              <a:rPr lang="en-US" sz="1500" dirty="0" smtClean="0"/>
              <a:t>4 2 </a:t>
            </a:r>
          </a:p>
          <a:p>
            <a:pPr>
              <a:buNone/>
            </a:pPr>
            <a:r>
              <a:rPr lang="en-US" sz="1500" dirty="0" smtClean="0"/>
              <a:t>Max = 4 </a:t>
            </a:r>
          </a:p>
          <a:p>
            <a:pPr>
              <a:buNone/>
            </a:pPr>
            <a:r>
              <a:rPr lang="en-US" sz="1500" dirty="0" smtClean="0"/>
              <a:t>Output row → </a:t>
            </a:r>
            <a:r>
              <a:rPr lang="en-US" sz="1500" b="1" dirty="0" smtClean="0"/>
              <a:t>[3, 4, 4]</a:t>
            </a:r>
            <a:endParaRPr lang="en-US" sz="1500" dirty="0" smtClean="0"/>
          </a:p>
          <a:p>
            <a:pPr>
              <a:buNone/>
            </a:pPr>
            <a:r>
              <a:rPr lang="en-US" sz="1500" b="1" dirty="0" smtClean="0"/>
              <a:t>Final Max Pooling Output (Stride = 1)</a:t>
            </a:r>
          </a:p>
          <a:p>
            <a:pPr>
              <a:buNone/>
            </a:pPr>
            <a:r>
              <a:rPr lang="en-US" sz="1500" dirty="0" smtClean="0"/>
              <a:t>4 2 3</a:t>
            </a:r>
          </a:p>
          <a:p>
            <a:pPr>
              <a:buNone/>
            </a:pPr>
            <a:r>
              <a:rPr lang="en-US" sz="1500" dirty="0" smtClean="0"/>
              <a:t>3 2 3</a:t>
            </a:r>
          </a:p>
          <a:p>
            <a:pPr>
              <a:buNone/>
            </a:pPr>
            <a:r>
              <a:rPr lang="en-US" sz="1500" dirty="0" smtClean="0"/>
              <a:t>3 4 4</a:t>
            </a:r>
          </a:p>
          <a:p>
            <a:pPr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Max Pooling</a:t>
            </a:r>
            <a:r>
              <a:rPr lang="en-US" dirty="0" smtClean="0"/>
              <a:t> with </a:t>
            </a:r>
            <a:r>
              <a:rPr lang="en-US" b="1" dirty="0" smtClean="0"/>
              <a:t>padding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 smtClean="0"/>
              <a:t>Max Pooling</a:t>
            </a:r>
            <a:r>
              <a:rPr lang="en-US" dirty="0" smtClean="0"/>
              <a:t> with </a:t>
            </a:r>
            <a:r>
              <a:rPr lang="en-US" b="1" dirty="0" smtClean="0"/>
              <a:t>padding</a:t>
            </a:r>
            <a:r>
              <a:rPr lang="en-US" dirty="0" smtClean="0"/>
              <a:t> and </a:t>
            </a:r>
            <a:r>
              <a:rPr lang="en-US" b="1" dirty="0" smtClean="0"/>
              <a:t>stride = 2</a:t>
            </a:r>
            <a:r>
              <a:rPr lang="en-US" dirty="0" smtClean="0"/>
              <a:t> for your same </a:t>
            </a:r>
            <a:r>
              <a:rPr lang="en-US" b="1" dirty="0" smtClean="0"/>
              <a:t>5×5 feature map</a:t>
            </a:r>
            <a:r>
              <a:rPr lang="en-US" dirty="0" smtClean="0"/>
              <a:t> step-by-step.</a:t>
            </a:r>
            <a:endParaRPr lang="en-US" b="1" dirty="0" smtClean="0"/>
          </a:p>
          <a:p>
            <a:r>
              <a:rPr lang="en-US" b="1" dirty="0" smtClean="0"/>
              <a:t>Step 1: Add Padding</a:t>
            </a:r>
          </a:p>
          <a:p>
            <a:r>
              <a:rPr lang="en-US" dirty="0" smtClean="0"/>
              <a:t>If we use </a:t>
            </a:r>
            <a:r>
              <a:rPr lang="en-US" b="1" dirty="0" smtClean="0"/>
              <a:t>2×2 pooling</a:t>
            </a:r>
            <a:r>
              <a:rPr lang="en-US" dirty="0" smtClean="0"/>
              <a:t> with </a:t>
            </a:r>
            <a:r>
              <a:rPr lang="en-US" b="1" dirty="0" smtClean="0"/>
              <a:t>stride = 2</a:t>
            </a:r>
            <a:r>
              <a:rPr lang="en-US" dirty="0" smtClean="0"/>
              <a:t> and want to cover all regions including borders, we can add </a:t>
            </a:r>
            <a:r>
              <a:rPr lang="en-US" b="1" dirty="0" smtClean="0"/>
              <a:t>zero padding</a:t>
            </a:r>
            <a:r>
              <a:rPr lang="en-US" dirty="0" smtClean="0"/>
              <a:t> around the matrix.</a:t>
            </a:r>
            <a:br>
              <a:rPr lang="en-US" dirty="0" smtClean="0"/>
            </a:br>
            <a:r>
              <a:rPr lang="en-US" dirty="0" smtClean="0"/>
              <a:t>We’ll pad </a:t>
            </a:r>
            <a:r>
              <a:rPr lang="en-US" b="1" dirty="0" smtClean="0"/>
              <a:t>1 row/column</a:t>
            </a:r>
            <a:r>
              <a:rPr lang="en-US" dirty="0" smtClean="0"/>
              <a:t> on the bottom and right so pooling windows fit perfectly.</a:t>
            </a:r>
          </a:p>
          <a:p>
            <a:r>
              <a:rPr lang="en-US" dirty="0" smtClean="0"/>
              <a:t>Padded matrix:</a:t>
            </a:r>
          </a:p>
          <a:p>
            <a:r>
              <a:rPr lang="en-US" dirty="0" smtClean="0"/>
              <a:t>4 2 1 0 3 0</a:t>
            </a:r>
          </a:p>
          <a:p>
            <a:r>
              <a:rPr lang="en-US" dirty="0" smtClean="0"/>
              <a:t>3 1 2 3 4 0</a:t>
            </a:r>
          </a:p>
          <a:p>
            <a:r>
              <a:rPr lang="en-US" dirty="0" smtClean="0"/>
              <a:t>1 0 1 2 3 0</a:t>
            </a:r>
          </a:p>
          <a:p>
            <a:r>
              <a:rPr lang="en-US" dirty="0" smtClean="0"/>
              <a:t>0 1 3 4 2 0</a:t>
            </a:r>
          </a:p>
          <a:p>
            <a:r>
              <a:rPr lang="en-US" dirty="0" smtClean="0"/>
              <a:t>2 3 0 1 1 0</a:t>
            </a:r>
          </a:p>
          <a:p>
            <a:r>
              <a:rPr lang="en-US" dirty="0" smtClean="0"/>
              <a:t>0 0 0 0 0 0</a:t>
            </a:r>
          </a:p>
          <a:p>
            <a:r>
              <a:rPr lang="en-US" dirty="0" smtClean="0"/>
              <a:t>Size → </a:t>
            </a:r>
            <a:r>
              <a:rPr lang="en-US" b="1" dirty="0" smtClean="0"/>
              <a:t>6×6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12776"/>
            <a:ext cx="7931224" cy="201622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Pool size:</a:t>
            </a:r>
            <a:r>
              <a:rPr lang="en-US" dirty="0" smtClean="0"/>
              <a:t> 2×2</a:t>
            </a:r>
          </a:p>
          <a:p>
            <a:r>
              <a:rPr lang="en-US" b="1" dirty="0" smtClean="0"/>
              <a:t>Stride:</a:t>
            </a:r>
            <a:r>
              <a:rPr lang="en-US" dirty="0" smtClean="0"/>
              <a:t> 2</a:t>
            </a:r>
          </a:p>
          <a:p>
            <a:r>
              <a:rPr lang="en-US" b="1" dirty="0" smtClean="0"/>
              <a:t>Padding:</a:t>
            </a:r>
            <a:r>
              <a:rPr lang="en-US" dirty="0" smtClean="0"/>
              <a:t> </a:t>
            </a:r>
            <a:r>
              <a:rPr lang="en-US" b="1" dirty="0" smtClean="0"/>
              <a:t>None</a:t>
            </a:r>
            <a:endParaRPr lang="en-US" dirty="0" smtClean="0"/>
          </a:p>
          <a:p>
            <a:r>
              <a:rPr lang="en-US" dirty="0" smtClean="0"/>
              <a:t>for your </a:t>
            </a:r>
            <a:r>
              <a:rPr lang="en-US" b="1" dirty="0" smtClean="0"/>
              <a:t>same 5×5 feature map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3789040"/>
            <a:ext cx="5904656" cy="2787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b="1" dirty="0" smtClean="0"/>
              <a:t>Max Pooling</a:t>
            </a:r>
            <a:r>
              <a:rPr lang="en-US" dirty="0" smtClean="0"/>
              <a:t> without </a:t>
            </a:r>
            <a:r>
              <a:rPr lang="en-US" b="1" dirty="0" smtClean="0"/>
              <a:t>padding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260648"/>
            <a:ext cx="8712968" cy="6597352"/>
          </a:xfrm>
        </p:spPr>
        <p:txBody>
          <a:bodyPr numCol="2">
            <a:noAutofit/>
          </a:bodyPr>
          <a:lstStyle/>
          <a:p>
            <a:pPr>
              <a:buNone/>
            </a:pPr>
            <a:r>
              <a:rPr lang="en-US" sz="1200" dirty="0" smtClean="0"/>
              <a:t>Step 2: Apply Max Pooling (2×2, stride=2)</a:t>
            </a:r>
          </a:p>
          <a:p>
            <a:pPr>
              <a:buNone/>
            </a:pPr>
            <a:r>
              <a:rPr lang="en-US" sz="1200" dirty="0" smtClean="0"/>
              <a:t>Row 1 of Output</a:t>
            </a:r>
          </a:p>
          <a:p>
            <a:pPr>
              <a:buNone/>
            </a:pPr>
            <a:r>
              <a:rPr lang="en-US" sz="1200" dirty="0" smtClean="0"/>
              <a:t>Window 1 (rows 1–2, cols 1–2):</a:t>
            </a:r>
          </a:p>
          <a:p>
            <a:pPr>
              <a:buNone/>
            </a:pPr>
            <a:r>
              <a:rPr lang="en-US" sz="1200" dirty="0" smtClean="0"/>
              <a:t>4 2</a:t>
            </a:r>
          </a:p>
          <a:p>
            <a:pPr>
              <a:buNone/>
            </a:pPr>
            <a:r>
              <a:rPr lang="en-US" sz="1200" dirty="0" smtClean="0"/>
              <a:t>3 1</a:t>
            </a:r>
          </a:p>
          <a:p>
            <a:pPr>
              <a:buNone/>
            </a:pPr>
            <a:r>
              <a:rPr lang="en-US" sz="1200" dirty="0" smtClean="0"/>
              <a:t>Max = 4</a:t>
            </a:r>
          </a:p>
          <a:p>
            <a:pPr>
              <a:buNone/>
            </a:pPr>
            <a:r>
              <a:rPr lang="en-US" sz="1200" dirty="0" smtClean="0"/>
              <a:t>Window 2 (rows 1–2, cols 3–4):</a:t>
            </a:r>
          </a:p>
          <a:p>
            <a:pPr>
              <a:buNone/>
            </a:pPr>
            <a:r>
              <a:rPr lang="en-US" sz="1200" dirty="0" smtClean="0"/>
              <a:t>1 0</a:t>
            </a:r>
          </a:p>
          <a:p>
            <a:pPr>
              <a:buNone/>
            </a:pPr>
            <a:r>
              <a:rPr lang="en-US" sz="1200" dirty="0" smtClean="0"/>
              <a:t>2 3</a:t>
            </a:r>
          </a:p>
          <a:p>
            <a:pPr>
              <a:buNone/>
            </a:pPr>
            <a:r>
              <a:rPr lang="en-US" sz="1200" dirty="0" smtClean="0"/>
              <a:t>Max = 3</a:t>
            </a:r>
          </a:p>
          <a:p>
            <a:pPr>
              <a:buNone/>
            </a:pPr>
            <a:r>
              <a:rPr lang="en-US" sz="1200" dirty="0" smtClean="0"/>
              <a:t>(No more columns for another 2×2 window.)</a:t>
            </a:r>
          </a:p>
          <a:p>
            <a:pPr>
              <a:buNone/>
            </a:pPr>
            <a:r>
              <a:rPr lang="en-US" sz="1200" dirty="0" smtClean="0"/>
              <a:t>Row 2 of Output</a:t>
            </a:r>
          </a:p>
          <a:p>
            <a:pPr>
              <a:buNone/>
            </a:pPr>
            <a:r>
              <a:rPr lang="en-US" sz="1200" dirty="0" smtClean="0"/>
              <a:t>Window 1 (rows 3–4, cols 1–2):</a:t>
            </a:r>
          </a:p>
          <a:p>
            <a:pPr>
              <a:buNone/>
            </a:pPr>
            <a:r>
              <a:rPr lang="en-US" sz="1200" dirty="0" smtClean="0"/>
              <a:t>1 0</a:t>
            </a:r>
          </a:p>
          <a:p>
            <a:pPr>
              <a:buNone/>
            </a:pPr>
            <a:r>
              <a:rPr lang="en-US" sz="1200" dirty="0" smtClean="0"/>
              <a:t>0 1</a:t>
            </a:r>
          </a:p>
          <a:p>
            <a:pPr>
              <a:buNone/>
            </a:pPr>
            <a:r>
              <a:rPr lang="en-US" sz="1200" dirty="0" smtClean="0"/>
              <a:t>Max = 1</a:t>
            </a:r>
          </a:p>
          <a:p>
            <a:pPr>
              <a:buNone/>
            </a:pPr>
            <a:r>
              <a:rPr lang="en-US" sz="1200" dirty="0" smtClean="0"/>
              <a:t>Window 2 (rows 3–4, cols 3–4):</a:t>
            </a:r>
          </a:p>
          <a:p>
            <a:pPr>
              <a:buNone/>
            </a:pPr>
            <a:r>
              <a:rPr lang="en-US" sz="1200" dirty="0" smtClean="0"/>
              <a:t>1 2</a:t>
            </a:r>
          </a:p>
          <a:p>
            <a:pPr>
              <a:buNone/>
            </a:pPr>
            <a:r>
              <a:rPr lang="en-US" sz="1200" dirty="0" smtClean="0"/>
              <a:t>3 4</a:t>
            </a:r>
          </a:p>
          <a:p>
            <a:pPr>
              <a:buNone/>
            </a:pPr>
            <a:r>
              <a:rPr lang="en-US" sz="1200" dirty="0" smtClean="0"/>
              <a:t>Max = 4</a:t>
            </a:r>
          </a:p>
          <a:p>
            <a:pPr>
              <a:buNone/>
            </a:pPr>
            <a:r>
              <a:rPr lang="en-US" sz="1200" dirty="0" smtClean="0"/>
              <a:t>(No more columns for another window.)</a:t>
            </a:r>
          </a:p>
          <a:p>
            <a:pPr>
              <a:buNone/>
            </a:pPr>
            <a:r>
              <a:rPr lang="en-US" sz="1200" dirty="0" smtClean="0"/>
              <a:t>Final Max Pooling Output (stride=2, no padding)</a:t>
            </a:r>
          </a:p>
          <a:p>
            <a:pPr>
              <a:buNone/>
            </a:pPr>
            <a:r>
              <a:rPr lang="en-US" sz="1200" dirty="0" smtClean="0"/>
              <a:t>4 3</a:t>
            </a:r>
          </a:p>
          <a:p>
            <a:pPr>
              <a:buNone/>
            </a:pPr>
            <a:r>
              <a:rPr lang="en-US" sz="1200" dirty="0" smtClean="0"/>
              <a:t>1 4</a:t>
            </a:r>
          </a:p>
          <a:p>
            <a:pPr>
              <a:buNone/>
            </a:pPr>
            <a:r>
              <a:rPr lang="en-US" sz="1200" dirty="0" smtClean="0"/>
              <a:t>So, compared to stride=2 with padding,</a:t>
            </a:r>
          </a:p>
          <a:p>
            <a:pPr>
              <a:buNone/>
            </a:pPr>
            <a:r>
              <a:rPr lang="en-US" sz="1200" dirty="0" smtClean="0"/>
              <a:t>The output shrinks from 3×3 → 2×2</a:t>
            </a:r>
          </a:p>
          <a:p>
            <a:pPr>
              <a:buNone/>
            </a:pPr>
            <a:r>
              <a:rPr lang="en-US" sz="1200" dirty="0" smtClean="0"/>
              <a:t>The bottom/right edges are ignored since no padding is added.</a:t>
            </a:r>
          </a:p>
          <a:p>
            <a:pPr>
              <a:buNone/>
            </a:pPr>
            <a:r>
              <a:rPr lang="en-US" sz="1400" b="1" dirty="0" smtClean="0">
                <a:solidFill>
                  <a:srgbClr val="C00000"/>
                </a:solidFill>
              </a:rPr>
              <a:t>Assignment:</a:t>
            </a:r>
          </a:p>
          <a:p>
            <a:pPr>
              <a:buNone/>
            </a:pPr>
            <a:r>
              <a:rPr lang="en-US" sz="1400" b="1" dirty="0" smtClean="0">
                <a:solidFill>
                  <a:srgbClr val="C00000"/>
                </a:solidFill>
              </a:rPr>
              <a:t>Try all four cases:</a:t>
            </a:r>
          </a:p>
          <a:p>
            <a:pPr>
              <a:buNone/>
            </a:pPr>
            <a:r>
              <a:rPr lang="en-US" sz="1400" b="1" dirty="0" smtClean="0">
                <a:solidFill>
                  <a:srgbClr val="C00000"/>
                </a:solidFill>
              </a:rPr>
              <a:t>stride=1 no padding</a:t>
            </a:r>
          </a:p>
          <a:p>
            <a:pPr>
              <a:buNone/>
            </a:pPr>
            <a:r>
              <a:rPr lang="en-US" sz="1400" b="1" dirty="0" smtClean="0">
                <a:solidFill>
                  <a:srgbClr val="C00000"/>
                </a:solidFill>
              </a:rPr>
              <a:t>stride=2 no padding</a:t>
            </a:r>
          </a:p>
          <a:p>
            <a:pPr>
              <a:buNone/>
            </a:pPr>
            <a:r>
              <a:rPr lang="en-US" sz="1400" b="1" dirty="0" smtClean="0">
                <a:solidFill>
                  <a:srgbClr val="C00000"/>
                </a:solidFill>
              </a:rPr>
              <a:t>stride=1 with padding</a:t>
            </a:r>
          </a:p>
          <a:p>
            <a:pPr>
              <a:buNone/>
            </a:pPr>
            <a:r>
              <a:rPr lang="en-US" sz="1400" b="1" dirty="0" smtClean="0">
                <a:solidFill>
                  <a:srgbClr val="C00000"/>
                </a:solidFill>
              </a:rPr>
              <a:t>stride=2 with padding</a:t>
            </a:r>
          </a:p>
          <a:p>
            <a:pPr>
              <a:buNone/>
            </a:pPr>
            <a:r>
              <a:rPr lang="en-US" sz="1400" b="1" dirty="0" smtClean="0">
                <a:solidFill>
                  <a:srgbClr val="C00000"/>
                </a:solidFill>
              </a:rPr>
              <a:t>into one comparison chart so can see how output size and values change. That would make the differences very clear.</a:t>
            </a:r>
          </a:p>
          <a:p>
            <a:pPr>
              <a:buNone/>
            </a:pPr>
            <a:endParaRPr lang="en-US" sz="1200" dirty="0" smtClean="0"/>
          </a:p>
          <a:p>
            <a:pPr>
              <a:buNone/>
            </a:pPr>
            <a:endParaRPr lang="en-US" sz="1200" dirty="0" smtClean="0"/>
          </a:p>
          <a:p>
            <a:pPr>
              <a:buNone/>
            </a:pPr>
            <a:endParaRPr lang="en-US" sz="1200" dirty="0" smtClean="0"/>
          </a:p>
          <a:p>
            <a:pPr>
              <a:buNone/>
            </a:pPr>
            <a:endParaRPr lang="en-US" sz="1200" dirty="0" smtClean="0"/>
          </a:p>
          <a:p>
            <a:pPr>
              <a:buNone/>
            </a:pPr>
            <a:endParaRPr lang="en-US" sz="1200" dirty="0" smtClean="0"/>
          </a:p>
          <a:p>
            <a:pPr>
              <a:buNone/>
            </a:pPr>
            <a:endParaRPr lang="en-US" sz="1200" dirty="0" smtClean="0"/>
          </a:p>
          <a:p>
            <a:pPr>
              <a:buNone/>
            </a:pPr>
            <a:endParaRPr lang="en-US" sz="1200" dirty="0" smtClean="0"/>
          </a:p>
          <a:p>
            <a:pPr>
              <a:buNone/>
            </a:pPr>
            <a:endParaRPr lang="en-US" sz="1200" dirty="0" smtClean="0"/>
          </a:p>
          <a:p>
            <a:pPr>
              <a:buNone/>
            </a:pPr>
            <a:endParaRPr lang="en-US" sz="1200" dirty="0" smtClean="0"/>
          </a:p>
          <a:p>
            <a:pPr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en-US" sz="3400" b="1" dirty="0" smtClean="0"/>
              <a:t>Average Pooling</a:t>
            </a:r>
            <a:br>
              <a:rPr lang="en-US" sz="3400" b="1" dirty="0" smtClean="0"/>
            </a:br>
            <a:r>
              <a:rPr lang="en-US" sz="3400" b="1" dirty="0" smtClean="0"/>
              <a:t>Global Pooling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892480" cy="5472608"/>
          </a:xfrm>
        </p:spPr>
        <p:txBody>
          <a:bodyPr numCol="2">
            <a:normAutofit fontScale="55000" lnSpcReduction="20000"/>
          </a:bodyPr>
          <a:lstStyle/>
          <a:p>
            <a:pPr>
              <a:buNone/>
            </a:pPr>
            <a:r>
              <a:rPr lang="en-US" sz="4000" b="1" u="sng" dirty="0" smtClean="0"/>
              <a:t>Average Pooling</a:t>
            </a:r>
          </a:p>
          <a:p>
            <a:pPr>
              <a:buNone/>
            </a:pPr>
            <a:endParaRPr lang="en-US" sz="4000" b="1" u="sng" dirty="0" smtClean="0"/>
          </a:p>
          <a:p>
            <a:pPr>
              <a:buNone/>
            </a:pPr>
            <a:r>
              <a:rPr lang="en-US" b="1" dirty="0" smtClean="0"/>
              <a:t>Operation:</a:t>
            </a:r>
            <a:r>
              <a:rPr lang="en-US" dirty="0" smtClean="0"/>
              <a:t> Take the </a:t>
            </a:r>
            <a:r>
              <a:rPr lang="en-US" b="1" dirty="0" smtClean="0"/>
              <a:t>average</a:t>
            </a:r>
            <a:r>
              <a:rPr lang="en-US" dirty="0" smtClean="0"/>
              <a:t> of all values in each window.</a:t>
            </a:r>
          </a:p>
          <a:p>
            <a:pPr>
              <a:buNone/>
            </a:pPr>
            <a:r>
              <a:rPr lang="en-US" b="1" dirty="0" smtClean="0"/>
              <a:t>Example:</a:t>
            </a:r>
            <a:r>
              <a:rPr lang="en-US" dirty="0" smtClean="0"/>
              <a:t> Pool size = 2×2, Stride = 2.</a:t>
            </a:r>
          </a:p>
          <a:p>
            <a:pPr>
              <a:buNone/>
            </a:pPr>
            <a:r>
              <a:rPr lang="en-US" b="1" dirty="0" smtClean="0"/>
              <a:t>First window: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4 2</a:t>
            </a:r>
          </a:p>
          <a:p>
            <a:pPr>
              <a:buNone/>
            </a:pPr>
            <a:r>
              <a:rPr lang="en-US" dirty="0" smtClean="0"/>
              <a:t>3 1</a:t>
            </a:r>
          </a:p>
          <a:p>
            <a:pPr>
              <a:buNone/>
            </a:pPr>
            <a:r>
              <a:rPr lang="en-US" dirty="0" smtClean="0"/>
              <a:t>Average = (4+2+3+1) / 4 = 2.5</a:t>
            </a:r>
          </a:p>
          <a:p>
            <a:pPr>
              <a:buNone/>
            </a:pPr>
            <a:r>
              <a:rPr lang="en-US" dirty="0" smtClean="0"/>
              <a:t>Average pooling output:</a:t>
            </a:r>
          </a:p>
          <a:p>
            <a:pPr>
              <a:buNone/>
            </a:pPr>
            <a:r>
              <a:rPr lang="en-US" dirty="0" smtClean="0"/>
              <a:t>2.5 1.5 3.5</a:t>
            </a:r>
          </a:p>
          <a:p>
            <a:pPr>
              <a:buNone/>
            </a:pPr>
            <a:r>
              <a:rPr lang="en-US" dirty="0" smtClean="0"/>
              <a:t>0.5 2.5 2.5</a:t>
            </a:r>
          </a:p>
          <a:p>
            <a:pPr>
              <a:buNone/>
            </a:pPr>
            <a:r>
              <a:rPr lang="en-US" dirty="0" smtClean="0"/>
              <a:t>2.0 1.0 1.5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4000" b="1" u="sng" dirty="0" smtClean="0"/>
              <a:t>Global Pooling</a:t>
            </a:r>
          </a:p>
          <a:p>
            <a:pPr>
              <a:buNone/>
            </a:pPr>
            <a:endParaRPr lang="en-US" sz="4000" b="1" u="sng" dirty="0" smtClean="0"/>
          </a:p>
          <a:p>
            <a:pPr>
              <a:buNone/>
            </a:pPr>
            <a:r>
              <a:rPr lang="en-US" b="1" dirty="0" smtClean="0"/>
              <a:t>Global Max Pooling:</a:t>
            </a:r>
            <a:r>
              <a:rPr lang="en-US" dirty="0" smtClean="0"/>
              <a:t> Takes the </a:t>
            </a:r>
            <a:r>
              <a:rPr lang="en-US" b="1" dirty="0" smtClean="0"/>
              <a:t>maximum</a:t>
            </a:r>
            <a:r>
              <a:rPr lang="en-US" dirty="0" smtClean="0"/>
              <a:t> from the whole feature map (reduces entire map to 1 value per channel).</a:t>
            </a:r>
          </a:p>
          <a:p>
            <a:pPr lvl="1">
              <a:buNone/>
            </a:pPr>
            <a:r>
              <a:rPr lang="en-US" dirty="0" smtClean="0"/>
              <a:t>From our example → </a:t>
            </a:r>
            <a:r>
              <a:rPr lang="en-US" b="1" dirty="0" smtClean="0"/>
              <a:t>max = 4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Global Average Pooling:</a:t>
            </a:r>
            <a:r>
              <a:rPr lang="en-US" dirty="0" smtClean="0"/>
              <a:t> Takes the </a:t>
            </a:r>
            <a:r>
              <a:rPr lang="en-US" b="1" dirty="0" smtClean="0"/>
              <a:t>mean</a:t>
            </a:r>
            <a:r>
              <a:rPr lang="en-US" dirty="0" smtClean="0"/>
              <a:t> of all values in the feature map.</a:t>
            </a:r>
          </a:p>
          <a:p>
            <a:pPr lvl="1">
              <a:buNone/>
            </a:pPr>
            <a:r>
              <a:rPr lang="en-US" dirty="0" smtClean="0"/>
              <a:t>From our example → sum all values / total count.</a:t>
            </a:r>
          </a:p>
          <a:p>
            <a:pPr>
              <a:buNone/>
            </a:pPr>
            <a:r>
              <a:rPr lang="en-US" dirty="0" smtClean="0"/>
              <a:t>This is usually applied </a:t>
            </a:r>
            <a:r>
              <a:rPr lang="en-US" b="1" dirty="0" smtClean="0"/>
              <a:t>just before the output layer</a:t>
            </a:r>
            <a:r>
              <a:rPr lang="en-US" dirty="0" smtClean="0"/>
              <a:t> in place of a Flatten → Dense layer.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964488" cy="11430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what happens between pooling layers and fully connected (dense) layers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340768"/>
            <a:ext cx="8435280" cy="5256584"/>
          </a:xfrm>
        </p:spPr>
        <p:txBody>
          <a:bodyPr numCol="2">
            <a:normAutofit fontScale="40000" lnSpcReduction="20000"/>
          </a:bodyPr>
          <a:lstStyle/>
          <a:p>
            <a:pPr>
              <a:buNone/>
            </a:pPr>
            <a:r>
              <a:rPr lang="en-US" i="1" dirty="0" smtClean="0"/>
              <a:t>How does the 2D matrix from pooling become the 1D vector that a fully connected layer expects?</a:t>
            </a:r>
          </a:p>
          <a:p>
            <a:pPr>
              <a:buNone/>
            </a:pPr>
            <a:r>
              <a:rPr lang="en-US" dirty="0" smtClean="0"/>
              <a:t>Suppose after the last pooling layer, your output shape is:</a:t>
            </a:r>
          </a:p>
          <a:p>
            <a:pPr>
              <a:buNone/>
            </a:pPr>
            <a:r>
              <a:rPr lang="en-US" dirty="0" smtClean="0"/>
              <a:t>4 × 4 × 64 </a:t>
            </a:r>
          </a:p>
          <a:p>
            <a:pPr>
              <a:buNone/>
            </a:pPr>
            <a:r>
              <a:rPr lang="en-US" dirty="0" smtClean="0"/>
              <a:t>Height = 4</a:t>
            </a:r>
          </a:p>
          <a:p>
            <a:pPr>
              <a:buNone/>
            </a:pPr>
            <a:r>
              <a:rPr lang="en-US" dirty="0" smtClean="0"/>
              <a:t>Width = 4</a:t>
            </a:r>
          </a:p>
          <a:p>
            <a:pPr>
              <a:buNone/>
            </a:pPr>
            <a:r>
              <a:rPr lang="en-US" dirty="0" smtClean="0"/>
              <a:t>Channels (feature maps) = 64</a:t>
            </a:r>
          </a:p>
          <a:p>
            <a:pPr>
              <a:buNone/>
            </a:pPr>
            <a:r>
              <a:rPr lang="en-US" dirty="0" smtClean="0"/>
              <a:t>This is </a:t>
            </a:r>
            <a:r>
              <a:rPr lang="en-US" b="1" dirty="0" smtClean="0"/>
              <a:t>not yet suitable</a:t>
            </a:r>
            <a:r>
              <a:rPr lang="en-US" dirty="0" smtClean="0"/>
              <a:t> for a fully connected layer, because a Dense layer expects a </a:t>
            </a:r>
            <a:r>
              <a:rPr lang="en-US" b="1" dirty="0" smtClean="0"/>
              <a:t>1D vector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b="1" dirty="0" smtClean="0"/>
              <a:t>Flattening the Output</a:t>
            </a:r>
          </a:p>
          <a:p>
            <a:pPr>
              <a:buNone/>
            </a:pPr>
            <a:r>
              <a:rPr lang="en-US" dirty="0" smtClean="0"/>
              <a:t> use a </a:t>
            </a:r>
            <a:r>
              <a:rPr lang="en-US" b="1" dirty="0" smtClean="0"/>
              <a:t>Flatten</a:t>
            </a:r>
            <a:r>
              <a:rPr lang="en-US" dirty="0" smtClean="0"/>
              <a:t> operation to convert the 3D tensor into a 1D vector.</a:t>
            </a:r>
          </a:p>
          <a:p>
            <a:pPr>
              <a:buNone/>
            </a:pPr>
            <a:r>
              <a:rPr lang="en-US" b="1" dirty="0" smtClean="0"/>
              <a:t>Example: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Before Flatten: 4 × 4 × 64 Number of elements = 4 × 4 × 64 = 1024 After Flatten: [x₁, x₂, x₃, ..., x₁₀₂₄] → Shape: (1024,) </a:t>
            </a:r>
          </a:p>
          <a:p>
            <a:pPr>
              <a:buNone/>
            </a:pPr>
            <a:r>
              <a:rPr lang="en-US" b="1" dirty="0" smtClean="0"/>
              <a:t>In frameworks:</a:t>
            </a:r>
            <a:endParaRPr lang="en-US" dirty="0" smtClean="0"/>
          </a:p>
          <a:p>
            <a:pPr>
              <a:buNone/>
            </a:pPr>
            <a:r>
              <a:rPr lang="en-US" b="1" dirty="0" err="1" smtClean="0"/>
              <a:t>Keras</a:t>
            </a:r>
            <a:r>
              <a:rPr lang="en-US" b="1" dirty="0" smtClean="0"/>
              <a:t>/</a:t>
            </a:r>
            <a:r>
              <a:rPr lang="en-US" b="1" dirty="0" err="1" smtClean="0"/>
              <a:t>TensorFlow</a:t>
            </a:r>
            <a:r>
              <a:rPr lang="en-US" b="1" dirty="0" smtClean="0"/>
              <a:t>:</a:t>
            </a:r>
            <a:r>
              <a:rPr lang="en-US" dirty="0" smtClean="0"/>
              <a:t> Flatten() layer</a:t>
            </a:r>
          </a:p>
          <a:p>
            <a:pPr>
              <a:buNone/>
            </a:pPr>
            <a:r>
              <a:rPr lang="en-US" b="1" dirty="0" smtClean="0"/>
              <a:t>Feeding to Fully Connected Layer</a:t>
            </a:r>
          </a:p>
          <a:p>
            <a:pPr>
              <a:buNone/>
            </a:pPr>
            <a:r>
              <a:rPr lang="en-US" dirty="0" smtClean="0"/>
              <a:t>Now the </a:t>
            </a:r>
            <a:r>
              <a:rPr lang="en-US" b="1" dirty="0" smtClean="0"/>
              <a:t>1D vector</a:t>
            </a:r>
            <a:r>
              <a:rPr lang="en-US" dirty="0" smtClean="0"/>
              <a:t> becomes the </a:t>
            </a:r>
            <a:r>
              <a:rPr lang="en-US" b="1" dirty="0" smtClean="0"/>
              <a:t>input</a:t>
            </a:r>
            <a:r>
              <a:rPr lang="en-US" dirty="0" smtClean="0"/>
              <a:t> to the dense layer.</a:t>
            </a:r>
          </a:p>
          <a:p>
            <a:pPr>
              <a:buNone/>
            </a:pPr>
            <a:r>
              <a:rPr lang="en-US" dirty="0" smtClean="0"/>
              <a:t>Each element of the vector is connected to every neuron in the FC layer.</a:t>
            </a:r>
          </a:p>
          <a:p>
            <a:pPr>
              <a:buNone/>
            </a:pPr>
            <a:r>
              <a:rPr lang="en-US" dirty="0" smtClean="0"/>
              <a:t>If the first Dense layer has 128 neurons:</a:t>
            </a:r>
          </a:p>
          <a:p>
            <a:pPr>
              <a:buNone/>
            </a:pPr>
            <a:r>
              <a:rPr lang="en-US" dirty="0" smtClean="0"/>
              <a:t>Input size = 1024 (from flattening)</a:t>
            </a:r>
          </a:p>
          <a:p>
            <a:pPr>
              <a:buNone/>
            </a:pPr>
            <a:r>
              <a:rPr lang="en-US" dirty="0" smtClean="0"/>
              <a:t>Weight matrix size = </a:t>
            </a:r>
            <a:r>
              <a:rPr lang="en-US" b="1" dirty="0" smtClean="0"/>
              <a:t>(1024 × 128)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Bias size = </a:t>
            </a:r>
            <a:r>
              <a:rPr lang="en-US" b="1" dirty="0" smtClean="0"/>
              <a:t>(128)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Why Flatten Is Needed</a:t>
            </a:r>
          </a:p>
          <a:p>
            <a:r>
              <a:rPr lang="en-US" dirty="0" err="1" smtClean="0"/>
              <a:t>Convolutional</a:t>
            </a:r>
            <a:r>
              <a:rPr lang="en-US" dirty="0" smtClean="0"/>
              <a:t> and pooling layers maintain </a:t>
            </a:r>
            <a:r>
              <a:rPr lang="en-US" b="1" dirty="0" smtClean="0"/>
              <a:t>spatial structure</a:t>
            </a:r>
            <a:r>
              <a:rPr lang="en-US" dirty="0" smtClean="0"/>
              <a:t> (H, W, Channels).</a:t>
            </a:r>
          </a:p>
          <a:p>
            <a:r>
              <a:rPr lang="en-US" dirty="0" smtClean="0"/>
              <a:t>Fully connected layers treat inputs as </a:t>
            </a:r>
            <a:r>
              <a:rPr lang="en-US" b="1" dirty="0" smtClean="0"/>
              <a:t>simple feature lists</a:t>
            </a:r>
            <a:r>
              <a:rPr lang="en-US" dirty="0" smtClean="0"/>
              <a:t> — no spatial layout.</a:t>
            </a:r>
          </a:p>
          <a:p>
            <a:r>
              <a:rPr lang="en-US" dirty="0" smtClean="0"/>
              <a:t>Flatten bridges the gap by reshaping without losing the learned feature values.</a:t>
            </a:r>
          </a:p>
          <a:p>
            <a:r>
              <a:rPr lang="en-US" dirty="0" smtClean="0"/>
              <a:t>Pooling → </a:t>
            </a:r>
            <a:r>
              <a:rPr lang="en-US" b="1" dirty="0" smtClean="0"/>
              <a:t>Matrix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Flatten → </a:t>
            </a:r>
            <a:r>
              <a:rPr lang="en-US" b="1" dirty="0" smtClean="0"/>
              <a:t>Vector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Vector → FC layer for final decision-making.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Some common architectures of CNN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LeNet-5</a:t>
            </a:r>
            <a:endParaRPr lang="en-US" dirty="0"/>
          </a:p>
          <a:p>
            <a:r>
              <a:rPr lang="en-US" b="1" dirty="0" err="1"/>
              <a:t>AlexNet</a:t>
            </a:r>
            <a:endParaRPr lang="en-US" dirty="0"/>
          </a:p>
          <a:p>
            <a:r>
              <a:rPr lang="en-US" b="1" dirty="0"/>
              <a:t>VGG 16</a:t>
            </a:r>
            <a:endParaRPr lang="en-US" dirty="0"/>
          </a:p>
          <a:p>
            <a:r>
              <a:rPr lang="en-US" b="1" dirty="0"/>
              <a:t>Inception (</a:t>
            </a:r>
            <a:r>
              <a:rPr lang="en-US" b="1" dirty="0" err="1"/>
              <a:t>GoogLeNet</a:t>
            </a:r>
            <a:r>
              <a:rPr lang="en-US" b="1" dirty="0"/>
              <a:t>)</a:t>
            </a:r>
            <a:endParaRPr lang="en-US" dirty="0"/>
          </a:p>
          <a:p>
            <a:r>
              <a:rPr lang="en-US" b="1" dirty="0" err="1"/>
              <a:t>ResNet</a:t>
            </a:r>
            <a:endParaRPr lang="en-US" dirty="0"/>
          </a:p>
          <a:p>
            <a:r>
              <a:rPr lang="en-US" b="1" dirty="0" err="1"/>
              <a:t>DenseNet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33488" y="1147763"/>
            <a:ext cx="6677025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2150" y="219075"/>
            <a:ext cx="5219700" cy="6419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2625" y="742950"/>
            <a:ext cx="5238750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098451"/>
            <a:ext cx="5979939" cy="504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043608" y="260648"/>
            <a:ext cx="73448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Deep Learning Frameworks for CNNs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2024</Words>
  <Application>Microsoft Office PowerPoint</Application>
  <PresentationFormat>On-screen Show (4:3)</PresentationFormat>
  <Paragraphs>315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ConvNet</vt:lpstr>
      <vt:lpstr>CNN</vt:lpstr>
      <vt:lpstr>Architecture of CNN</vt:lpstr>
      <vt:lpstr>Core Components and Layers of a ConvNet:</vt:lpstr>
      <vt:lpstr>Slide 5</vt:lpstr>
      <vt:lpstr>Detailed description of each layers</vt:lpstr>
      <vt:lpstr>Architecture of the CNNs applied to digit recognition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What is a Pooling Layer?</vt:lpstr>
      <vt:lpstr>Slide 19</vt:lpstr>
      <vt:lpstr>Max Pooling with padding</vt:lpstr>
      <vt:lpstr>Max Pooling without padding</vt:lpstr>
      <vt:lpstr>Slide 22</vt:lpstr>
      <vt:lpstr>Average Pooling Global Pooling</vt:lpstr>
      <vt:lpstr>what happens between pooling layers and fully connected (dense) layers</vt:lpstr>
      <vt:lpstr>Some common architectures of CNN</vt:lpstr>
      <vt:lpstr>Slide 26</vt:lpstr>
      <vt:lpstr>Slide 27</vt:lpstr>
      <vt:lpstr>Slide 28</vt:lpstr>
      <vt:lpstr>Slide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ConvNet</dc:title>
  <dc:creator>Hema</dc:creator>
  <cp:lastModifiedBy>Hema</cp:lastModifiedBy>
  <cp:revision>23</cp:revision>
  <dcterms:created xsi:type="dcterms:W3CDTF">2025-08-07T23:06:52Z</dcterms:created>
  <dcterms:modified xsi:type="dcterms:W3CDTF">2025-08-08T01:52:33Z</dcterms:modified>
</cp:coreProperties>
</file>