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04D72-1749-4933-841F-319FC0220B9E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5725F-DCF2-4DE2-A133-61F57BF25A3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50000"/>
        </a:lnSpc>
        <a:spcBef>
          <a:spcPts val="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lnSpc>
          <a:spcPct val="150000"/>
        </a:lnSpc>
        <a:spcBef>
          <a:spcPts val="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Data Augmentation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 smtClean="0"/>
              <a:t>S.Hemalatha</a:t>
            </a:r>
            <a:endParaRPr lang="en-US" b="1" dirty="0" smtClean="0"/>
          </a:p>
          <a:p>
            <a:r>
              <a:rPr lang="en-US" b="1" dirty="0" smtClean="0"/>
              <a:t>AP(</a:t>
            </a:r>
            <a:r>
              <a:rPr lang="en-US" b="1" dirty="0" err="1" smtClean="0"/>
              <a:t>Sr.G</a:t>
            </a:r>
            <a:r>
              <a:rPr lang="en-US" b="1" dirty="0" smtClean="0"/>
              <a:t>)</a:t>
            </a:r>
          </a:p>
          <a:p>
            <a:r>
              <a:rPr lang="en-US" b="1" dirty="0" smtClean="0"/>
              <a:t>Dept. of Computer Applications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Data Augmentation(DA)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568952" cy="5400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 </a:t>
            </a:r>
            <a:r>
              <a:rPr lang="en-US" dirty="0"/>
              <a:t>technique that can be used to </a:t>
            </a:r>
            <a:r>
              <a:rPr lang="en-US" b="1" dirty="0">
                <a:solidFill>
                  <a:srgbClr val="0000FF"/>
                </a:solidFill>
              </a:rPr>
              <a:t>artificially expand the size of a training set</a:t>
            </a:r>
            <a:r>
              <a:rPr lang="en-US" dirty="0"/>
              <a:t> by creating modified data from the existing one.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good </a:t>
            </a:r>
            <a:r>
              <a:rPr lang="en-US" dirty="0"/>
              <a:t>practice to use DA </a:t>
            </a:r>
            <a:r>
              <a:rPr lang="en-US" dirty="0" smtClean="0"/>
              <a:t>to </a:t>
            </a:r>
            <a:r>
              <a:rPr lang="en-US" b="1" dirty="0" smtClean="0">
                <a:solidFill>
                  <a:srgbClr val="0000FF"/>
                </a:solidFill>
              </a:rPr>
              <a:t>prevent</a:t>
            </a:r>
            <a:r>
              <a:rPr lang="en-US" b="1" dirty="0">
                <a:solidFill>
                  <a:srgbClr val="0000FF"/>
                </a:solidFill>
              </a:rPr>
              <a:t> </a:t>
            </a:r>
            <a:r>
              <a:rPr lang="en-US" b="1" dirty="0" err="1">
                <a:solidFill>
                  <a:srgbClr val="0000FF"/>
                </a:solidFill>
              </a:rPr>
              <a:t>overfitting</a:t>
            </a:r>
            <a:r>
              <a:rPr lang="en-US" dirty="0"/>
              <a:t>, or the </a:t>
            </a:r>
            <a:r>
              <a:rPr lang="en-US" b="1" dirty="0">
                <a:solidFill>
                  <a:srgbClr val="0000FF"/>
                </a:solidFill>
              </a:rPr>
              <a:t>initial dataset is too small to train </a:t>
            </a:r>
            <a:r>
              <a:rPr lang="en-US" dirty="0" smtClean="0"/>
              <a:t>on.</a:t>
            </a:r>
          </a:p>
          <a:p>
            <a:endParaRPr lang="en-US" dirty="0" smtClean="0"/>
          </a:p>
          <a:p>
            <a:r>
              <a:rPr lang="en-US" dirty="0" smtClean="0"/>
              <a:t>It helps in reducing </a:t>
            </a:r>
            <a:r>
              <a:rPr lang="en-US" dirty="0" err="1" smtClean="0"/>
              <a:t>overfitting</a:t>
            </a:r>
            <a:r>
              <a:rPr lang="en-US" dirty="0" smtClean="0"/>
              <a:t> by </a:t>
            </a:r>
            <a:r>
              <a:rPr lang="en-US" b="1" dirty="0" smtClean="0">
                <a:solidFill>
                  <a:srgbClr val="0000FF"/>
                </a:solidFill>
              </a:rPr>
              <a:t>increasing the </a:t>
            </a:r>
            <a:r>
              <a:rPr lang="en-US" b="1" dirty="0" smtClean="0">
                <a:solidFill>
                  <a:srgbClr val="C00000"/>
                </a:solidFill>
              </a:rPr>
              <a:t>diversity</a:t>
            </a:r>
            <a:r>
              <a:rPr lang="en-US" b="1" dirty="0" smtClean="0">
                <a:solidFill>
                  <a:srgbClr val="0000FF"/>
                </a:solidFill>
              </a:rPr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size</a:t>
            </a:r>
            <a:r>
              <a:rPr lang="en-US" b="1" dirty="0" smtClean="0">
                <a:solidFill>
                  <a:srgbClr val="0000FF"/>
                </a:solidFill>
              </a:rPr>
              <a:t> of the training dataset </a:t>
            </a:r>
            <a:r>
              <a:rPr lang="en-US" dirty="0" smtClean="0"/>
              <a:t>without collecting more real data.</a:t>
            </a:r>
          </a:p>
          <a:p>
            <a:r>
              <a:rPr lang="en-US" dirty="0" smtClean="0"/>
              <a:t>Also </a:t>
            </a:r>
            <a:r>
              <a:rPr lang="en-US" dirty="0"/>
              <a:t>good for </a:t>
            </a:r>
            <a:r>
              <a:rPr lang="en-US" b="1" dirty="0">
                <a:solidFill>
                  <a:srgbClr val="0000FF"/>
                </a:solidFill>
              </a:rPr>
              <a:t>enhancing the model’s performance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What is </a:t>
            </a:r>
            <a:r>
              <a:rPr lang="en-US" b="1" dirty="0" err="1" smtClean="0"/>
              <a:t>Overfitting</a:t>
            </a:r>
            <a:r>
              <a:rPr lang="en-US" b="1" dirty="0" smtClean="0"/>
              <a:t>?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19256" cy="4785395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 smtClean="0"/>
              <a:t>Overfitting</a:t>
            </a:r>
            <a:r>
              <a:rPr lang="en-US" dirty="0" smtClean="0"/>
              <a:t> happens when a model learns the </a:t>
            </a:r>
            <a:r>
              <a:rPr lang="en-US" b="1" dirty="0" smtClean="0">
                <a:solidFill>
                  <a:srgbClr val="0000FF"/>
                </a:solidFill>
              </a:rPr>
              <a:t>noise or specific patterns in the training data too well</a:t>
            </a:r>
            <a:r>
              <a:rPr lang="en-US" dirty="0" smtClean="0"/>
              <a:t>, which reduces its ability to generalize to new, unseen data. This usually occurs when: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0000FF"/>
                </a:solidFill>
              </a:rPr>
              <a:t>training dataset is small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0000FF"/>
                </a:solidFill>
              </a:rPr>
              <a:t>model is too complex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0000FF"/>
                </a:solidFill>
              </a:rPr>
              <a:t>same data is shown repeatedly </a:t>
            </a:r>
            <a:r>
              <a:rPr lang="en-US" dirty="0" smtClean="0"/>
              <a:t>during training.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can augment:</a:t>
            </a:r>
          </a:p>
          <a:p>
            <a:r>
              <a:rPr lang="en-US" dirty="0"/>
              <a:t>Audio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Images</a:t>
            </a:r>
          </a:p>
          <a:p>
            <a:r>
              <a:rPr lang="en-US" dirty="0"/>
              <a:t>Any other types of data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b="1" dirty="0" smtClean="0"/>
              <a:t>Data augmentation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640960" cy="54006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/>
              <a:t>Can </a:t>
            </a:r>
            <a:r>
              <a:rPr lang="en-US" dirty="0"/>
              <a:t>apply various changes to the initial data. For example, </a:t>
            </a:r>
            <a:r>
              <a:rPr lang="en-US" b="1" dirty="0">
                <a:solidFill>
                  <a:srgbClr val="0000FF"/>
                </a:solidFill>
              </a:rPr>
              <a:t>for images</a:t>
            </a:r>
            <a:r>
              <a:rPr lang="en-US" dirty="0"/>
              <a:t>, </a:t>
            </a:r>
            <a:r>
              <a:rPr lang="en-US" dirty="0" smtClean="0"/>
              <a:t>can </a:t>
            </a:r>
            <a:r>
              <a:rPr lang="en-US" dirty="0"/>
              <a:t>use:</a:t>
            </a:r>
          </a:p>
          <a:p>
            <a:r>
              <a:rPr lang="en-US" b="1" dirty="0"/>
              <a:t>Geometric transformations</a:t>
            </a:r>
            <a:r>
              <a:rPr lang="en-US" dirty="0"/>
              <a:t> </a:t>
            </a:r>
            <a:r>
              <a:rPr lang="en-US" dirty="0" smtClean="0"/>
              <a:t>–can </a:t>
            </a:r>
            <a:r>
              <a:rPr lang="en-US" dirty="0"/>
              <a:t>randomly flip, crop, rotate or translate images, and that is just the tip of the iceberg</a:t>
            </a:r>
          </a:p>
          <a:p>
            <a:r>
              <a:rPr lang="en-US" b="1" dirty="0"/>
              <a:t>Color space transformations</a:t>
            </a:r>
            <a:r>
              <a:rPr lang="en-US" dirty="0"/>
              <a:t> – change RGB color channels, intensify any color</a:t>
            </a:r>
          </a:p>
          <a:p>
            <a:r>
              <a:rPr lang="en-US" b="1" dirty="0"/>
              <a:t>Kernel filters</a:t>
            </a:r>
            <a:r>
              <a:rPr lang="en-US" dirty="0"/>
              <a:t> – sharpen or blur an image </a:t>
            </a:r>
          </a:p>
          <a:p>
            <a:r>
              <a:rPr lang="en-US" b="1" dirty="0"/>
              <a:t>Random Erasing</a:t>
            </a:r>
            <a:r>
              <a:rPr lang="en-US" dirty="0"/>
              <a:t> – delete a part of the initial image</a:t>
            </a:r>
          </a:p>
          <a:p>
            <a:r>
              <a:rPr lang="en-US" b="1" dirty="0"/>
              <a:t>Mixing images</a:t>
            </a:r>
            <a:r>
              <a:rPr lang="en-US" dirty="0"/>
              <a:t> – basically, mix images with one another. </a:t>
            </a:r>
          </a:p>
          <a:p>
            <a:pPr>
              <a:buNone/>
            </a:pPr>
            <a:r>
              <a:rPr lang="en-US" b="1" dirty="0">
                <a:solidFill>
                  <a:srgbClr val="0000FF"/>
                </a:solidFill>
              </a:rPr>
              <a:t>For text </a:t>
            </a:r>
            <a:r>
              <a:rPr lang="en-US" dirty="0"/>
              <a:t>there are:</a:t>
            </a:r>
          </a:p>
          <a:p>
            <a:r>
              <a:rPr lang="en-US" b="1" dirty="0"/>
              <a:t>Word/sentence shuffling</a:t>
            </a:r>
            <a:endParaRPr lang="en-US" dirty="0"/>
          </a:p>
          <a:p>
            <a:r>
              <a:rPr lang="en-US" b="1" dirty="0"/>
              <a:t>Word replacement</a:t>
            </a:r>
            <a:r>
              <a:rPr lang="en-US" dirty="0"/>
              <a:t> – replace words with synonyms</a:t>
            </a:r>
          </a:p>
          <a:p>
            <a:r>
              <a:rPr lang="en-US" b="1" dirty="0"/>
              <a:t>Syntax-tree manipulation</a:t>
            </a:r>
            <a:r>
              <a:rPr lang="en-US" dirty="0"/>
              <a:t> – paraphrase the sentence to be grammatically correct using the same </a:t>
            </a:r>
            <a:r>
              <a:rPr lang="en-US" dirty="0" smtClean="0"/>
              <a:t>words</a:t>
            </a:r>
          </a:p>
          <a:p>
            <a:r>
              <a:rPr lang="en-US" dirty="0" smtClean="0"/>
              <a:t>And many more. Refer NLP</a:t>
            </a:r>
            <a:endParaRPr lang="en-US" dirty="0"/>
          </a:p>
          <a:p>
            <a:pPr>
              <a:buNone/>
            </a:pPr>
            <a:r>
              <a:rPr lang="en-US" b="1" dirty="0" smtClean="0">
                <a:solidFill>
                  <a:srgbClr val="0000FF"/>
                </a:solidFill>
              </a:rPr>
              <a:t>For </a:t>
            </a:r>
            <a:r>
              <a:rPr lang="en-US" b="1" dirty="0">
                <a:solidFill>
                  <a:srgbClr val="0000FF"/>
                </a:solidFill>
              </a:rPr>
              <a:t>audio </a:t>
            </a:r>
            <a:r>
              <a:rPr lang="en-US" dirty="0"/>
              <a:t>augmentation, </a:t>
            </a:r>
            <a:r>
              <a:rPr lang="en-US" dirty="0" smtClean="0"/>
              <a:t>can </a:t>
            </a:r>
            <a:r>
              <a:rPr lang="en-US" dirty="0"/>
              <a:t>use:</a:t>
            </a:r>
          </a:p>
          <a:p>
            <a:r>
              <a:rPr lang="en-US" b="1" dirty="0"/>
              <a:t>Noise injection</a:t>
            </a:r>
            <a:endParaRPr lang="en-US" dirty="0"/>
          </a:p>
          <a:p>
            <a:r>
              <a:rPr lang="en-US" b="1" dirty="0"/>
              <a:t>Shifting</a:t>
            </a:r>
            <a:endParaRPr lang="en-US" dirty="0"/>
          </a:p>
          <a:p>
            <a:r>
              <a:rPr lang="en-US" b="1" dirty="0"/>
              <a:t>Changing the speed of the tape</a:t>
            </a:r>
            <a:endParaRPr lang="en-US" dirty="0"/>
          </a:p>
          <a:p>
            <a:r>
              <a:rPr lang="en-US" dirty="0"/>
              <a:t>And many more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507288" cy="432048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 Program 1: Traditional Image Augmentation (Without </a:t>
            </a:r>
            <a:r>
              <a:rPr lang="en-US" sz="2000" b="1" dirty="0" err="1" smtClean="0"/>
              <a:t>ImageDataGenerator</a:t>
            </a:r>
            <a:r>
              <a:rPr lang="en-US" sz="2000" b="1" dirty="0" smtClean="0"/>
              <a:t>)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784976" cy="6120680"/>
          </a:xfrm>
        </p:spPr>
        <p:txBody>
          <a:bodyPr numCol="2">
            <a:noAutofit/>
          </a:bodyPr>
          <a:lstStyle/>
          <a:p>
            <a:pPr>
              <a:buNone/>
            </a:pPr>
            <a:r>
              <a:rPr lang="en-US" sz="1300" b="1" dirty="0" smtClean="0"/>
              <a:t>import cv2 </a:t>
            </a:r>
            <a:r>
              <a:rPr lang="en-US" sz="1300" b="1" dirty="0" smtClean="0">
                <a:solidFill>
                  <a:srgbClr val="C00000"/>
                </a:solidFill>
              </a:rPr>
              <a:t># </a:t>
            </a:r>
            <a:r>
              <a:rPr lang="en-US" sz="1300" b="1" dirty="0" err="1" smtClean="0">
                <a:solidFill>
                  <a:srgbClr val="C00000"/>
                </a:solidFill>
              </a:rPr>
              <a:t>openCV</a:t>
            </a:r>
            <a:r>
              <a:rPr lang="en-US" sz="1300" b="1" dirty="0" smtClean="0">
                <a:solidFill>
                  <a:srgbClr val="C00000"/>
                </a:solidFill>
              </a:rPr>
              <a:t> lib for image processing</a:t>
            </a:r>
            <a:endParaRPr lang="en-US" sz="13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1300" b="1" dirty="0" smtClean="0"/>
              <a:t>import </a:t>
            </a:r>
            <a:r>
              <a:rPr lang="en-US" sz="1300" b="1" dirty="0" err="1" smtClean="0"/>
              <a:t>numpy</a:t>
            </a:r>
            <a:r>
              <a:rPr lang="en-US" sz="1300" b="1" dirty="0" smtClean="0"/>
              <a:t> as </a:t>
            </a:r>
            <a:r>
              <a:rPr lang="en-US" sz="1300" b="1" dirty="0" err="1" smtClean="0"/>
              <a:t>np</a:t>
            </a:r>
            <a:endParaRPr lang="en-US" sz="1300" b="1" dirty="0" smtClean="0"/>
          </a:p>
          <a:p>
            <a:pPr>
              <a:buNone/>
            </a:pPr>
            <a:r>
              <a:rPr lang="en-US" sz="1300" b="1" dirty="0" smtClean="0"/>
              <a:t>import </a:t>
            </a:r>
            <a:r>
              <a:rPr lang="en-US" sz="1300" b="1" dirty="0" err="1" smtClean="0"/>
              <a:t>matplotlib.pyplot</a:t>
            </a:r>
            <a:r>
              <a:rPr lang="en-US" sz="1300" b="1" dirty="0" smtClean="0"/>
              <a:t> as </a:t>
            </a:r>
            <a:r>
              <a:rPr lang="en-US" sz="1300" b="1" dirty="0" err="1" smtClean="0"/>
              <a:t>plt</a:t>
            </a:r>
            <a:endParaRPr lang="en-US" sz="1300" b="1" dirty="0" smtClean="0"/>
          </a:p>
          <a:p>
            <a:pPr>
              <a:buNone/>
            </a:pPr>
            <a:r>
              <a:rPr lang="en-US" sz="1300" b="1" dirty="0" smtClean="0">
                <a:solidFill>
                  <a:srgbClr val="0000FF"/>
                </a:solidFill>
              </a:rPr>
              <a:t># </a:t>
            </a:r>
            <a:r>
              <a:rPr lang="en-US" sz="1300" b="1" dirty="0" smtClean="0">
                <a:solidFill>
                  <a:srgbClr val="0000FF"/>
                </a:solidFill>
              </a:rPr>
              <a:t>Load and resize image</a:t>
            </a:r>
          </a:p>
          <a:p>
            <a:pPr>
              <a:buNone/>
            </a:pPr>
            <a:r>
              <a:rPr lang="en-US" sz="1300" b="1" dirty="0" err="1" smtClean="0"/>
              <a:t>img_path</a:t>
            </a:r>
            <a:r>
              <a:rPr lang="en-US" sz="1300" b="1" dirty="0" smtClean="0"/>
              <a:t> = 'sample.jpg'  # Replace with your image file path</a:t>
            </a:r>
          </a:p>
          <a:p>
            <a:pPr>
              <a:buNone/>
            </a:pPr>
            <a:r>
              <a:rPr lang="en-US" sz="1300" b="1" dirty="0" smtClean="0"/>
              <a:t>original = cv2.imread(</a:t>
            </a:r>
            <a:r>
              <a:rPr lang="en-US" sz="1300" b="1" dirty="0" err="1" smtClean="0"/>
              <a:t>img_path</a:t>
            </a:r>
            <a:r>
              <a:rPr lang="en-US" sz="1300" b="1" dirty="0" smtClean="0"/>
              <a:t>)</a:t>
            </a:r>
          </a:p>
          <a:p>
            <a:pPr>
              <a:buNone/>
            </a:pPr>
            <a:r>
              <a:rPr lang="en-US" sz="1300" b="1" dirty="0" smtClean="0"/>
              <a:t>original = cv2.cvtColor(original, cv2.COLOR_BGR2RGB)</a:t>
            </a:r>
          </a:p>
          <a:p>
            <a:pPr>
              <a:buNone/>
            </a:pPr>
            <a:r>
              <a:rPr lang="en-US" sz="1300" b="1" dirty="0" smtClean="0"/>
              <a:t>image = cv2.resize(original, (224, 224))</a:t>
            </a:r>
          </a:p>
          <a:p>
            <a:pPr>
              <a:buNone/>
            </a:pPr>
            <a:r>
              <a:rPr lang="en-US" sz="1300" b="1" dirty="0" smtClean="0">
                <a:solidFill>
                  <a:srgbClr val="0000FF"/>
                </a:solidFill>
              </a:rPr>
              <a:t># </a:t>
            </a:r>
            <a:r>
              <a:rPr lang="en-US" sz="1300" b="1" dirty="0" smtClean="0">
                <a:solidFill>
                  <a:srgbClr val="0000FF"/>
                </a:solidFill>
              </a:rPr>
              <a:t>Show Original Image</a:t>
            </a:r>
          </a:p>
          <a:p>
            <a:pPr>
              <a:buNone/>
            </a:pPr>
            <a:r>
              <a:rPr lang="en-US" sz="1300" b="1" dirty="0" err="1" smtClean="0"/>
              <a:t>plt.figure</a:t>
            </a:r>
            <a:r>
              <a:rPr lang="en-US" sz="1300" b="1" dirty="0" smtClean="0"/>
              <a:t>(</a:t>
            </a:r>
            <a:r>
              <a:rPr lang="en-US" sz="1300" b="1" dirty="0" err="1" smtClean="0"/>
              <a:t>figsize</a:t>
            </a:r>
            <a:r>
              <a:rPr lang="en-US" sz="1300" b="1" dirty="0" smtClean="0"/>
              <a:t>=(5, 5))</a:t>
            </a:r>
          </a:p>
          <a:p>
            <a:pPr>
              <a:buNone/>
            </a:pPr>
            <a:r>
              <a:rPr lang="en-US" sz="1300" b="1" dirty="0" err="1" smtClean="0"/>
              <a:t>plt.imshow</a:t>
            </a:r>
            <a:r>
              <a:rPr lang="en-US" sz="1300" b="1" dirty="0" smtClean="0"/>
              <a:t>(image)</a:t>
            </a:r>
          </a:p>
          <a:p>
            <a:pPr>
              <a:buNone/>
            </a:pPr>
            <a:r>
              <a:rPr lang="en-US" sz="1300" b="1" dirty="0" err="1" smtClean="0"/>
              <a:t>plt.title</a:t>
            </a:r>
            <a:r>
              <a:rPr lang="en-US" sz="1300" b="1" dirty="0" smtClean="0"/>
              <a:t>("Original Image")</a:t>
            </a:r>
          </a:p>
          <a:p>
            <a:pPr>
              <a:buNone/>
            </a:pPr>
            <a:r>
              <a:rPr lang="en-US" sz="1300" b="1" dirty="0" err="1" smtClean="0"/>
              <a:t>plt.axis</a:t>
            </a:r>
            <a:r>
              <a:rPr lang="en-US" sz="1300" b="1" dirty="0" smtClean="0"/>
              <a:t>("off")</a:t>
            </a:r>
          </a:p>
          <a:p>
            <a:pPr>
              <a:buNone/>
            </a:pPr>
            <a:r>
              <a:rPr lang="en-US" sz="1300" b="1" dirty="0" err="1" smtClean="0"/>
              <a:t>plt.show</a:t>
            </a:r>
            <a:r>
              <a:rPr lang="en-US" sz="1300" b="1" dirty="0" smtClean="0"/>
              <a:t>()</a:t>
            </a:r>
          </a:p>
          <a:p>
            <a:pPr>
              <a:buNone/>
            </a:pPr>
            <a:r>
              <a:rPr lang="en-US" sz="1300" b="1" dirty="0" smtClean="0">
                <a:solidFill>
                  <a:srgbClr val="0000FF"/>
                </a:solidFill>
              </a:rPr>
              <a:t># </a:t>
            </a:r>
            <a:r>
              <a:rPr lang="en-US" sz="1300" b="1" dirty="0" smtClean="0">
                <a:solidFill>
                  <a:srgbClr val="0000FF"/>
                </a:solidFill>
              </a:rPr>
              <a:t>Define Traditional Augmentations</a:t>
            </a:r>
          </a:p>
          <a:p>
            <a:pPr>
              <a:buNone/>
            </a:pPr>
            <a:r>
              <a:rPr lang="en-US" sz="1300" b="1" dirty="0" smtClean="0"/>
              <a:t>def </a:t>
            </a:r>
            <a:r>
              <a:rPr lang="en-US" sz="1300" b="1" dirty="0" err="1" smtClean="0"/>
              <a:t>traditional_augmentations</a:t>
            </a:r>
            <a:r>
              <a:rPr lang="en-US" sz="1300" b="1" dirty="0" smtClean="0"/>
              <a:t>(image):</a:t>
            </a:r>
          </a:p>
          <a:p>
            <a:pPr>
              <a:buNone/>
            </a:pPr>
            <a:r>
              <a:rPr lang="en-US" sz="1300" b="1" dirty="0" smtClean="0"/>
              <a:t>    flipped = cv2.flip(image, 1)</a:t>
            </a:r>
          </a:p>
          <a:p>
            <a:pPr>
              <a:buNone/>
            </a:pPr>
            <a:r>
              <a:rPr lang="en-US" sz="1300" b="1" dirty="0" smtClean="0"/>
              <a:t>    </a:t>
            </a:r>
            <a:r>
              <a:rPr lang="en-US" sz="1300" b="1" dirty="0" smtClean="0"/>
              <a:t>M = cv2.getRotationMatrix2D((112, 112), angle=30, scale=1.0)</a:t>
            </a:r>
          </a:p>
          <a:p>
            <a:pPr>
              <a:buNone/>
            </a:pPr>
            <a:r>
              <a:rPr lang="en-US" sz="1300" b="1" dirty="0" smtClean="0"/>
              <a:t>    rotated = cv2.warpAffine(image, M, (224, 224))</a:t>
            </a:r>
          </a:p>
          <a:p>
            <a:pPr>
              <a:buNone/>
            </a:pPr>
            <a:r>
              <a:rPr lang="en-US" sz="1300" b="1" dirty="0" smtClean="0"/>
              <a:t>    </a:t>
            </a:r>
            <a:r>
              <a:rPr lang="en-US" sz="1300" b="1" dirty="0" smtClean="0"/>
              <a:t>bright = cv2.convertScaleAbs(image, alpha=1.2, beta=30)</a:t>
            </a:r>
          </a:p>
          <a:p>
            <a:pPr>
              <a:buNone/>
            </a:pPr>
            <a:r>
              <a:rPr lang="en-US" sz="1300" b="1" dirty="0" smtClean="0"/>
              <a:t>    </a:t>
            </a:r>
            <a:r>
              <a:rPr lang="en-US" sz="1300" b="1" dirty="0" smtClean="0"/>
              <a:t>cropped = image[30:194, 30:194</a:t>
            </a:r>
            <a:r>
              <a:rPr lang="en-US" sz="1300" b="1" dirty="0" smtClean="0"/>
              <a:t>]</a:t>
            </a:r>
            <a:r>
              <a:rPr lang="en-US" sz="1300" b="1" dirty="0" smtClean="0">
                <a:solidFill>
                  <a:srgbClr val="C00000"/>
                </a:solidFill>
              </a:rPr>
              <a:t>    #(164,164)</a:t>
            </a:r>
            <a:endParaRPr lang="en-US" sz="13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1300" b="1" dirty="0" smtClean="0"/>
              <a:t>    zoomed = cv2.resize(cropped, (224, 224))</a:t>
            </a:r>
          </a:p>
          <a:p>
            <a:pPr>
              <a:buNone/>
            </a:pPr>
            <a:r>
              <a:rPr lang="en-US" sz="1300" b="1" dirty="0" smtClean="0"/>
              <a:t>    </a:t>
            </a:r>
            <a:r>
              <a:rPr lang="en-US" sz="1300" b="1" dirty="0" smtClean="0"/>
              <a:t>return [flipped, rotated, bright, zoomed]</a:t>
            </a:r>
          </a:p>
          <a:p>
            <a:pPr>
              <a:buNone/>
            </a:pPr>
            <a:r>
              <a:rPr lang="en-US" sz="1300" b="1" dirty="0" smtClean="0">
                <a:solidFill>
                  <a:srgbClr val="0000FF"/>
                </a:solidFill>
              </a:rPr>
              <a:t># </a:t>
            </a:r>
            <a:r>
              <a:rPr lang="en-US" sz="1300" b="1" dirty="0" smtClean="0">
                <a:solidFill>
                  <a:srgbClr val="0000FF"/>
                </a:solidFill>
              </a:rPr>
              <a:t>Apply Augmentations</a:t>
            </a:r>
          </a:p>
          <a:p>
            <a:pPr>
              <a:buNone/>
            </a:pPr>
            <a:r>
              <a:rPr lang="en-US" sz="1300" b="1" dirty="0" err="1" smtClean="0"/>
              <a:t>augmented_images</a:t>
            </a:r>
            <a:r>
              <a:rPr lang="en-US" sz="1300" b="1" dirty="0" smtClean="0"/>
              <a:t> = </a:t>
            </a:r>
            <a:r>
              <a:rPr lang="en-US" sz="1300" b="1" dirty="0" err="1" smtClean="0"/>
              <a:t>traditional_augmentations</a:t>
            </a:r>
            <a:r>
              <a:rPr lang="en-US" sz="1300" b="1" dirty="0" smtClean="0"/>
              <a:t>(image)</a:t>
            </a:r>
          </a:p>
          <a:p>
            <a:pPr>
              <a:buNone/>
            </a:pPr>
            <a:r>
              <a:rPr lang="en-US" sz="1300" b="1" dirty="0" smtClean="0"/>
              <a:t>titles = ["Flipped", "Rotated", "Brighter", "Zoomed"]</a:t>
            </a:r>
          </a:p>
          <a:p>
            <a:pPr>
              <a:buNone/>
            </a:pPr>
            <a:r>
              <a:rPr lang="en-US" sz="1300" b="1" dirty="0" smtClean="0">
                <a:solidFill>
                  <a:srgbClr val="0000FF"/>
                </a:solidFill>
              </a:rPr>
              <a:t># </a:t>
            </a:r>
            <a:r>
              <a:rPr lang="en-US" sz="1300" b="1" dirty="0" smtClean="0">
                <a:solidFill>
                  <a:srgbClr val="0000FF"/>
                </a:solidFill>
              </a:rPr>
              <a:t>Display Augmented Images</a:t>
            </a:r>
          </a:p>
          <a:p>
            <a:pPr>
              <a:buNone/>
            </a:pPr>
            <a:r>
              <a:rPr lang="en-US" sz="1300" b="1" dirty="0" err="1" smtClean="0"/>
              <a:t>plt.figure</a:t>
            </a:r>
            <a:r>
              <a:rPr lang="en-US" sz="1300" b="1" dirty="0" smtClean="0"/>
              <a:t>(</a:t>
            </a:r>
            <a:r>
              <a:rPr lang="en-US" sz="1300" b="1" dirty="0" err="1" smtClean="0"/>
              <a:t>figsize</a:t>
            </a:r>
            <a:r>
              <a:rPr lang="en-US" sz="1300" b="1" dirty="0" smtClean="0"/>
              <a:t>=(15, 4))</a:t>
            </a:r>
          </a:p>
          <a:p>
            <a:pPr>
              <a:buNone/>
            </a:pPr>
            <a:r>
              <a:rPr lang="en-US" sz="1300" b="1" dirty="0" smtClean="0"/>
              <a:t>for </a:t>
            </a:r>
            <a:r>
              <a:rPr lang="en-US" sz="1300" b="1" dirty="0" err="1" smtClean="0"/>
              <a:t>i</a:t>
            </a:r>
            <a:r>
              <a:rPr lang="en-US" sz="1300" b="1" dirty="0" smtClean="0"/>
              <a:t>, </a:t>
            </a:r>
            <a:r>
              <a:rPr lang="en-US" sz="1300" b="1" dirty="0" err="1" smtClean="0"/>
              <a:t>aug_img</a:t>
            </a:r>
            <a:r>
              <a:rPr lang="en-US" sz="1300" b="1" dirty="0" smtClean="0"/>
              <a:t> in enumerate(</a:t>
            </a:r>
            <a:r>
              <a:rPr lang="en-US" sz="1300" b="1" dirty="0" err="1" smtClean="0"/>
              <a:t>augmented_images</a:t>
            </a:r>
            <a:r>
              <a:rPr lang="en-US" sz="1300" b="1" dirty="0" smtClean="0"/>
              <a:t>):</a:t>
            </a:r>
          </a:p>
          <a:p>
            <a:pPr>
              <a:buNone/>
            </a:pPr>
            <a:r>
              <a:rPr lang="en-US" sz="1300" b="1" dirty="0" smtClean="0"/>
              <a:t>    </a:t>
            </a:r>
            <a:r>
              <a:rPr lang="en-US" sz="1300" b="1" dirty="0" err="1" smtClean="0"/>
              <a:t>plt.subplot</a:t>
            </a:r>
            <a:r>
              <a:rPr lang="en-US" sz="1300" b="1" dirty="0" smtClean="0"/>
              <a:t>(1, 4, </a:t>
            </a:r>
            <a:r>
              <a:rPr lang="en-US" sz="1300" b="1" dirty="0" err="1" smtClean="0"/>
              <a:t>i</a:t>
            </a:r>
            <a:r>
              <a:rPr lang="en-US" sz="1300" b="1" dirty="0" smtClean="0"/>
              <a:t> + 1)</a:t>
            </a:r>
          </a:p>
          <a:p>
            <a:pPr>
              <a:buNone/>
            </a:pPr>
            <a:r>
              <a:rPr lang="en-US" sz="1300" b="1" dirty="0" smtClean="0"/>
              <a:t>    </a:t>
            </a:r>
            <a:r>
              <a:rPr lang="en-US" sz="1300" b="1" dirty="0" err="1" smtClean="0"/>
              <a:t>plt.imshow</a:t>
            </a:r>
            <a:r>
              <a:rPr lang="en-US" sz="1300" b="1" dirty="0" smtClean="0"/>
              <a:t>(</a:t>
            </a:r>
            <a:r>
              <a:rPr lang="en-US" sz="1300" b="1" dirty="0" err="1" smtClean="0"/>
              <a:t>aug_img</a:t>
            </a:r>
            <a:r>
              <a:rPr lang="en-US" sz="1300" b="1" dirty="0" smtClean="0"/>
              <a:t>)</a:t>
            </a:r>
          </a:p>
          <a:p>
            <a:pPr>
              <a:buNone/>
            </a:pPr>
            <a:r>
              <a:rPr lang="en-US" sz="1300" b="1" dirty="0" smtClean="0"/>
              <a:t>    </a:t>
            </a:r>
            <a:r>
              <a:rPr lang="en-US" sz="1300" b="1" dirty="0" err="1" smtClean="0"/>
              <a:t>plt.title</a:t>
            </a:r>
            <a:r>
              <a:rPr lang="en-US" sz="1300" b="1" dirty="0" smtClean="0"/>
              <a:t>(titles[</a:t>
            </a:r>
            <a:r>
              <a:rPr lang="en-US" sz="1300" b="1" dirty="0" err="1" smtClean="0"/>
              <a:t>i</a:t>
            </a:r>
            <a:r>
              <a:rPr lang="en-US" sz="1300" b="1" dirty="0" smtClean="0"/>
              <a:t>])</a:t>
            </a:r>
          </a:p>
          <a:p>
            <a:pPr>
              <a:buNone/>
            </a:pPr>
            <a:r>
              <a:rPr lang="en-US" sz="1300" b="1" dirty="0" smtClean="0"/>
              <a:t>    </a:t>
            </a:r>
            <a:r>
              <a:rPr lang="en-US" sz="1300" b="1" dirty="0" err="1" smtClean="0"/>
              <a:t>plt.axis</a:t>
            </a:r>
            <a:r>
              <a:rPr lang="en-US" sz="1300" b="1" dirty="0" smtClean="0"/>
              <a:t>("off")</a:t>
            </a:r>
          </a:p>
          <a:p>
            <a:pPr>
              <a:buNone/>
            </a:pPr>
            <a:r>
              <a:rPr lang="en-US" sz="1300" b="1" dirty="0" err="1" smtClean="0"/>
              <a:t>plt.tight_layout</a:t>
            </a:r>
            <a:r>
              <a:rPr lang="en-US" sz="1300" b="1" dirty="0" smtClean="0"/>
              <a:t>()</a:t>
            </a:r>
          </a:p>
          <a:p>
            <a:pPr>
              <a:buNone/>
            </a:pPr>
            <a:r>
              <a:rPr lang="en-US" sz="1300" b="1" dirty="0" err="1" smtClean="0"/>
              <a:t>plt.show</a:t>
            </a:r>
            <a:r>
              <a:rPr lang="en-US" sz="1300" b="1" dirty="0" smtClean="0"/>
              <a:t>()</a:t>
            </a:r>
            <a:endParaRPr lang="en-US" sz="13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88640"/>
            <a:ext cx="8784976" cy="6480720"/>
          </a:xfrm>
        </p:spPr>
        <p:txBody>
          <a:bodyPr numCol="2">
            <a:normAutofit fontScale="32500" lnSpcReduction="20000"/>
          </a:bodyPr>
          <a:lstStyle/>
          <a:p>
            <a:r>
              <a:rPr lang="en-US" dirty="0" smtClean="0"/>
              <a:t>cv2: </a:t>
            </a:r>
            <a:r>
              <a:rPr lang="en-US" dirty="0" err="1" smtClean="0"/>
              <a:t>OpenCV</a:t>
            </a:r>
            <a:r>
              <a:rPr lang="en-US" dirty="0" smtClean="0"/>
              <a:t> library used for image processing.</a:t>
            </a:r>
          </a:p>
          <a:p>
            <a:r>
              <a:rPr lang="en-US" dirty="0" err="1" smtClean="0"/>
              <a:t>numpy</a:t>
            </a:r>
            <a:r>
              <a:rPr lang="en-US" dirty="0" smtClean="0"/>
              <a:t>: Used for array manipulation (not directly used here, but often helpful).</a:t>
            </a:r>
          </a:p>
          <a:p>
            <a:r>
              <a:rPr lang="en-US" dirty="0" err="1" smtClean="0"/>
              <a:t>matplotlib.pyplot</a:t>
            </a:r>
            <a:r>
              <a:rPr lang="en-US" dirty="0" smtClean="0"/>
              <a:t>: Used to display the images visually.</a:t>
            </a:r>
          </a:p>
          <a:p>
            <a:pPr>
              <a:buNone/>
            </a:pPr>
            <a:r>
              <a:rPr lang="en-US" b="1" dirty="0" smtClean="0"/>
              <a:t>2</a:t>
            </a:r>
            <a:r>
              <a:rPr lang="en-US" b="1" dirty="0" smtClean="0"/>
              <a:t>. Load and Resize the Image</a:t>
            </a:r>
          </a:p>
          <a:p>
            <a:pPr>
              <a:buNone/>
            </a:pPr>
            <a:r>
              <a:rPr lang="en-US" dirty="0" smtClean="0"/>
              <a:t>cv2.imread</a:t>
            </a:r>
            <a:r>
              <a:rPr lang="en-US" dirty="0" smtClean="0"/>
              <a:t>() loads the image.</a:t>
            </a:r>
          </a:p>
          <a:p>
            <a:pPr>
              <a:buNone/>
            </a:pPr>
            <a:r>
              <a:rPr lang="en-US" dirty="0" err="1" smtClean="0"/>
              <a:t>OpenCV</a:t>
            </a:r>
            <a:r>
              <a:rPr lang="en-US" dirty="0" smtClean="0"/>
              <a:t> loads in </a:t>
            </a:r>
            <a:r>
              <a:rPr lang="en-US" b="1" dirty="0" smtClean="0"/>
              <a:t>BGR</a:t>
            </a:r>
            <a:r>
              <a:rPr lang="en-US" dirty="0" smtClean="0"/>
              <a:t> color space, but </a:t>
            </a:r>
            <a:r>
              <a:rPr lang="en-US" dirty="0" err="1" smtClean="0"/>
              <a:t>matplotlib</a:t>
            </a:r>
            <a:r>
              <a:rPr lang="en-US" dirty="0" smtClean="0"/>
              <a:t> expects </a:t>
            </a:r>
            <a:r>
              <a:rPr lang="en-US" b="1" dirty="0" smtClean="0"/>
              <a:t>RGB</a:t>
            </a:r>
            <a:r>
              <a:rPr lang="en-US" dirty="0" smtClean="0"/>
              <a:t>, so color conversion is done.</a:t>
            </a:r>
          </a:p>
          <a:p>
            <a:pPr>
              <a:buNone/>
            </a:pPr>
            <a:r>
              <a:rPr lang="en-US" dirty="0" smtClean="0"/>
              <a:t>The image is resized to </a:t>
            </a:r>
            <a:r>
              <a:rPr lang="en-US" b="1" dirty="0" smtClean="0"/>
              <a:t>224×224</a:t>
            </a:r>
            <a:r>
              <a:rPr lang="en-US" dirty="0" smtClean="0"/>
              <a:t>, a common input size for deep learning models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Displays the original image.</a:t>
            </a:r>
          </a:p>
          <a:p>
            <a:r>
              <a:rPr lang="en-US" dirty="0" err="1" smtClean="0"/>
              <a:t>plt.axis</a:t>
            </a:r>
            <a:r>
              <a:rPr lang="en-US" dirty="0" smtClean="0"/>
              <a:t>("off") hides the axis ticks and labels for a cleaner view.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Define Traditional Augmentations</a:t>
            </a:r>
          </a:p>
          <a:p>
            <a:pPr>
              <a:buNone/>
            </a:pPr>
            <a:r>
              <a:rPr lang="en-US" dirty="0" smtClean="0"/>
              <a:t>def </a:t>
            </a:r>
            <a:r>
              <a:rPr lang="en-US" dirty="0" err="1" smtClean="0"/>
              <a:t>traditional_augmentations</a:t>
            </a:r>
            <a:r>
              <a:rPr lang="en-US" dirty="0" smtClean="0"/>
              <a:t>(image): flipped = cv2.flip(image, 1) </a:t>
            </a:r>
          </a:p>
          <a:p>
            <a:pPr>
              <a:buNone/>
            </a:pPr>
            <a:r>
              <a:rPr lang="en-US" b="1" dirty="0" smtClean="0"/>
              <a:t>Horizontal Flip</a:t>
            </a:r>
            <a:r>
              <a:rPr lang="en-US" dirty="0" smtClean="0"/>
              <a:t>: cv2.flip(image, 1) flips the image left-to-right.</a:t>
            </a:r>
          </a:p>
          <a:p>
            <a:pPr>
              <a:buNone/>
            </a:pPr>
            <a:r>
              <a:rPr lang="en-US" dirty="0" smtClean="0"/>
              <a:t>M </a:t>
            </a:r>
            <a:r>
              <a:rPr lang="en-US" dirty="0" smtClean="0"/>
              <a:t>= cv2.getRotationMatrix2D((112, 112), angle=30, scale=1.0) rotated = cv2.warpAffine(image, M, (224, 224)) </a:t>
            </a:r>
          </a:p>
          <a:p>
            <a:pPr>
              <a:buNone/>
            </a:pPr>
            <a:r>
              <a:rPr lang="en-US" b="1" dirty="0" smtClean="0"/>
              <a:t>Rotation</a:t>
            </a:r>
            <a:r>
              <a:rPr lang="en-US" dirty="0" smtClean="0"/>
              <a:t>: Rotates the image by 30 degrees around the center (112,112</a:t>
            </a:r>
            <a:r>
              <a:rPr lang="en-US" dirty="0" smtClean="0"/>
              <a:t>).</a:t>
            </a:r>
          </a:p>
          <a:p>
            <a:r>
              <a:rPr lang="en-US" dirty="0" smtClean="0"/>
              <a:t>scale = 1.0: Keep the </a:t>
            </a:r>
            <a:r>
              <a:rPr lang="en-US" b="1" dirty="0" smtClean="0"/>
              <a:t>original size</a:t>
            </a:r>
            <a:r>
              <a:rPr lang="en-US" dirty="0" smtClean="0"/>
              <a:t> — no zoom in/out.</a:t>
            </a:r>
          </a:p>
          <a:p>
            <a:r>
              <a:rPr lang="en-US" dirty="0" smtClean="0"/>
              <a:t>scale &gt; 1.0: </a:t>
            </a:r>
            <a:r>
              <a:rPr lang="en-US" b="1" dirty="0" smtClean="0"/>
              <a:t>Zoom out</a:t>
            </a:r>
            <a:r>
              <a:rPr lang="en-US" dirty="0" smtClean="0"/>
              <a:t> (image appears smaller).</a:t>
            </a:r>
          </a:p>
          <a:p>
            <a:r>
              <a:rPr lang="en-US" dirty="0" smtClean="0"/>
              <a:t>scale &lt; 1.0: </a:t>
            </a:r>
            <a:r>
              <a:rPr lang="en-US" b="1" dirty="0" smtClean="0"/>
              <a:t>Zoom in</a:t>
            </a:r>
            <a:r>
              <a:rPr lang="en-US" dirty="0" smtClean="0"/>
              <a:t> (image appears larger and cropped).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cv2.getRotationMatrix2D() creates the transformation matrix.</a:t>
            </a:r>
          </a:p>
          <a:p>
            <a:pPr>
              <a:buNone/>
            </a:pPr>
            <a:r>
              <a:rPr lang="en-US" dirty="0" smtClean="0"/>
              <a:t>cv2.warpAffine() applies the transformation</a:t>
            </a:r>
            <a:r>
              <a:rPr lang="en-US" dirty="0" smtClean="0"/>
              <a:t>. </a:t>
            </a:r>
            <a:r>
              <a:rPr lang="en-US" dirty="0" smtClean="0"/>
              <a:t># </a:t>
            </a:r>
            <a:r>
              <a:rPr lang="en-US" dirty="0" smtClean="0"/>
              <a:t>is </a:t>
            </a:r>
            <a:r>
              <a:rPr lang="en-US" dirty="0" smtClean="0"/>
              <a:t>used to </a:t>
            </a:r>
            <a:r>
              <a:rPr lang="en-US" b="1" dirty="0" smtClean="0"/>
              <a:t>apply affine transformations</a:t>
            </a:r>
            <a:r>
              <a:rPr lang="en-US" dirty="0" smtClean="0"/>
              <a:t> (like rotation, translation, scaling, shearing) to an image.</a:t>
            </a:r>
          </a:p>
          <a:p>
            <a:pPr>
              <a:buNone/>
            </a:pPr>
            <a:r>
              <a:rPr lang="en-US" dirty="0" smtClean="0"/>
              <a:t>bright </a:t>
            </a:r>
            <a:r>
              <a:rPr lang="en-US" dirty="0" smtClean="0"/>
              <a:t>= cv2.convertScaleAbs(image, alpha=1.2, beta=30) </a:t>
            </a:r>
          </a:p>
          <a:p>
            <a:pPr>
              <a:buNone/>
            </a:pPr>
            <a:r>
              <a:rPr lang="en-US" b="1" dirty="0" smtClean="0"/>
              <a:t>Brightness Adjustment</a:t>
            </a:r>
            <a:r>
              <a:rPr lang="en-US" dirty="0" smtClean="0"/>
              <a:t>:</a:t>
            </a:r>
          </a:p>
          <a:p>
            <a:pPr lvl="1" indent="-742950">
              <a:buNone/>
            </a:pPr>
            <a:r>
              <a:rPr lang="en-US" sz="3000" dirty="0" smtClean="0"/>
              <a:t>alpha=1.2: Contrast (1.0 means no change, &gt;1 increases).</a:t>
            </a:r>
          </a:p>
          <a:p>
            <a:pPr lvl="1" indent="-742950">
              <a:buNone/>
            </a:pPr>
            <a:r>
              <a:rPr lang="en-US" sz="3000" dirty="0" smtClean="0"/>
              <a:t>beta=30: Brightness offset.</a:t>
            </a:r>
          </a:p>
          <a:p>
            <a:pPr lvl="1" indent="-742950">
              <a:buNone/>
            </a:pPr>
            <a:r>
              <a:rPr lang="en-US" sz="3000" dirty="0" smtClean="0"/>
              <a:t>cv2.convertScaleAbs() performs the transformation with </a:t>
            </a:r>
            <a:r>
              <a:rPr lang="en-US" sz="3000" dirty="0" smtClean="0"/>
              <a:t>clipping(</a:t>
            </a:r>
            <a:r>
              <a:rPr lang="en-US" sz="1200" b="1" dirty="0" err="1" smtClean="0"/>
              <a:t>c</a:t>
            </a:r>
            <a:r>
              <a:rPr lang="en-US" sz="3000" b="1" dirty="0" err="1" smtClean="0"/>
              <a:t>clips</a:t>
            </a:r>
            <a:r>
              <a:rPr lang="en-US" sz="3000" dirty="0" smtClean="0"/>
              <a:t> </a:t>
            </a:r>
            <a:r>
              <a:rPr lang="en-US" sz="3000" dirty="0" smtClean="0"/>
              <a:t>the value to stay in the valid range of [0, 255] for </a:t>
            </a:r>
            <a:r>
              <a:rPr lang="en-US" sz="3000" dirty="0" smtClean="0"/>
              <a:t>uint8) and </a:t>
            </a:r>
            <a:r>
              <a:rPr lang="en-US" sz="3000" dirty="0" smtClean="0"/>
              <a:t>conversion to uint8.</a:t>
            </a:r>
          </a:p>
          <a:p>
            <a:pPr>
              <a:buNone/>
            </a:pPr>
            <a:r>
              <a:rPr lang="en-US" dirty="0" smtClean="0"/>
              <a:t>cropped </a:t>
            </a:r>
            <a:r>
              <a:rPr lang="en-US" dirty="0" smtClean="0"/>
              <a:t>= image[30:194, 30:194]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zoomed </a:t>
            </a:r>
            <a:r>
              <a:rPr lang="en-US" dirty="0" smtClean="0"/>
              <a:t>= cv2.resize(cropped, (224, 224)) </a:t>
            </a:r>
            <a:endParaRPr lang="en-US" dirty="0" smtClean="0"/>
          </a:p>
          <a:p>
            <a:r>
              <a:rPr lang="en-US" dirty="0" smtClean="0"/>
              <a:t>cv2.convertScaleAbs() includes:</a:t>
            </a:r>
          </a:p>
          <a:p>
            <a:r>
              <a:rPr lang="en-US" b="1" dirty="0" smtClean="0"/>
              <a:t>Scaling</a:t>
            </a:r>
            <a:endParaRPr lang="en-US" dirty="0" smtClean="0"/>
          </a:p>
          <a:p>
            <a:r>
              <a:rPr lang="en-US" b="1" dirty="0" smtClean="0"/>
              <a:t>Offset</a:t>
            </a:r>
            <a:endParaRPr lang="en-US" dirty="0" smtClean="0"/>
          </a:p>
          <a:p>
            <a:r>
              <a:rPr lang="en-US" b="1" dirty="0" smtClean="0"/>
              <a:t>Clipping</a:t>
            </a:r>
            <a:r>
              <a:rPr lang="en-US" dirty="0" smtClean="0"/>
              <a:t> to [0, 255]</a:t>
            </a:r>
          </a:p>
          <a:p>
            <a:r>
              <a:rPr lang="en-US" b="1" dirty="0" smtClean="0"/>
              <a:t>Conversion to uint8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Zoom (crop + resize)</a:t>
            </a:r>
            <a:r>
              <a:rPr lang="en-US" dirty="0" smtClean="0"/>
              <a:t>:</a:t>
            </a:r>
          </a:p>
          <a:p>
            <a:r>
              <a:rPr lang="en-US" dirty="0" smtClean="0"/>
              <a:t>Crops the central part of the image ([30:194, 30:194] = 164x164). image[</a:t>
            </a:r>
            <a:r>
              <a:rPr lang="en-US" dirty="0" err="1" smtClean="0"/>
              <a:t>start_row:end_row</a:t>
            </a:r>
            <a:r>
              <a:rPr lang="en-US" dirty="0" smtClean="0"/>
              <a:t>, </a:t>
            </a:r>
            <a:r>
              <a:rPr lang="en-US" dirty="0" err="1" smtClean="0"/>
              <a:t>start_col:end_col</a:t>
            </a:r>
            <a:r>
              <a:rPr lang="en-US" dirty="0" smtClean="0"/>
              <a:t>] </a:t>
            </a:r>
            <a:r>
              <a:rPr lang="en-US" dirty="0" smtClean="0"/>
              <a:t>take </a:t>
            </a:r>
            <a:r>
              <a:rPr lang="en-US" b="1" dirty="0" smtClean="0"/>
              <a:t>rows</a:t>
            </a:r>
            <a:r>
              <a:rPr lang="en-US" dirty="0" smtClean="0"/>
              <a:t> from index 30 to 193 (194 is excluded)</a:t>
            </a:r>
          </a:p>
          <a:p>
            <a:r>
              <a:rPr lang="en-US" dirty="0" smtClean="0"/>
              <a:t>Take </a:t>
            </a:r>
            <a:r>
              <a:rPr lang="en-US" b="1" dirty="0" smtClean="0"/>
              <a:t>columns</a:t>
            </a:r>
            <a:r>
              <a:rPr lang="en-US" dirty="0" smtClean="0"/>
              <a:t> from index 30 to 193. 194 - 30 = 164</a:t>
            </a:r>
          </a:p>
          <a:p>
            <a:r>
              <a:rPr lang="en-US" dirty="0" smtClean="0"/>
              <a:t>So, you're cropping a </a:t>
            </a:r>
            <a:r>
              <a:rPr lang="en-US" b="1" dirty="0" smtClean="0"/>
              <a:t>square patch</a:t>
            </a:r>
            <a:r>
              <a:rPr lang="en-US" dirty="0" smtClean="0"/>
              <a:t> of size </a:t>
            </a:r>
            <a:r>
              <a:rPr lang="en-US" b="1" dirty="0" smtClean="0"/>
              <a:t>164×164 pixels</a:t>
            </a:r>
            <a:r>
              <a:rPr lang="en-US" dirty="0" smtClean="0"/>
              <a:t> from the image.</a:t>
            </a:r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Then resizes back to 224x224 to simulate zooming.</a:t>
            </a:r>
          </a:p>
          <a:p>
            <a:pPr>
              <a:buNone/>
            </a:pPr>
            <a:r>
              <a:rPr lang="en-US" dirty="0" smtClean="0"/>
              <a:t>return </a:t>
            </a:r>
            <a:r>
              <a:rPr lang="en-US" dirty="0" smtClean="0"/>
              <a:t>[flipped, rotated, bright, zoomed] </a:t>
            </a:r>
          </a:p>
          <a:p>
            <a:pPr>
              <a:buNone/>
            </a:pPr>
            <a:r>
              <a:rPr lang="en-US" dirty="0" smtClean="0"/>
              <a:t>Returns a list of all four augmented versions.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Displays all four augmented images side-by-side using subplots:</a:t>
            </a:r>
          </a:p>
          <a:p>
            <a:r>
              <a:rPr lang="en-US" b="1" dirty="0" smtClean="0"/>
              <a:t>Flipped</a:t>
            </a:r>
            <a:r>
              <a:rPr lang="en-US" dirty="0" smtClean="0"/>
              <a:t>, </a:t>
            </a:r>
            <a:r>
              <a:rPr lang="en-US" b="1" dirty="0" smtClean="0"/>
              <a:t>Rotated</a:t>
            </a:r>
            <a:r>
              <a:rPr lang="en-US" dirty="0" smtClean="0"/>
              <a:t>, </a:t>
            </a:r>
            <a:r>
              <a:rPr lang="en-US" b="1" dirty="0" smtClean="0"/>
              <a:t>Brighter</a:t>
            </a:r>
            <a:r>
              <a:rPr lang="en-US" dirty="0" smtClean="0"/>
              <a:t>, </a:t>
            </a:r>
            <a:r>
              <a:rPr lang="en-US" b="1" dirty="0" smtClean="0"/>
              <a:t>Zoomed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plt.tight_layout</a:t>
            </a:r>
            <a:r>
              <a:rPr lang="en-US" dirty="0" smtClean="0"/>
              <a:t>() adjusts spacing to avoid overlap.</a:t>
            </a:r>
          </a:p>
          <a:p>
            <a:r>
              <a:rPr lang="en-US" dirty="0" err="1" smtClean="0"/>
              <a:t>plt.show</a:t>
            </a:r>
            <a:r>
              <a:rPr lang="en-US" dirty="0" smtClean="0"/>
              <a:t>() displays the complete figure.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/>
              <a:t>| Augmentation </a:t>
            </a:r>
            <a:r>
              <a:rPr lang="en-US" dirty="0" smtClean="0"/>
              <a:t>		| </a:t>
            </a:r>
            <a:r>
              <a:rPr lang="en-US" dirty="0" smtClean="0"/>
              <a:t>Description    </a:t>
            </a:r>
            <a:r>
              <a:rPr lang="en-US" dirty="0" smtClean="0"/>
              <a:t>                    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</a:t>
            </a:r>
            <a:r>
              <a:rPr lang="en-US" dirty="0" smtClean="0"/>
              <a:t>------------------- </a:t>
            </a:r>
            <a:r>
              <a:rPr lang="en-US" dirty="0" smtClean="0"/>
              <a:t>| </a:t>
            </a:r>
            <a:r>
              <a:rPr lang="en-US" dirty="0" smtClean="0"/>
              <a:t>---------------------------------------------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**Flipped**   </a:t>
            </a:r>
            <a:r>
              <a:rPr lang="en-US" dirty="0" smtClean="0"/>
              <a:t>   | </a:t>
            </a:r>
            <a:r>
              <a:rPr lang="en-US" dirty="0" smtClean="0"/>
              <a:t>Mirror image (left-right).               </a:t>
            </a:r>
            <a:r>
              <a:rPr lang="en-US" dirty="0" smtClean="0"/>
              <a:t>     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**Rotated**  </a:t>
            </a:r>
            <a:r>
              <a:rPr lang="en-US" dirty="0" smtClean="0"/>
              <a:t>   | </a:t>
            </a:r>
            <a:r>
              <a:rPr lang="en-US" dirty="0" smtClean="0"/>
              <a:t>Rotated by 30 degrees.                        </a:t>
            </a:r>
            <a:r>
              <a:rPr lang="en-US" dirty="0" smtClean="0"/>
              <a:t> 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**Brighter** </a:t>
            </a:r>
            <a:r>
              <a:rPr lang="en-US" dirty="0" smtClean="0"/>
              <a:t>   | </a:t>
            </a:r>
            <a:r>
              <a:rPr lang="en-US" dirty="0" smtClean="0"/>
              <a:t>Increased brightness and contrast.  </a:t>
            </a:r>
            <a:r>
              <a:rPr lang="en-US" dirty="0" smtClean="0"/>
              <a:t>     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**Zoomed**   | Cropped center and resized back </a:t>
            </a:r>
            <a:r>
              <a:rPr lang="en-US" dirty="0" smtClean="0"/>
              <a:t>    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                                                       (simulates </a:t>
            </a:r>
            <a:r>
              <a:rPr lang="en-US" dirty="0" smtClean="0"/>
              <a:t>zoom-in). |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922114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Program 2: Augmentation Using </a:t>
            </a:r>
            <a:r>
              <a:rPr lang="en-US" sz="2800" b="1" dirty="0" err="1" smtClean="0"/>
              <a:t>ImageDataGenerator</a:t>
            </a:r>
            <a:r>
              <a:rPr lang="en-US" sz="2800" b="1" dirty="0" smtClean="0"/>
              <a:t> from </a:t>
            </a:r>
            <a:r>
              <a:rPr lang="en-US" sz="2800" b="1" dirty="0" err="1" smtClean="0"/>
              <a:t>Keras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5400600"/>
          </a:xfrm>
        </p:spPr>
        <p:txBody>
          <a:bodyPr numCol="2">
            <a:normAutofit/>
          </a:bodyPr>
          <a:lstStyle/>
          <a:p>
            <a:pPr>
              <a:buNone/>
            </a:pPr>
            <a:r>
              <a:rPr lang="en-US" sz="1100" b="1" dirty="0" smtClean="0"/>
              <a:t>import </a:t>
            </a:r>
            <a:r>
              <a:rPr lang="en-US" sz="1100" b="1" dirty="0" err="1" smtClean="0"/>
              <a:t>numpy</a:t>
            </a:r>
            <a:r>
              <a:rPr lang="en-US" sz="1100" b="1" dirty="0" smtClean="0"/>
              <a:t> as </a:t>
            </a:r>
            <a:r>
              <a:rPr lang="en-US" sz="1100" b="1" dirty="0" err="1" smtClean="0"/>
              <a:t>np</a:t>
            </a:r>
            <a:endParaRPr lang="en-US" sz="1100" b="1" dirty="0" smtClean="0"/>
          </a:p>
          <a:p>
            <a:pPr>
              <a:buNone/>
            </a:pPr>
            <a:r>
              <a:rPr lang="en-US" sz="1100" b="1" dirty="0" smtClean="0"/>
              <a:t>import </a:t>
            </a:r>
            <a:r>
              <a:rPr lang="en-US" sz="1100" b="1" dirty="0" err="1" smtClean="0"/>
              <a:t>matplotlib.pyplot</a:t>
            </a:r>
            <a:r>
              <a:rPr lang="en-US" sz="1100" b="1" dirty="0" smtClean="0"/>
              <a:t> as </a:t>
            </a:r>
            <a:r>
              <a:rPr lang="en-US" sz="1100" b="1" dirty="0" err="1" smtClean="0"/>
              <a:t>plt</a:t>
            </a:r>
            <a:endParaRPr lang="en-US" sz="1100" b="1" dirty="0" smtClean="0"/>
          </a:p>
          <a:p>
            <a:pPr>
              <a:buNone/>
            </a:pPr>
            <a:r>
              <a:rPr lang="en-US" sz="1100" b="1" dirty="0" smtClean="0"/>
              <a:t>from </a:t>
            </a:r>
            <a:r>
              <a:rPr lang="en-US" sz="1100" b="1" dirty="0" err="1" smtClean="0"/>
              <a:t>tensorflow.keras.preprocessing.image</a:t>
            </a:r>
            <a:r>
              <a:rPr lang="en-US" sz="1100" b="1" dirty="0" smtClean="0"/>
              <a:t> import </a:t>
            </a:r>
            <a:r>
              <a:rPr lang="en-US" sz="1100" b="1" dirty="0" err="1" smtClean="0"/>
              <a:t>ImageDataGenerator</a:t>
            </a:r>
            <a:r>
              <a:rPr lang="en-US" sz="1100" b="1" dirty="0" smtClean="0"/>
              <a:t>, </a:t>
            </a:r>
            <a:r>
              <a:rPr lang="en-US" sz="1100" b="1" dirty="0" err="1" smtClean="0"/>
              <a:t>img_to_array</a:t>
            </a:r>
            <a:r>
              <a:rPr lang="en-US" sz="1100" b="1" dirty="0" smtClean="0"/>
              <a:t>, </a:t>
            </a:r>
            <a:r>
              <a:rPr lang="en-US" sz="1100" b="1" dirty="0" err="1" smtClean="0"/>
              <a:t>load_img</a:t>
            </a:r>
            <a:endParaRPr lang="en-US" sz="1100" b="1" dirty="0" smtClean="0"/>
          </a:p>
          <a:p>
            <a:pPr>
              <a:buNone/>
            </a:pPr>
            <a:r>
              <a:rPr lang="en-US" sz="1100" b="1" dirty="0" smtClean="0">
                <a:solidFill>
                  <a:srgbClr val="0000FF"/>
                </a:solidFill>
              </a:rPr>
              <a:t># </a:t>
            </a:r>
            <a:r>
              <a:rPr lang="en-US" sz="1100" b="1" dirty="0" smtClean="0">
                <a:solidFill>
                  <a:srgbClr val="0000FF"/>
                </a:solidFill>
              </a:rPr>
              <a:t>Load and Resize Image</a:t>
            </a:r>
          </a:p>
          <a:p>
            <a:pPr>
              <a:buNone/>
            </a:pPr>
            <a:r>
              <a:rPr lang="en-US" sz="1100" b="1" dirty="0" err="1" smtClean="0"/>
              <a:t>img_path</a:t>
            </a:r>
            <a:r>
              <a:rPr lang="en-US" sz="1100" b="1" dirty="0" smtClean="0"/>
              <a:t> = 'sample.jpg'  # Replace with your image </a:t>
            </a:r>
            <a:r>
              <a:rPr lang="en-US" sz="1100" b="1" dirty="0" err="1" smtClean="0"/>
              <a:t>pathaug_i</a:t>
            </a:r>
            <a:endParaRPr lang="en-US" sz="1100" b="1" dirty="0" smtClean="0"/>
          </a:p>
          <a:p>
            <a:pPr>
              <a:buNone/>
            </a:pPr>
            <a:r>
              <a:rPr lang="en-US" sz="1100" b="1" dirty="0" smtClean="0"/>
              <a:t>image = </a:t>
            </a:r>
            <a:r>
              <a:rPr lang="en-US" sz="1100" b="1" dirty="0" err="1" smtClean="0"/>
              <a:t>load_img</a:t>
            </a:r>
            <a:r>
              <a:rPr lang="en-US" sz="1100" b="1" dirty="0" smtClean="0"/>
              <a:t>(</a:t>
            </a:r>
            <a:r>
              <a:rPr lang="en-US" sz="1100" b="1" dirty="0" err="1" smtClean="0"/>
              <a:t>img_path</a:t>
            </a:r>
            <a:r>
              <a:rPr lang="en-US" sz="1100" b="1" dirty="0" smtClean="0"/>
              <a:t>, </a:t>
            </a:r>
            <a:r>
              <a:rPr lang="en-US" sz="1100" b="1" dirty="0" err="1" smtClean="0"/>
              <a:t>target_size</a:t>
            </a:r>
            <a:r>
              <a:rPr lang="en-US" sz="1100" b="1" dirty="0" smtClean="0"/>
              <a:t>=(224, 224))</a:t>
            </a:r>
          </a:p>
          <a:p>
            <a:pPr>
              <a:buNone/>
            </a:pPr>
            <a:r>
              <a:rPr lang="en-US" sz="1100" b="1" dirty="0" err="1" smtClean="0"/>
              <a:t>image_array</a:t>
            </a:r>
            <a:r>
              <a:rPr lang="en-US" sz="1100" b="1" dirty="0" smtClean="0"/>
              <a:t> = </a:t>
            </a:r>
            <a:r>
              <a:rPr lang="en-US" sz="1100" b="1" dirty="0" err="1" smtClean="0"/>
              <a:t>img_to_array</a:t>
            </a:r>
            <a:r>
              <a:rPr lang="en-US" sz="1100" b="1" dirty="0" smtClean="0"/>
              <a:t>(image)</a:t>
            </a:r>
          </a:p>
          <a:p>
            <a:pPr>
              <a:buNone/>
            </a:pPr>
            <a:r>
              <a:rPr lang="en-US" sz="1100" b="1" dirty="0" err="1" smtClean="0"/>
              <a:t>image_array</a:t>
            </a:r>
            <a:r>
              <a:rPr lang="en-US" sz="1100" b="1" dirty="0" smtClean="0"/>
              <a:t> = </a:t>
            </a:r>
            <a:r>
              <a:rPr lang="en-US" sz="1100" b="1" dirty="0" err="1" smtClean="0"/>
              <a:t>np.expand_dims</a:t>
            </a:r>
            <a:r>
              <a:rPr lang="en-US" sz="1100" b="1" dirty="0" smtClean="0"/>
              <a:t>(</a:t>
            </a:r>
            <a:r>
              <a:rPr lang="en-US" sz="1100" b="1" dirty="0" err="1" smtClean="0"/>
              <a:t>image_array</a:t>
            </a:r>
            <a:r>
              <a:rPr lang="en-US" sz="1100" b="1" dirty="0" smtClean="0"/>
              <a:t>, axis=0)</a:t>
            </a:r>
          </a:p>
          <a:p>
            <a:pPr>
              <a:buNone/>
            </a:pPr>
            <a:endParaRPr lang="en-US" sz="1100" b="1" dirty="0" smtClean="0"/>
          </a:p>
          <a:p>
            <a:pPr>
              <a:buNone/>
            </a:pPr>
            <a:r>
              <a:rPr lang="en-US" sz="1100" b="1" dirty="0" smtClean="0">
                <a:solidFill>
                  <a:srgbClr val="0000FF"/>
                </a:solidFill>
              </a:rPr>
              <a:t># Show Original Image</a:t>
            </a:r>
          </a:p>
          <a:p>
            <a:pPr>
              <a:buNone/>
            </a:pPr>
            <a:r>
              <a:rPr lang="en-US" sz="1100" b="1" dirty="0" err="1" smtClean="0"/>
              <a:t>plt.figure</a:t>
            </a:r>
            <a:r>
              <a:rPr lang="en-US" sz="1100" b="1" dirty="0" smtClean="0"/>
              <a:t>(</a:t>
            </a:r>
            <a:r>
              <a:rPr lang="en-US" sz="1100" b="1" dirty="0" err="1" smtClean="0"/>
              <a:t>figsize</a:t>
            </a:r>
            <a:r>
              <a:rPr lang="en-US" sz="1100" b="1" dirty="0" smtClean="0"/>
              <a:t>=(5, 5))</a:t>
            </a:r>
          </a:p>
          <a:p>
            <a:pPr>
              <a:buNone/>
            </a:pPr>
            <a:r>
              <a:rPr lang="en-US" sz="1100" b="1" dirty="0" err="1" smtClean="0"/>
              <a:t>plt.imshow</a:t>
            </a:r>
            <a:r>
              <a:rPr lang="en-US" sz="1100" b="1" dirty="0" smtClean="0"/>
              <a:t>(</a:t>
            </a:r>
            <a:r>
              <a:rPr lang="en-US" sz="1100" b="1" dirty="0" err="1" smtClean="0"/>
              <a:t>image.astype</a:t>
            </a:r>
            <a:r>
              <a:rPr lang="en-US" sz="1100" b="1" dirty="0" smtClean="0"/>
              <a:t>("uint8"))</a:t>
            </a:r>
          </a:p>
          <a:p>
            <a:pPr>
              <a:buNone/>
            </a:pPr>
            <a:r>
              <a:rPr lang="en-US" sz="1100" b="1" dirty="0" err="1" smtClean="0"/>
              <a:t>plt.title</a:t>
            </a:r>
            <a:r>
              <a:rPr lang="en-US" sz="1100" b="1" dirty="0" smtClean="0"/>
              <a:t>("Original Image")</a:t>
            </a:r>
          </a:p>
          <a:p>
            <a:pPr>
              <a:buNone/>
            </a:pPr>
            <a:r>
              <a:rPr lang="en-US" sz="1100" b="1" dirty="0" err="1" smtClean="0"/>
              <a:t>plt.axis</a:t>
            </a:r>
            <a:r>
              <a:rPr lang="en-US" sz="1100" b="1" dirty="0" smtClean="0"/>
              <a:t>("off")</a:t>
            </a:r>
          </a:p>
          <a:p>
            <a:pPr>
              <a:buNone/>
            </a:pPr>
            <a:r>
              <a:rPr lang="en-US" sz="1100" b="1" dirty="0" err="1" smtClean="0"/>
              <a:t>plt.show</a:t>
            </a:r>
            <a:r>
              <a:rPr lang="en-US" sz="1100" b="1" dirty="0" smtClean="0"/>
              <a:t>()</a:t>
            </a:r>
          </a:p>
          <a:p>
            <a:pPr>
              <a:buNone/>
            </a:pPr>
            <a:endParaRPr lang="en-US" sz="1100" b="1" dirty="0" smtClean="0"/>
          </a:p>
          <a:p>
            <a:pPr>
              <a:buNone/>
            </a:pPr>
            <a:r>
              <a:rPr lang="en-US" sz="1100" b="1" dirty="0" smtClean="0">
                <a:solidFill>
                  <a:srgbClr val="0000FF"/>
                </a:solidFill>
              </a:rPr>
              <a:t># Define </a:t>
            </a:r>
            <a:r>
              <a:rPr lang="en-US" sz="1100" b="1" dirty="0" err="1" smtClean="0">
                <a:solidFill>
                  <a:srgbClr val="0000FF"/>
                </a:solidFill>
              </a:rPr>
              <a:t>ImageDataGenerator</a:t>
            </a:r>
            <a:r>
              <a:rPr lang="en-US" sz="1100" b="1" dirty="0" smtClean="0">
                <a:solidFill>
                  <a:srgbClr val="0000FF"/>
                </a:solidFill>
              </a:rPr>
              <a:t> with augmentations</a:t>
            </a:r>
          </a:p>
          <a:p>
            <a:pPr>
              <a:buNone/>
            </a:pPr>
            <a:r>
              <a:rPr lang="en-US" sz="1100" b="1" dirty="0" err="1" smtClean="0"/>
              <a:t>datagen</a:t>
            </a:r>
            <a:r>
              <a:rPr lang="en-US" sz="1100" b="1" dirty="0" smtClean="0"/>
              <a:t> = </a:t>
            </a:r>
            <a:r>
              <a:rPr lang="en-US" sz="1100" b="1" dirty="0" err="1" smtClean="0"/>
              <a:t>ImageDataGenerator</a:t>
            </a:r>
            <a:r>
              <a:rPr lang="en-US" sz="1100" b="1" dirty="0" smtClean="0"/>
              <a:t>(</a:t>
            </a:r>
          </a:p>
          <a:p>
            <a:pPr>
              <a:buNone/>
            </a:pPr>
            <a:r>
              <a:rPr lang="en-US" sz="1100" b="1" dirty="0" smtClean="0"/>
              <a:t>    </a:t>
            </a:r>
            <a:r>
              <a:rPr lang="en-US" sz="1100" b="1" dirty="0" err="1" smtClean="0"/>
              <a:t>rotation_range</a:t>
            </a:r>
            <a:r>
              <a:rPr lang="en-US" sz="1100" b="1" dirty="0" smtClean="0"/>
              <a:t>=40,</a:t>
            </a:r>
          </a:p>
          <a:p>
            <a:pPr>
              <a:buNone/>
            </a:pPr>
            <a:r>
              <a:rPr lang="en-US" sz="1100" b="1" dirty="0" smtClean="0"/>
              <a:t>    </a:t>
            </a:r>
            <a:r>
              <a:rPr lang="en-US" sz="1100" b="1" dirty="0" err="1" smtClean="0"/>
              <a:t>zoom_range</a:t>
            </a:r>
            <a:r>
              <a:rPr lang="en-US" sz="1100" b="1" dirty="0" smtClean="0"/>
              <a:t>=0.2,</a:t>
            </a:r>
          </a:p>
          <a:p>
            <a:pPr>
              <a:buNone/>
            </a:pPr>
            <a:r>
              <a:rPr lang="en-US" sz="1100" b="1" dirty="0" smtClean="0"/>
              <a:t>    </a:t>
            </a:r>
            <a:r>
              <a:rPr lang="en-US" sz="1100" b="1" dirty="0" err="1" smtClean="0"/>
              <a:t>brightness_range</a:t>
            </a:r>
            <a:r>
              <a:rPr lang="en-US" sz="1100" b="1" dirty="0" smtClean="0"/>
              <a:t>=[0.5, 1.5],</a:t>
            </a:r>
          </a:p>
          <a:p>
            <a:pPr>
              <a:buNone/>
            </a:pPr>
            <a:r>
              <a:rPr lang="en-US" sz="1100" b="1" dirty="0" smtClean="0"/>
              <a:t>    </a:t>
            </a:r>
            <a:r>
              <a:rPr lang="en-US" sz="1100" b="1" dirty="0" err="1" smtClean="0"/>
              <a:t>shear_range</a:t>
            </a:r>
            <a:r>
              <a:rPr lang="en-US" sz="1100" b="1" dirty="0" smtClean="0"/>
              <a:t>=0.2,</a:t>
            </a:r>
          </a:p>
          <a:p>
            <a:pPr>
              <a:buNone/>
            </a:pPr>
            <a:r>
              <a:rPr lang="en-US" sz="1100" b="1" dirty="0" smtClean="0"/>
              <a:t>    </a:t>
            </a:r>
            <a:r>
              <a:rPr lang="en-US" sz="1100" b="1" dirty="0" err="1" smtClean="0"/>
              <a:t>horizontal_flip</a:t>
            </a:r>
            <a:r>
              <a:rPr lang="en-US" sz="1100" b="1" dirty="0" smtClean="0"/>
              <a:t>=True,</a:t>
            </a:r>
          </a:p>
          <a:p>
            <a:pPr>
              <a:buNone/>
            </a:pPr>
            <a:r>
              <a:rPr lang="en-US" sz="1100" b="1" dirty="0" smtClean="0"/>
              <a:t>    </a:t>
            </a:r>
            <a:r>
              <a:rPr lang="en-US" sz="1100" b="1" dirty="0" err="1" smtClean="0"/>
              <a:t>fill_mode</a:t>
            </a:r>
            <a:r>
              <a:rPr lang="en-US" sz="1100" b="1" dirty="0" smtClean="0"/>
              <a:t>='nearest'</a:t>
            </a:r>
          </a:p>
          <a:p>
            <a:pPr>
              <a:buNone/>
            </a:pPr>
            <a:r>
              <a:rPr lang="en-US" sz="1100" b="1" dirty="0" smtClean="0"/>
              <a:t>)</a:t>
            </a:r>
          </a:p>
          <a:p>
            <a:pPr>
              <a:buNone/>
            </a:pPr>
            <a:r>
              <a:rPr lang="en-US" sz="1100" b="1" dirty="0" smtClean="0">
                <a:solidFill>
                  <a:srgbClr val="0000FF"/>
                </a:solidFill>
              </a:rPr>
              <a:t># Generate Augmented Images</a:t>
            </a:r>
          </a:p>
          <a:p>
            <a:pPr>
              <a:buNone/>
            </a:pPr>
            <a:r>
              <a:rPr lang="en-US" sz="1100" b="1" dirty="0" err="1" smtClean="0"/>
              <a:t>ter</a:t>
            </a:r>
            <a:r>
              <a:rPr lang="en-US" sz="1100" b="1" dirty="0" smtClean="0"/>
              <a:t> </a:t>
            </a:r>
            <a:r>
              <a:rPr lang="en-US" sz="1100" b="1" dirty="0" smtClean="0"/>
              <a:t>= </a:t>
            </a:r>
            <a:r>
              <a:rPr lang="en-US" sz="1100" b="1" dirty="0" err="1" smtClean="0"/>
              <a:t>datagen.flow</a:t>
            </a:r>
            <a:r>
              <a:rPr lang="en-US" sz="1100" b="1" dirty="0" smtClean="0"/>
              <a:t>(</a:t>
            </a:r>
            <a:r>
              <a:rPr lang="en-US" sz="1100" b="1" dirty="0" err="1" smtClean="0"/>
              <a:t>image_array</a:t>
            </a:r>
            <a:r>
              <a:rPr lang="en-US" sz="1100" b="1" dirty="0" smtClean="0"/>
              <a:t>, </a:t>
            </a:r>
            <a:r>
              <a:rPr lang="en-US" sz="1100" b="1" dirty="0" err="1" smtClean="0"/>
              <a:t>batch_size</a:t>
            </a:r>
            <a:r>
              <a:rPr lang="en-US" sz="1100" b="1" dirty="0" smtClean="0"/>
              <a:t>=1)</a:t>
            </a:r>
          </a:p>
          <a:p>
            <a:pPr>
              <a:buNone/>
            </a:pPr>
            <a:r>
              <a:rPr lang="en-US" sz="1100" b="1" dirty="0" err="1" smtClean="0"/>
              <a:t>augmented_images</a:t>
            </a:r>
            <a:r>
              <a:rPr lang="en-US" sz="1100" b="1" dirty="0" smtClean="0"/>
              <a:t> = [next(</a:t>
            </a:r>
            <a:r>
              <a:rPr lang="en-US" sz="1100" b="1" dirty="0" err="1" smtClean="0"/>
              <a:t>aug_iter</a:t>
            </a:r>
            <a:r>
              <a:rPr lang="en-US" sz="1100" b="1" dirty="0" smtClean="0"/>
              <a:t>)[0].</a:t>
            </a:r>
            <a:r>
              <a:rPr lang="en-US" sz="1100" b="1" dirty="0" err="1" smtClean="0"/>
              <a:t>astype</a:t>
            </a:r>
            <a:r>
              <a:rPr lang="en-US" sz="1100" b="1" dirty="0" smtClean="0"/>
              <a:t>('uint8') for _ in range(4)]</a:t>
            </a:r>
          </a:p>
          <a:p>
            <a:pPr>
              <a:buNone/>
            </a:pPr>
            <a:endParaRPr lang="en-US" sz="1100" b="1" dirty="0" smtClean="0"/>
          </a:p>
          <a:p>
            <a:pPr>
              <a:buNone/>
            </a:pPr>
            <a:r>
              <a:rPr lang="en-US" sz="1100" b="1" dirty="0" smtClean="0">
                <a:solidFill>
                  <a:srgbClr val="0000FF"/>
                </a:solidFill>
              </a:rPr>
              <a:t># Display Augmented Images</a:t>
            </a:r>
          </a:p>
          <a:p>
            <a:pPr>
              <a:buNone/>
            </a:pPr>
            <a:r>
              <a:rPr lang="en-US" sz="1100" b="1" dirty="0" err="1" smtClean="0"/>
              <a:t>plt.figure</a:t>
            </a:r>
            <a:r>
              <a:rPr lang="en-US" sz="1100" b="1" dirty="0" smtClean="0"/>
              <a:t>(</a:t>
            </a:r>
            <a:r>
              <a:rPr lang="en-US" sz="1100" b="1" dirty="0" err="1" smtClean="0"/>
              <a:t>figsize</a:t>
            </a:r>
            <a:r>
              <a:rPr lang="en-US" sz="1100" b="1" dirty="0" smtClean="0"/>
              <a:t>=(15, 4))</a:t>
            </a:r>
          </a:p>
          <a:p>
            <a:pPr>
              <a:buNone/>
            </a:pPr>
            <a:r>
              <a:rPr lang="en-US" sz="1100" b="1" dirty="0" smtClean="0"/>
              <a:t>for </a:t>
            </a:r>
            <a:r>
              <a:rPr lang="en-US" sz="1100" b="1" dirty="0" err="1" smtClean="0"/>
              <a:t>i</a:t>
            </a:r>
            <a:r>
              <a:rPr lang="en-US" sz="1100" b="1" dirty="0" smtClean="0"/>
              <a:t>, </a:t>
            </a:r>
            <a:r>
              <a:rPr lang="en-US" sz="1100" b="1" dirty="0" err="1" smtClean="0"/>
              <a:t>aug_img</a:t>
            </a:r>
            <a:r>
              <a:rPr lang="en-US" sz="1100" b="1" dirty="0" smtClean="0"/>
              <a:t> in enumerate(</a:t>
            </a:r>
            <a:r>
              <a:rPr lang="en-US" sz="1100" b="1" dirty="0" err="1" smtClean="0"/>
              <a:t>augmented_images</a:t>
            </a:r>
            <a:r>
              <a:rPr lang="en-US" sz="1100" b="1" dirty="0" smtClean="0"/>
              <a:t>):</a:t>
            </a:r>
          </a:p>
          <a:p>
            <a:pPr>
              <a:buNone/>
            </a:pPr>
            <a:r>
              <a:rPr lang="en-US" sz="1100" b="1" dirty="0" smtClean="0"/>
              <a:t>    </a:t>
            </a:r>
            <a:r>
              <a:rPr lang="en-US" sz="1100" b="1" dirty="0" err="1" smtClean="0"/>
              <a:t>plt.subplot</a:t>
            </a:r>
            <a:r>
              <a:rPr lang="en-US" sz="1100" b="1" dirty="0" smtClean="0"/>
              <a:t>(1, 4, </a:t>
            </a:r>
            <a:r>
              <a:rPr lang="en-US" sz="1100" b="1" dirty="0" err="1" smtClean="0"/>
              <a:t>i</a:t>
            </a:r>
            <a:r>
              <a:rPr lang="en-US" sz="1100" b="1" dirty="0" smtClean="0"/>
              <a:t> + 1)</a:t>
            </a:r>
          </a:p>
          <a:p>
            <a:pPr>
              <a:buNone/>
            </a:pPr>
            <a:r>
              <a:rPr lang="en-US" sz="1100" b="1" dirty="0" smtClean="0"/>
              <a:t>    </a:t>
            </a:r>
            <a:r>
              <a:rPr lang="en-US" sz="1100" b="1" dirty="0" err="1" smtClean="0"/>
              <a:t>plt.imshow</a:t>
            </a:r>
            <a:r>
              <a:rPr lang="en-US" sz="1100" b="1" dirty="0" smtClean="0"/>
              <a:t>(</a:t>
            </a:r>
            <a:r>
              <a:rPr lang="en-US" sz="1100" b="1" dirty="0" err="1" smtClean="0"/>
              <a:t>aug_img</a:t>
            </a:r>
            <a:r>
              <a:rPr lang="en-US" sz="1100" b="1" dirty="0" smtClean="0"/>
              <a:t>)</a:t>
            </a:r>
          </a:p>
          <a:p>
            <a:pPr>
              <a:buNone/>
            </a:pPr>
            <a:r>
              <a:rPr lang="en-US" sz="1100" b="1" dirty="0" smtClean="0"/>
              <a:t>    </a:t>
            </a:r>
            <a:r>
              <a:rPr lang="en-US" sz="1100" b="1" dirty="0" err="1" smtClean="0"/>
              <a:t>plt.title</a:t>
            </a:r>
            <a:r>
              <a:rPr lang="en-US" sz="1100" b="1" dirty="0" smtClean="0"/>
              <a:t>(</a:t>
            </a:r>
            <a:r>
              <a:rPr lang="en-US" sz="1100" b="1" dirty="0" err="1" smtClean="0"/>
              <a:t>f"Keras</a:t>
            </a:r>
            <a:r>
              <a:rPr lang="en-US" sz="1100" b="1" dirty="0" smtClean="0"/>
              <a:t> Aug {</a:t>
            </a:r>
            <a:r>
              <a:rPr lang="en-US" sz="1100" b="1" dirty="0" err="1" smtClean="0"/>
              <a:t>i</a:t>
            </a:r>
            <a:r>
              <a:rPr lang="en-US" sz="1100" b="1" dirty="0" smtClean="0"/>
              <a:t> + 1}")</a:t>
            </a:r>
          </a:p>
          <a:p>
            <a:pPr>
              <a:buNone/>
            </a:pPr>
            <a:r>
              <a:rPr lang="en-US" sz="1100" b="1" dirty="0" smtClean="0"/>
              <a:t>    </a:t>
            </a:r>
            <a:r>
              <a:rPr lang="en-US" sz="1100" b="1" dirty="0" err="1" smtClean="0"/>
              <a:t>plt.axis</a:t>
            </a:r>
            <a:r>
              <a:rPr lang="en-US" sz="1100" b="1" dirty="0" smtClean="0"/>
              <a:t>("off")</a:t>
            </a:r>
          </a:p>
          <a:p>
            <a:pPr>
              <a:buNone/>
            </a:pPr>
            <a:r>
              <a:rPr lang="en-US" sz="1100" b="1" dirty="0" err="1" smtClean="0"/>
              <a:t>plt.tight_layout</a:t>
            </a:r>
            <a:r>
              <a:rPr lang="en-US" sz="1100" b="1" dirty="0" smtClean="0"/>
              <a:t>()</a:t>
            </a:r>
          </a:p>
          <a:p>
            <a:pPr>
              <a:buNone/>
            </a:pPr>
            <a:r>
              <a:rPr lang="en-US" sz="1100" b="1" dirty="0" err="1" smtClean="0"/>
              <a:t>plt.show</a:t>
            </a:r>
            <a:r>
              <a:rPr lang="en-US" sz="1100" b="1" dirty="0" smtClean="0"/>
              <a:t>()</a:t>
            </a:r>
            <a:endParaRPr lang="en-US" sz="11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88640"/>
            <a:ext cx="8712968" cy="6480720"/>
          </a:xfrm>
        </p:spPr>
        <p:txBody>
          <a:bodyPr>
            <a:normAutofit/>
          </a:bodyPr>
          <a:lstStyle/>
          <a:p>
            <a:r>
              <a:rPr lang="en-US" dirty="0" err="1" smtClean="0"/>
              <a:t>load_img</a:t>
            </a:r>
            <a:r>
              <a:rPr lang="en-US" dirty="0" smtClean="0"/>
              <a:t>(): Loads the image and resizes it to 224×224.</a:t>
            </a:r>
          </a:p>
          <a:p>
            <a:r>
              <a:rPr lang="en-US" dirty="0" err="1" smtClean="0"/>
              <a:t>img_to_array</a:t>
            </a:r>
            <a:r>
              <a:rPr lang="en-US" dirty="0" smtClean="0"/>
              <a:t>(): Converts the PIL image to a </a:t>
            </a:r>
            <a:r>
              <a:rPr lang="en-US" dirty="0" err="1" smtClean="0"/>
              <a:t>NumPy</a:t>
            </a:r>
            <a:r>
              <a:rPr lang="en-US" dirty="0" smtClean="0"/>
              <a:t> array</a:t>
            </a:r>
            <a:r>
              <a:rPr lang="en-US" dirty="0" smtClean="0"/>
              <a:t>.(</a:t>
            </a:r>
            <a:r>
              <a:rPr lang="en-US" b="1" dirty="0" smtClean="0"/>
              <a:t>PIL</a:t>
            </a:r>
            <a:r>
              <a:rPr lang="en-US" dirty="0" smtClean="0"/>
              <a:t> stands for </a:t>
            </a:r>
            <a:r>
              <a:rPr lang="en-US" b="1" dirty="0" smtClean="0"/>
              <a:t>Python Imaging Library</a:t>
            </a:r>
            <a:r>
              <a:rPr lang="en-US" dirty="0" smtClean="0"/>
              <a:t>)</a:t>
            </a:r>
            <a:endParaRPr lang="en-US" dirty="0" smtClean="0"/>
          </a:p>
          <a:p>
            <a:r>
              <a:rPr lang="en-US" dirty="0" err="1" smtClean="0"/>
              <a:t>np.expand_dims</a:t>
            </a:r>
            <a:r>
              <a:rPr lang="en-US" dirty="0" smtClean="0"/>
              <a:t>(...): Adds a batch dimension to make the shape (1, 224, 224, 3) — required by the generator</a:t>
            </a:r>
            <a:r>
              <a:rPr lang="en-US" dirty="0" smtClean="0"/>
              <a:t>.(batch size, height, width, channel)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8640"/>
            <a:ext cx="8784976" cy="648072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/>
              <a:t>| Parameter                    </a:t>
            </a:r>
            <a:r>
              <a:rPr lang="en-US" dirty="0" smtClean="0"/>
              <a:t>		 </a:t>
            </a:r>
            <a:r>
              <a:rPr lang="en-US" dirty="0" smtClean="0"/>
              <a:t>| Meaning                                                                </a:t>
            </a:r>
            <a:r>
              <a:rPr lang="en-US" dirty="0" smtClean="0"/>
              <a:t>		   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</a:t>
            </a:r>
            <a:r>
              <a:rPr lang="en-US" dirty="0" smtClean="0"/>
              <a:t>-----------------------------	 </a:t>
            </a:r>
            <a:r>
              <a:rPr lang="en-US" dirty="0" smtClean="0"/>
              <a:t>| </a:t>
            </a:r>
            <a:r>
              <a:rPr lang="en-US" dirty="0" smtClean="0"/>
              <a:t>---------------------------------------------------------------------------------------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`</a:t>
            </a:r>
            <a:r>
              <a:rPr lang="en-US" dirty="0" err="1" smtClean="0"/>
              <a:t>rotation_range</a:t>
            </a:r>
            <a:r>
              <a:rPr lang="en-US" dirty="0" smtClean="0"/>
              <a:t>=40`          </a:t>
            </a:r>
            <a:r>
              <a:rPr lang="en-US" dirty="0" smtClean="0"/>
              <a:t>	 </a:t>
            </a:r>
            <a:r>
              <a:rPr lang="en-US" dirty="0" smtClean="0"/>
              <a:t>| Randomly rotates the image within ±40 degrees.                        </a:t>
            </a:r>
            <a:r>
              <a:rPr lang="en-US" dirty="0" smtClean="0"/>
              <a:t>	    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`</a:t>
            </a:r>
            <a:r>
              <a:rPr lang="en-US" dirty="0" err="1" smtClean="0"/>
              <a:t>zoom_range</a:t>
            </a:r>
            <a:r>
              <a:rPr lang="en-US" dirty="0" smtClean="0"/>
              <a:t>=0.2`             </a:t>
            </a:r>
            <a:r>
              <a:rPr lang="en-US" dirty="0" smtClean="0"/>
              <a:t>	 </a:t>
            </a:r>
            <a:r>
              <a:rPr lang="en-US" dirty="0" smtClean="0"/>
              <a:t>| Randomly zooms in/out by up to 20% (i.e., zoom factor between 0.8–1.2</a:t>
            </a:r>
            <a:r>
              <a:rPr lang="en-US" dirty="0" smtClean="0"/>
              <a:t>)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`</a:t>
            </a:r>
            <a:r>
              <a:rPr lang="en-US" dirty="0" err="1" smtClean="0"/>
              <a:t>brightness_range</a:t>
            </a:r>
            <a:r>
              <a:rPr lang="en-US" dirty="0" smtClean="0"/>
              <a:t>=[0.5, 1.5]` </a:t>
            </a:r>
            <a:r>
              <a:rPr lang="en-US" dirty="0" smtClean="0"/>
              <a:t>	 | </a:t>
            </a:r>
            <a:r>
              <a:rPr lang="en-US" dirty="0" smtClean="0"/>
              <a:t>Randomly changes brightness. 0.5 = darker, 1.5 = brighter.             </a:t>
            </a:r>
            <a:r>
              <a:rPr lang="en-US" dirty="0" smtClean="0"/>
              <a:t>	    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`</a:t>
            </a:r>
            <a:r>
              <a:rPr lang="en-US" dirty="0" err="1" smtClean="0"/>
              <a:t>shear_range</a:t>
            </a:r>
            <a:r>
              <a:rPr lang="en-US" dirty="0" smtClean="0"/>
              <a:t>=0.2`            </a:t>
            </a:r>
            <a:r>
              <a:rPr lang="en-US" dirty="0" smtClean="0"/>
              <a:t>	 </a:t>
            </a:r>
            <a:r>
              <a:rPr lang="en-US" dirty="0" smtClean="0"/>
              <a:t>| Applies **shear transformation**, slanting the image by \~20%.         </a:t>
            </a:r>
            <a:r>
              <a:rPr lang="en-US" dirty="0" smtClean="0"/>
              <a:t>     </a:t>
            </a:r>
            <a:r>
              <a:rPr lang="en-US" dirty="0" smtClean="0"/>
              <a:t>|</a:t>
            </a:r>
          </a:p>
          <a:p>
            <a:pPr>
              <a:buNone/>
            </a:pPr>
            <a:r>
              <a:rPr lang="en-US" dirty="0" smtClean="0"/>
              <a:t>| `</a:t>
            </a:r>
            <a:r>
              <a:rPr lang="en-US" dirty="0" err="1" smtClean="0"/>
              <a:t>horizontal_flip</a:t>
            </a:r>
            <a:r>
              <a:rPr lang="en-US" dirty="0" smtClean="0"/>
              <a:t>=True`        </a:t>
            </a:r>
            <a:r>
              <a:rPr lang="en-US" dirty="0" smtClean="0"/>
              <a:t>	 | </a:t>
            </a:r>
            <a:r>
              <a:rPr lang="en-US" dirty="0" smtClean="0"/>
              <a:t>Randomly flips the image left-right (useful for symmetrical data).      </a:t>
            </a:r>
            <a:r>
              <a:rPr lang="en-US" dirty="0" smtClean="0"/>
              <a:t>        |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| `</a:t>
            </a:r>
            <a:r>
              <a:rPr lang="en-US" dirty="0" err="1" smtClean="0"/>
              <a:t>fill_mode</a:t>
            </a:r>
            <a:r>
              <a:rPr lang="en-US" dirty="0" smtClean="0"/>
              <a:t>='nearest'`        </a:t>
            </a:r>
            <a:r>
              <a:rPr lang="en-US" dirty="0" smtClean="0"/>
              <a:t>	 </a:t>
            </a:r>
            <a:r>
              <a:rPr lang="en-US" dirty="0" smtClean="0"/>
              <a:t>| Fills in any empty pixels after transformations using nearest pixels.  </a:t>
            </a:r>
            <a:r>
              <a:rPr lang="en-US" dirty="0" smtClean="0"/>
              <a:t>         |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aug_iter</a:t>
            </a:r>
            <a:r>
              <a:rPr lang="en-US" dirty="0" smtClean="0"/>
              <a:t> = </a:t>
            </a:r>
            <a:r>
              <a:rPr lang="en-US" dirty="0" err="1" smtClean="0"/>
              <a:t>datagen.flow</a:t>
            </a:r>
            <a:r>
              <a:rPr lang="en-US" dirty="0" smtClean="0"/>
              <a:t>(</a:t>
            </a:r>
            <a:r>
              <a:rPr lang="en-US" dirty="0" err="1" smtClean="0"/>
              <a:t>image_array</a:t>
            </a:r>
            <a:r>
              <a:rPr lang="en-US" dirty="0" smtClean="0"/>
              <a:t>, </a:t>
            </a:r>
            <a:r>
              <a:rPr lang="en-US" dirty="0" err="1" smtClean="0"/>
              <a:t>batch_size</a:t>
            </a:r>
            <a:r>
              <a:rPr lang="en-US" dirty="0" smtClean="0"/>
              <a:t>=1)</a:t>
            </a:r>
          </a:p>
          <a:p>
            <a:pPr>
              <a:buNone/>
            </a:pPr>
            <a:r>
              <a:rPr lang="en-US" dirty="0" err="1" smtClean="0"/>
              <a:t>augmented_images</a:t>
            </a:r>
            <a:r>
              <a:rPr lang="en-US" dirty="0" smtClean="0"/>
              <a:t> = [next(</a:t>
            </a:r>
            <a:r>
              <a:rPr lang="en-US" dirty="0" err="1" smtClean="0"/>
              <a:t>aug_iter</a:t>
            </a:r>
            <a:r>
              <a:rPr lang="en-US" dirty="0" smtClean="0"/>
              <a:t>)[0].</a:t>
            </a:r>
            <a:r>
              <a:rPr lang="en-US" dirty="0" err="1" smtClean="0"/>
              <a:t>astype</a:t>
            </a:r>
            <a:r>
              <a:rPr lang="en-US" dirty="0" smtClean="0"/>
              <a:t>('uint8') for _ in range(4)]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datagen.flow</a:t>
            </a:r>
            <a:r>
              <a:rPr lang="en-US" dirty="0" smtClean="0"/>
              <a:t>(...): </a:t>
            </a:r>
            <a:r>
              <a:rPr lang="en-US" dirty="0" err="1" smtClean="0"/>
              <a:t>datagen</a:t>
            </a:r>
            <a:r>
              <a:rPr lang="en-US" dirty="0" smtClean="0"/>
              <a:t>: This is an instance of </a:t>
            </a:r>
            <a:r>
              <a:rPr lang="en-US" dirty="0" err="1" smtClean="0"/>
              <a:t>ImageDataGenerator</a:t>
            </a:r>
            <a:r>
              <a:rPr lang="en-US" dirty="0" smtClean="0"/>
              <a:t>. Creates </a:t>
            </a:r>
            <a:r>
              <a:rPr lang="en-US" dirty="0" smtClean="0"/>
              <a:t>an </a:t>
            </a:r>
            <a:r>
              <a:rPr lang="en-US" dirty="0" err="1" smtClean="0"/>
              <a:t>iterator</a:t>
            </a:r>
            <a:r>
              <a:rPr lang="en-US" dirty="0" smtClean="0"/>
              <a:t> that yields augmented images.</a:t>
            </a:r>
          </a:p>
          <a:p>
            <a:pPr>
              <a:buNone/>
            </a:pPr>
            <a:r>
              <a:rPr lang="en-US" dirty="0" smtClean="0"/>
              <a:t>next(</a:t>
            </a:r>
            <a:r>
              <a:rPr lang="en-US" dirty="0" err="1" smtClean="0"/>
              <a:t>aug_iter</a:t>
            </a:r>
            <a:r>
              <a:rPr lang="en-US" dirty="0" smtClean="0"/>
              <a:t>): Retrieves the next augmented image.</a:t>
            </a:r>
          </a:p>
          <a:p>
            <a:pPr>
              <a:buNone/>
            </a:pPr>
            <a:r>
              <a:rPr lang="en-US" dirty="0" smtClean="0"/>
              <a:t>[</a:t>
            </a:r>
            <a:r>
              <a:rPr lang="en-US" dirty="0" smtClean="0"/>
              <a:t>0]: Since flow() returns batches, [0] gets the first image in the batch.</a:t>
            </a:r>
          </a:p>
          <a:p>
            <a:pPr>
              <a:buNone/>
            </a:pPr>
            <a:r>
              <a:rPr lang="en-US" dirty="0" err="1" smtClean="0"/>
              <a:t>astype</a:t>
            </a:r>
            <a:r>
              <a:rPr lang="en-US" dirty="0" smtClean="0"/>
              <a:t>('uint8'): Converts to standard image format.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Shearing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844824"/>
            <a:ext cx="284797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1067</Words>
  <Application>Microsoft Office PowerPoint</Application>
  <PresentationFormat>On-screen Show (4:3)</PresentationFormat>
  <Paragraphs>189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Data Augmentation</vt:lpstr>
      <vt:lpstr>Data Augmentation(DA) </vt:lpstr>
      <vt:lpstr>What is Overfitting? </vt:lpstr>
      <vt:lpstr>Slide 4</vt:lpstr>
      <vt:lpstr>Data augmentation techniques</vt:lpstr>
      <vt:lpstr> Program 1: Traditional Image Augmentation (Without ImageDataGenerator)</vt:lpstr>
      <vt:lpstr>Slide 7</vt:lpstr>
      <vt:lpstr>Slide 8</vt:lpstr>
      <vt:lpstr>Program 2: Augmentation Using ImageDataGenerator from Keras</vt:lpstr>
      <vt:lpstr>Slide 10</vt:lpstr>
      <vt:lpstr>Slide 11</vt:lpstr>
      <vt:lpstr>Shearing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Augmentation</dc:title>
  <dc:creator>Hema</dc:creator>
  <cp:lastModifiedBy>Hema</cp:lastModifiedBy>
  <cp:revision>21</cp:revision>
  <dcterms:created xsi:type="dcterms:W3CDTF">2025-08-03T23:41:53Z</dcterms:created>
  <dcterms:modified xsi:type="dcterms:W3CDTF">2025-08-05T01:45:37Z</dcterms:modified>
</cp:coreProperties>
</file>