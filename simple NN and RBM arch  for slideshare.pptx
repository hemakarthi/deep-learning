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56" r:id="rId2"/>
    <p:sldId id="309" r:id="rId3"/>
    <p:sldId id="310" r:id="rId4"/>
    <p:sldId id="312" r:id="rId5"/>
    <p:sldId id="316" r:id="rId6"/>
    <p:sldId id="315" r:id="rId7"/>
    <p:sldId id="320" r:id="rId8"/>
    <p:sldId id="321" r:id="rId9"/>
    <p:sldId id="322" r:id="rId10"/>
    <p:sldId id="324" r:id="rId11"/>
    <p:sldId id="376" r:id="rId12"/>
    <p:sldId id="325" r:id="rId13"/>
    <p:sldId id="326" r:id="rId14"/>
    <p:sldId id="313" r:id="rId15"/>
    <p:sldId id="353" r:id="rId16"/>
    <p:sldId id="311" r:id="rId17"/>
    <p:sldId id="314" r:id="rId18"/>
    <p:sldId id="385" r:id="rId19"/>
    <p:sldId id="357" r:id="rId20"/>
    <p:sldId id="358" r:id="rId21"/>
    <p:sldId id="359" r:id="rId22"/>
    <p:sldId id="377" r:id="rId23"/>
    <p:sldId id="379" r:id="rId24"/>
    <p:sldId id="378" r:id="rId25"/>
    <p:sldId id="360" r:id="rId26"/>
    <p:sldId id="361" r:id="rId27"/>
    <p:sldId id="362" r:id="rId28"/>
    <p:sldId id="363" r:id="rId29"/>
    <p:sldId id="375" r:id="rId30"/>
    <p:sldId id="364" r:id="rId31"/>
    <p:sldId id="380" r:id="rId32"/>
    <p:sldId id="365" r:id="rId33"/>
    <p:sldId id="366" r:id="rId34"/>
    <p:sldId id="367" r:id="rId35"/>
    <p:sldId id="368" r:id="rId36"/>
    <p:sldId id="382" r:id="rId37"/>
    <p:sldId id="381" r:id="rId38"/>
    <p:sldId id="383" r:id="rId39"/>
    <p:sldId id="369" r:id="rId40"/>
    <p:sldId id="370" r:id="rId41"/>
    <p:sldId id="371" r:id="rId42"/>
    <p:sldId id="372" r:id="rId43"/>
    <p:sldId id="373" r:id="rId44"/>
    <p:sldId id="374" r:id="rId45"/>
    <p:sldId id="386" r:id="rId46"/>
    <p:sldId id="423" r:id="rId47"/>
    <p:sldId id="424" r:id="rId48"/>
    <p:sldId id="416" r:id="rId49"/>
    <p:sldId id="417" r:id="rId50"/>
    <p:sldId id="418" r:id="rId51"/>
    <p:sldId id="420" r:id="rId52"/>
    <p:sldId id="419" r:id="rId53"/>
    <p:sldId id="421" r:id="rId54"/>
    <p:sldId id="319" r:id="rId55"/>
    <p:sldId id="492" r:id="rId56"/>
    <p:sldId id="318" r:id="rId57"/>
    <p:sldId id="493" r:id="rId58"/>
    <p:sldId id="494" r:id="rId59"/>
    <p:sldId id="352" r:id="rId60"/>
    <p:sldId id="351" r:id="rId61"/>
    <p:sldId id="348" r:id="rId62"/>
    <p:sldId id="347" r:id="rId63"/>
    <p:sldId id="349" r:id="rId64"/>
    <p:sldId id="350" r:id="rId65"/>
    <p:sldId id="327" r:id="rId66"/>
    <p:sldId id="328" r:id="rId67"/>
    <p:sldId id="329" r:id="rId68"/>
    <p:sldId id="330" r:id="rId69"/>
    <p:sldId id="346" r:id="rId70"/>
    <p:sldId id="397" r:id="rId71"/>
    <p:sldId id="398" r:id="rId72"/>
    <p:sldId id="399" r:id="rId73"/>
    <p:sldId id="396" r:id="rId74"/>
    <p:sldId id="400" r:id="rId75"/>
    <p:sldId id="401" r:id="rId76"/>
    <p:sldId id="402" r:id="rId77"/>
    <p:sldId id="403" r:id="rId78"/>
    <p:sldId id="404" r:id="rId79"/>
    <p:sldId id="393" r:id="rId80"/>
    <p:sldId id="394" r:id="rId81"/>
    <p:sldId id="395" r:id="rId82"/>
    <p:sldId id="390" r:id="rId83"/>
    <p:sldId id="391" r:id="rId84"/>
    <p:sldId id="392" r:id="rId85"/>
    <p:sldId id="389" r:id="rId86"/>
    <p:sldId id="439" r:id="rId87"/>
    <p:sldId id="440" r:id="rId88"/>
    <p:sldId id="441" r:id="rId89"/>
    <p:sldId id="442" r:id="rId90"/>
    <p:sldId id="443" r:id="rId91"/>
    <p:sldId id="444" r:id="rId92"/>
    <p:sldId id="445" r:id="rId93"/>
    <p:sldId id="446" r:id="rId94"/>
    <p:sldId id="447" r:id="rId95"/>
    <p:sldId id="448" r:id="rId96"/>
    <p:sldId id="449" r:id="rId97"/>
    <p:sldId id="450" r:id="rId98"/>
    <p:sldId id="451" r:id="rId99"/>
    <p:sldId id="452" r:id="rId100"/>
    <p:sldId id="453" r:id="rId101"/>
    <p:sldId id="454" r:id="rId102"/>
    <p:sldId id="455" r:id="rId103"/>
    <p:sldId id="456" r:id="rId104"/>
    <p:sldId id="457" r:id="rId105"/>
    <p:sldId id="458" r:id="rId106"/>
    <p:sldId id="459" r:id="rId107"/>
    <p:sldId id="460" r:id="rId108"/>
    <p:sldId id="461" r:id="rId109"/>
    <p:sldId id="462" r:id="rId110"/>
    <p:sldId id="463" r:id="rId111"/>
    <p:sldId id="464" r:id="rId1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00FF"/>
    <a:srgbClr val="0033C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207E4B-D7A1-44A7-9664-9B0BD59255A5}" type="datetimeFigureOut">
              <a:rPr lang="en-US" smtClean="0"/>
              <a:pPr/>
              <a:t>8/8/2025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10326F-3AC1-4B0E-AB88-37BFFC6593E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6DE662-F51F-4A51-B64F-365ADF9EF9E2}" type="slidenum">
              <a:rPr lang="en-US" smtClean="0"/>
              <a:pPr/>
              <a:t>70</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C10326F-3AC1-4B0E-AB88-37BFFC6593E5}" type="slidenum">
              <a:rPr lang="en-US" smtClean="0"/>
              <a:pPr/>
              <a:t>105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5E842EE-8088-4C10-AE92-43DDD9A50DDF}"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E842EE-8088-4C10-AE92-43DDD9A50DDF}"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5E842EE-8088-4C10-AE92-43DDD9A50DDF}"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5E842EE-8088-4C10-AE92-43DDD9A50DDF}" type="datetimeFigureOut">
              <a:rPr lang="en-US" smtClean="0"/>
              <a:pPr/>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5E842EE-8088-4C10-AE92-43DDD9A50DDF}" type="datetimeFigureOut">
              <a:rPr lang="en-US" smtClean="0"/>
              <a:pPr/>
              <a:t>8/8/2025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5E842EE-8088-4C10-AE92-43DDD9A50DDF}" type="datetimeFigureOut">
              <a:rPr lang="en-US" smtClean="0"/>
              <a:pPr/>
              <a:t>8/8/2025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E842EE-8088-4C10-AE92-43DDD9A50DDF}" type="datetimeFigureOut">
              <a:rPr lang="en-US" smtClean="0"/>
              <a:pPr/>
              <a:t>8/8/2025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E842EE-8088-4C10-AE92-43DDD9A50DDF}" type="datetimeFigureOut">
              <a:rPr lang="en-US" smtClean="0"/>
              <a:pPr/>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E842EE-8088-4C10-AE92-43DDD9A50DDF}" type="datetimeFigureOut">
              <a:rPr lang="en-US" smtClean="0"/>
              <a:pPr/>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E842EE-8088-4C10-AE92-43DDD9A50DDF}"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E842EE-8088-4C10-AE92-43DDD9A50DDF}"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67F3F-CB2B-4609-B260-1A9EC25FD2D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E842EE-8088-4C10-AE92-43DDD9A50DDF}" type="datetimeFigureOut">
              <a:rPr lang="en-US" smtClean="0"/>
              <a:pPr/>
              <a:t>8/8/2025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867F3F-CB2B-4609-B260-1A9EC25FD2D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lnSpc>
          <a:spcPct val="150000"/>
        </a:lnSpc>
        <a:spcBef>
          <a:spcPts val="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lnSpc>
          <a:spcPct val="150000"/>
        </a:lnSpc>
        <a:spcBef>
          <a:spcPts val="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lnSpc>
          <a:spcPct val="150000"/>
        </a:lnSpc>
        <a:spcBef>
          <a:spcPts val="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lnSpc>
          <a:spcPct val="150000"/>
        </a:lnSpc>
        <a:spcBef>
          <a:spcPts val="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python-mean-squared-error/" TargetMode="External"/><Relationship Id="rId2" Type="http://schemas.openxmlformats.org/officeDocument/2006/relationships/hyperlink" Target="https://www.geeksforgeeks.org/loss-functions-in-deep-learning/" TargetMode="External"/><Relationship Id="rId1" Type="http://schemas.openxmlformats.org/officeDocument/2006/relationships/slideLayout" Target="../slideLayouts/slideLayout2.xml"/><Relationship Id="rId4" Type="http://schemas.openxmlformats.org/officeDocument/2006/relationships/hyperlink" Target="https://www.geeksforgeeks.org/backpropagation-in-neural-network/"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ibm.com/think/topics/deep-learning" TargetMode="External"/><Relationship Id="rId2" Type="http://schemas.openxmlformats.org/officeDocument/2006/relationships/hyperlink" Target="https://www.ibm.com/think/topics/artificial-intelligenc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raw.githubusercontent.com/mwaskom/seaborn-data/master/iris.csv"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7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paperswithcode.com/method/tanh-activation"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9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www.statisticshowto.com/calculus-definitions/summation-notation-sigma-function/" TargetMode="Externa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9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www.tensorflow.org/tutorials/generative/autoencoder" TargetMode="External"/><Relationship Id="rId2" Type="http://schemas.openxmlformats.org/officeDocument/2006/relationships/hyperlink" Target="https://cloud.google.com/discover/what-is-unsupervised-learning" TargetMode="External"/><Relationship Id="rId1" Type="http://schemas.openxmlformats.org/officeDocument/2006/relationships/slideLayout" Target="../slideLayouts/slideLayout2.xml"/><Relationship Id="rId4" Type="http://schemas.openxmlformats.org/officeDocument/2006/relationships/image" Target="../media/image65.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0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I</a:t>
            </a:r>
            <a:endParaRPr lang="en-US" dirty="0"/>
          </a:p>
        </p:txBody>
      </p:sp>
      <p:sp>
        <p:nvSpPr>
          <p:cNvPr id="3" name="Subtitle 2"/>
          <p:cNvSpPr>
            <a:spLocks noGrp="1"/>
          </p:cNvSpPr>
          <p:nvPr>
            <p:ph type="subTitle" idx="1"/>
          </p:nvPr>
        </p:nvSpPr>
        <p:spPr/>
        <p:txBody>
          <a:bodyPr>
            <a:normAutofit fontScale="62500" lnSpcReduction="20000"/>
          </a:bodyPr>
          <a:lstStyle/>
          <a:p>
            <a:r>
              <a:rPr lang="en-US" dirty="0" err="1" smtClean="0"/>
              <a:t>S.Hemalatha</a:t>
            </a:r>
            <a:endParaRPr lang="en-US" dirty="0" smtClean="0"/>
          </a:p>
          <a:p>
            <a:r>
              <a:rPr lang="en-US" dirty="0" smtClean="0"/>
              <a:t>AP(</a:t>
            </a:r>
            <a:r>
              <a:rPr lang="en-US" dirty="0" err="1" smtClean="0"/>
              <a:t>Sr.G</a:t>
            </a:r>
            <a:r>
              <a:rPr lang="en-US" dirty="0" smtClean="0"/>
              <a:t>)</a:t>
            </a:r>
          </a:p>
          <a:p>
            <a:r>
              <a:rPr lang="en-US" dirty="0" smtClean="0"/>
              <a:t>Dept. of CA</a:t>
            </a:r>
          </a:p>
          <a:p>
            <a:r>
              <a:rPr lang="en-US" dirty="0" smtClean="0"/>
              <a:t>KEC</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Neural Network (NN)</a:t>
            </a:r>
            <a:endParaRPr lang="en-US" dirty="0"/>
          </a:p>
        </p:txBody>
      </p:sp>
      <p:sp>
        <p:nvSpPr>
          <p:cNvPr id="3" name="Content Placeholder 2"/>
          <p:cNvSpPr>
            <a:spLocks noGrp="1"/>
          </p:cNvSpPr>
          <p:nvPr>
            <p:ph idx="1"/>
          </p:nvPr>
        </p:nvSpPr>
        <p:spPr>
          <a:xfrm>
            <a:off x="457200" y="1600200"/>
            <a:ext cx="8435280" cy="4997152"/>
          </a:xfrm>
        </p:spPr>
        <p:txBody>
          <a:bodyPr>
            <a:normAutofit fontScale="70000" lnSpcReduction="20000"/>
          </a:bodyPr>
          <a:lstStyle/>
          <a:p>
            <a:r>
              <a:rPr lang="en-US" dirty="0" smtClean="0"/>
              <a:t>A neural network is a </a:t>
            </a:r>
            <a:r>
              <a:rPr lang="en-US" b="1" dirty="0" smtClean="0">
                <a:solidFill>
                  <a:srgbClr val="0000FF"/>
                </a:solidFill>
              </a:rPr>
              <a:t>machine learning program</a:t>
            </a:r>
            <a:r>
              <a:rPr lang="en-US" dirty="0" smtClean="0"/>
              <a:t>, or </a:t>
            </a:r>
            <a:r>
              <a:rPr lang="en-US" b="1" dirty="0" smtClean="0">
                <a:solidFill>
                  <a:srgbClr val="0000FF"/>
                </a:solidFill>
              </a:rPr>
              <a:t>model</a:t>
            </a:r>
            <a:r>
              <a:rPr lang="en-US" dirty="0" smtClean="0"/>
              <a:t>, that makes decisions in a manner </a:t>
            </a:r>
            <a:r>
              <a:rPr lang="en-US" b="1" dirty="0" smtClean="0">
                <a:solidFill>
                  <a:srgbClr val="0000FF"/>
                </a:solidFill>
              </a:rPr>
              <a:t>similar to the human brain</a:t>
            </a:r>
            <a:r>
              <a:rPr lang="en-US" dirty="0" smtClean="0"/>
              <a:t>, by using processes that mimic the way biological neurons works. These models consist of </a:t>
            </a:r>
            <a:r>
              <a:rPr lang="en-US" b="1" dirty="0" smtClean="0">
                <a:solidFill>
                  <a:srgbClr val="0000FF"/>
                </a:solidFill>
              </a:rPr>
              <a:t>interconnected nodes or neurons </a:t>
            </a:r>
            <a:r>
              <a:rPr lang="en-US" dirty="0" smtClean="0"/>
              <a:t>that process data, </a:t>
            </a:r>
            <a:r>
              <a:rPr lang="en-US" b="1" dirty="0" smtClean="0">
                <a:solidFill>
                  <a:srgbClr val="0000FF"/>
                </a:solidFill>
              </a:rPr>
              <a:t>learn patterns</a:t>
            </a:r>
            <a:r>
              <a:rPr lang="en-US" dirty="0" smtClean="0"/>
              <a:t>, and enable tasks such as pattern recognition and decision-making.</a:t>
            </a:r>
          </a:p>
          <a:p>
            <a:r>
              <a:rPr lang="en-US" dirty="0" smtClean="0"/>
              <a:t>Neural networks are </a:t>
            </a:r>
            <a:r>
              <a:rPr lang="en-US" b="1" dirty="0" smtClean="0">
                <a:solidFill>
                  <a:srgbClr val="0000FF"/>
                </a:solidFill>
              </a:rPr>
              <a:t>capable of learning </a:t>
            </a:r>
            <a:r>
              <a:rPr lang="en-US" dirty="0" smtClean="0"/>
              <a:t>and </a:t>
            </a:r>
            <a:r>
              <a:rPr lang="en-US" b="1" dirty="0" smtClean="0">
                <a:solidFill>
                  <a:srgbClr val="0000FF"/>
                </a:solidFill>
              </a:rPr>
              <a:t>identifying patterns </a:t>
            </a:r>
            <a:r>
              <a:rPr lang="en-US" dirty="0" smtClean="0"/>
              <a:t>directly </a:t>
            </a:r>
            <a:r>
              <a:rPr lang="en-US" b="1" dirty="0" smtClean="0">
                <a:solidFill>
                  <a:srgbClr val="0000FF"/>
                </a:solidFill>
              </a:rPr>
              <a:t>from data without pre-defined rules</a:t>
            </a:r>
            <a:r>
              <a:rPr lang="en-US" dirty="0" smtClean="0"/>
              <a:t>.</a:t>
            </a:r>
          </a:p>
          <a:p>
            <a:r>
              <a:rPr lang="en-US" dirty="0" smtClean="0"/>
              <a:t>A </a:t>
            </a:r>
            <a:r>
              <a:rPr lang="en-US" b="1" dirty="0" smtClean="0">
                <a:solidFill>
                  <a:srgbClr val="0000FF"/>
                </a:solidFill>
              </a:rPr>
              <a:t>biological neuron </a:t>
            </a:r>
            <a:r>
              <a:rPr lang="en-US" dirty="0" smtClean="0"/>
              <a:t>has a cell body or soma to process the impulses, dendrites to receive them, and an axon that transfers them to other neurons.</a:t>
            </a:r>
            <a:endParaRPr lang="en-US" dirty="0"/>
          </a:p>
        </p:txBody>
      </p:sp>
      <p:sp>
        <p:nvSpPr>
          <p:cNvPr id="1026" name="AutoShape 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cstate="print"/>
          <a:srcRect t="7151" b="7902"/>
          <a:stretch>
            <a:fillRect/>
          </a:stretch>
        </p:blipFill>
        <p:spPr bwMode="auto">
          <a:xfrm>
            <a:off x="0" y="188640"/>
            <a:ext cx="8720805" cy="2808312"/>
          </a:xfrm>
          <a:prstGeom prst="rect">
            <a:avLst/>
          </a:prstGeom>
          <a:noFill/>
          <a:ln w="9525">
            <a:noFill/>
            <a:miter lim="800000"/>
            <a:headEnd/>
            <a:tailEnd/>
          </a:ln>
        </p:spPr>
      </p:pic>
      <p:pic>
        <p:nvPicPr>
          <p:cNvPr id="64515" name="Picture 3"/>
          <p:cNvPicPr>
            <a:picLocks noChangeAspect="1" noChangeArrowheads="1"/>
          </p:cNvPicPr>
          <p:nvPr/>
        </p:nvPicPr>
        <p:blipFill>
          <a:blip r:embed="rId3" cstate="print"/>
          <a:srcRect/>
          <a:stretch>
            <a:fillRect/>
          </a:stretch>
        </p:blipFill>
        <p:spPr bwMode="auto">
          <a:xfrm>
            <a:off x="5796136" y="3645024"/>
            <a:ext cx="3168352" cy="3051006"/>
          </a:xfrm>
          <a:prstGeom prst="rect">
            <a:avLst/>
          </a:prstGeom>
          <a:noFill/>
          <a:ln w="9525">
            <a:noFill/>
            <a:miter lim="800000"/>
            <a:headEnd/>
            <a:tailEnd/>
          </a:ln>
        </p:spPr>
      </p:pic>
      <p:sp>
        <p:nvSpPr>
          <p:cNvPr id="7" name="Rectangle 6"/>
          <p:cNvSpPr/>
          <p:nvPr/>
        </p:nvSpPr>
        <p:spPr>
          <a:xfrm>
            <a:off x="251520" y="3284984"/>
            <a:ext cx="5616624" cy="1477328"/>
          </a:xfrm>
          <a:prstGeom prst="rect">
            <a:avLst/>
          </a:prstGeom>
        </p:spPr>
        <p:txBody>
          <a:bodyPr wrap="square">
            <a:spAutoFit/>
          </a:bodyPr>
          <a:lstStyle/>
          <a:p>
            <a:r>
              <a:rPr lang="en-US" b="1" dirty="0" smtClean="0"/>
              <a:t>Working Principle:</a:t>
            </a:r>
            <a:endParaRPr lang="en-US" dirty="0" smtClean="0"/>
          </a:p>
          <a:p>
            <a:pPr>
              <a:buFont typeface="Arial" pitchFamily="34" charset="0"/>
              <a:buChar char="•"/>
            </a:pPr>
            <a:r>
              <a:rPr lang="en-US" dirty="0" smtClean="0"/>
              <a:t>Neuron receives inputs from dendrites.</a:t>
            </a:r>
          </a:p>
          <a:p>
            <a:pPr>
              <a:buFont typeface="Arial" pitchFamily="34" charset="0"/>
              <a:buChar char="•"/>
            </a:pPr>
            <a:r>
              <a:rPr lang="en-US" dirty="0" smtClean="0"/>
              <a:t>If the total signal exceeds a certain </a:t>
            </a:r>
            <a:r>
              <a:rPr lang="en-US" b="1" dirty="0" smtClean="0"/>
              <a:t>threshold</a:t>
            </a:r>
            <a:r>
              <a:rPr lang="en-US" dirty="0" smtClean="0"/>
              <a:t>, the neuron </a:t>
            </a:r>
            <a:r>
              <a:rPr lang="en-US" b="1" dirty="0" smtClean="0"/>
              <a:t>fires</a:t>
            </a:r>
            <a:r>
              <a:rPr lang="en-US" dirty="0" smtClean="0"/>
              <a:t> (sends an output).</a:t>
            </a:r>
          </a:p>
          <a:p>
            <a:pPr>
              <a:buFont typeface="Arial" pitchFamily="34" charset="0"/>
              <a:buChar char="•"/>
            </a:pPr>
            <a:r>
              <a:rPr lang="en-US" dirty="0" smtClean="0"/>
              <a:t>The signal travels down the axon to the next neuron.</a:t>
            </a:r>
            <a:endParaRPr lang="en-US" dirty="0"/>
          </a:p>
        </p:txBody>
      </p:sp>
      <p:sp>
        <p:nvSpPr>
          <p:cNvPr id="6" name="Rectangle 5"/>
          <p:cNvSpPr/>
          <p:nvPr/>
        </p:nvSpPr>
        <p:spPr>
          <a:xfrm>
            <a:off x="2771800" y="3068960"/>
            <a:ext cx="3595151" cy="369332"/>
          </a:xfrm>
          <a:prstGeom prst="rect">
            <a:avLst/>
          </a:prstGeom>
        </p:spPr>
        <p:txBody>
          <a:bodyPr wrap="none">
            <a:spAutoFit/>
          </a:bodyPr>
          <a:lstStyle/>
          <a:p>
            <a:r>
              <a:rPr lang="en-US" dirty="0" smtClean="0"/>
              <a:t>A </a:t>
            </a:r>
            <a:r>
              <a:rPr lang="en-US" b="1" dirty="0" err="1" smtClean="0"/>
              <a:t>Perceptron</a:t>
            </a:r>
            <a:r>
              <a:rPr lang="en-US" dirty="0" smtClean="0"/>
              <a:t> is an </a:t>
            </a:r>
            <a:r>
              <a:rPr lang="en-US" b="1" dirty="0" smtClean="0"/>
              <a:t>Artificial Neuron</a:t>
            </a:r>
            <a:r>
              <a:rPr lang="en-US" dirty="0" smtClean="0"/>
              <a:t>.</a:t>
            </a:r>
            <a:endParaRPr lang="en-US" dirty="0"/>
          </a:p>
        </p:txBody>
      </p:sp>
      <p:sp>
        <p:nvSpPr>
          <p:cNvPr id="8" name="Rectangle 7"/>
          <p:cNvSpPr/>
          <p:nvPr/>
        </p:nvSpPr>
        <p:spPr>
          <a:xfrm>
            <a:off x="179512" y="4941168"/>
            <a:ext cx="5688632" cy="1754326"/>
          </a:xfrm>
          <a:prstGeom prst="rect">
            <a:avLst/>
          </a:prstGeom>
        </p:spPr>
        <p:txBody>
          <a:bodyPr wrap="square">
            <a:spAutoFit/>
          </a:bodyPr>
          <a:lstStyle/>
          <a:p>
            <a:r>
              <a:rPr lang="en-US" dirty="0" smtClean="0"/>
              <a:t>In artificial neurons (ANNs), the concept of synapse is </a:t>
            </a:r>
            <a:r>
              <a:rPr lang="en-US" b="1" dirty="0" smtClean="0"/>
              <a:t>represented by a "weight"</a:t>
            </a:r>
            <a:r>
              <a:rPr lang="en-US" dirty="0" smtClean="0"/>
              <a:t>.</a:t>
            </a:r>
          </a:p>
          <a:p>
            <a:r>
              <a:rPr lang="en-US" dirty="0" smtClean="0"/>
              <a:t>When one artificial neuron connects to another, there is a </a:t>
            </a:r>
            <a:r>
              <a:rPr lang="en-US" b="1" dirty="0" smtClean="0"/>
              <a:t>weight</a:t>
            </a:r>
            <a:r>
              <a:rPr lang="en-US" dirty="0" smtClean="0"/>
              <a:t> on that connection.</a:t>
            </a:r>
          </a:p>
          <a:p>
            <a:r>
              <a:rPr lang="en-US" dirty="0" smtClean="0"/>
              <a:t>That weight decides </a:t>
            </a:r>
            <a:r>
              <a:rPr lang="en-US" b="1" dirty="0" smtClean="0"/>
              <a:t>how strong the signal</a:t>
            </a:r>
            <a:r>
              <a:rPr lang="en-US" dirty="0" smtClean="0"/>
              <a:t> is — just like in a real synapse.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Artificial Neuron (</a:t>
            </a:r>
            <a:r>
              <a:rPr lang="en-US" b="1" dirty="0" err="1" smtClean="0"/>
              <a:t>Perceptron</a:t>
            </a:r>
            <a:r>
              <a:rPr lang="en-US" b="1" dirty="0" smtClean="0"/>
              <a:t> or Node)</a:t>
            </a:r>
            <a:endParaRPr lang="en-US" dirty="0"/>
          </a:p>
        </p:txBody>
      </p:sp>
      <p:sp>
        <p:nvSpPr>
          <p:cNvPr id="3" name="Content Placeholder 2"/>
          <p:cNvSpPr>
            <a:spLocks noGrp="1"/>
          </p:cNvSpPr>
          <p:nvPr>
            <p:ph idx="1"/>
          </p:nvPr>
        </p:nvSpPr>
        <p:spPr>
          <a:xfrm>
            <a:off x="457200" y="1600201"/>
            <a:ext cx="8229600" cy="3484984"/>
          </a:xfrm>
        </p:spPr>
        <p:txBody>
          <a:bodyPr>
            <a:normAutofit fontScale="55000" lnSpcReduction="20000"/>
          </a:bodyPr>
          <a:lstStyle/>
          <a:p>
            <a:r>
              <a:rPr lang="en-US" dirty="0" smtClean="0"/>
              <a:t>Inspired by the biological neuron, the </a:t>
            </a:r>
            <a:r>
              <a:rPr lang="en-US" b="1" dirty="0" smtClean="0"/>
              <a:t>artificial neuron</a:t>
            </a:r>
            <a:r>
              <a:rPr lang="en-US" dirty="0" smtClean="0"/>
              <a:t> forms the core of an </a:t>
            </a:r>
            <a:r>
              <a:rPr lang="en-US" b="1" dirty="0" smtClean="0"/>
              <a:t>Artificial Neural Network (ANN)</a:t>
            </a:r>
            <a:r>
              <a:rPr lang="en-US" dirty="0" smtClean="0"/>
              <a:t>.</a:t>
            </a:r>
          </a:p>
          <a:p>
            <a:pPr>
              <a:buNone/>
            </a:pPr>
            <a:r>
              <a:rPr lang="en-US" b="1" dirty="0" smtClean="0"/>
              <a:t>Structure:</a:t>
            </a:r>
          </a:p>
          <a:p>
            <a:r>
              <a:rPr lang="en-US" b="1" dirty="0" smtClean="0"/>
              <a:t>Inputs (x₁, x₂, ..., xₙ)</a:t>
            </a:r>
            <a:r>
              <a:rPr lang="en-US" dirty="0" smtClean="0"/>
              <a:t>: Like dendrites.</a:t>
            </a:r>
          </a:p>
          <a:p>
            <a:r>
              <a:rPr lang="en-US" b="1" dirty="0" smtClean="0"/>
              <a:t>Weights (w₁, w₂, ..., wₙ)</a:t>
            </a:r>
            <a:r>
              <a:rPr lang="en-US" dirty="0" smtClean="0"/>
              <a:t>: Represents the importance of each input.</a:t>
            </a:r>
          </a:p>
          <a:p>
            <a:r>
              <a:rPr lang="en-US" b="1" dirty="0" smtClean="0"/>
              <a:t>Bias (b)</a:t>
            </a:r>
            <a:r>
              <a:rPr lang="en-US" dirty="0" smtClean="0"/>
              <a:t>: Extra parameter to adjust the output.</a:t>
            </a:r>
          </a:p>
          <a:p>
            <a:r>
              <a:rPr lang="en-US" b="1" dirty="0" smtClean="0"/>
              <a:t>Summation</a:t>
            </a:r>
            <a:r>
              <a:rPr lang="en-US" dirty="0" smtClean="0"/>
              <a:t>: Computes a weighted sum of inputs.</a:t>
            </a:r>
          </a:p>
          <a:p>
            <a:r>
              <a:rPr lang="en-US" b="1" dirty="0" smtClean="0"/>
              <a:t>Activation Function</a:t>
            </a:r>
            <a:r>
              <a:rPr lang="en-US" dirty="0" smtClean="0"/>
              <a:t>: Decides whether the neuron should "fire" (output).</a:t>
            </a:r>
          </a:p>
          <a:p>
            <a:r>
              <a:rPr lang="en-US" dirty="0" smtClean="0"/>
              <a:t>f: activation function (step, sigmoid, </a:t>
            </a:r>
            <a:r>
              <a:rPr lang="en-US" dirty="0" err="1" smtClean="0"/>
              <a:t>ReLU</a:t>
            </a:r>
            <a:r>
              <a:rPr lang="en-US" dirty="0" smtClean="0"/>
              <a:t>, etc.)</a:t>
            </a:r>
          </a:p>
          <a:p>
            <a:endParaRPr lang="en-US" dirty="0"/>
          </a:p>
        </p:txBody>
      </p:sp>
      <p:pic>
        <p:nvPicPr>
          <p:cNvPr id="65538" name="Picture 2"/>
          <p:cNvPicPr>
            <a:picLocks noChangeAspect="1" noChangeArrowheads="1"/>
          </p:cNvPicPr>
          <p:nvPr/>
        </p:nvPicPr>
        <p:blipFill>
          <a:blip r:embed="rId2" cstate="print"/>
          <a:srcRect/>
          <a:stretch>
            <a:fillRect/>
          </a:stretch>
        </p:blipFill>
        <p:spPr bwMode="auto">
          <a:xfrm>
            <a:off x="611560" y="5229199"/>
            <a:ext cx="5904656" cy="1374229"/>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err="1" smtClean="0"/>
              <a:t>Perceptron</a:t>
            </a:r>
            <a:endParaRPr lang="en-US" dirty="0"/>
          </a:p>
        </p:txBody>
      </p:sp>
      <p:sp>
        <p:nvSpPr>
          <p:cNvPr id="3" name="Content Placeholder 2"/>
          <p:cNvSpPr>
            <a:spLocks noGrp="1"/>
          </p:cNvSpPr>
          <p:nvPr>
            <p:ph idx="1"/>
          </p:nvPr>
        </p:nvSpPr>
        <p:spPr>
          <a:xfrm>
            <a:off x="323528" y="1268760"/>
            <a:ext cx="8568952" cy="5328592"/>
          </a:xfrm>
        </p:spPr>
        <p:txBody>
          <a:bodyPr numCol="2">
            <a:noAutofit/>
          </a:bodyPr>
          <a:lstStyle/>
          <a:p>
            <a:pPr fontAlgn="ctr">
              <a:buNone/>
            </a:pPr>
            <a:r>
              <a:rPr lang="en-US" sz="1400" dirty="0" smtClean="0"/>
              <a:t>A </a:t>
            </a:r>
            <a:r>
              <a:rPr lang="en-US" sz="1400" dirty="0" err="1" smtClean="0"/>
              <a:t>perceptron</a:t>
            </a:r>
            <a:r>
              <a:rPr lang="en-US" sz="1400" dirty="0" smtClean="0"/>
              <a:t> is a </a:t>
            </a:r>
            <a:r>
              <a:rPr lang="en-US" sz="1400" b="1" dirty="0" smtClean="0">
                <a:solidFill>
                  <a:srgbClr val="0000FF"/>
                </a:solidFill>
              </a:rPr>
              <a:t>fundamental building block </a:t>
            </a:r>
            <a:r>
              <a:rPr lang="en-US" sz="1400" dirty="0" smtClean="0"/>
              <a:t>of neural networks, designed to </a:t>
            </a:r>
            <a:r>
              <a:rPr lang="en-US" sz="1400" b="1" dirty="0" smtClean="0">
                <a:solidFill>
                  <a:srgbClr val="0000FF"/>
                </a:solidFill>
              </a:rPr>
              <a:t>classify input data into two categories </a:t>
            </a:r>
            <a:r>
              <a:rPr lang="en-US" sz="1400" dirty="0" smtClean="0"/>
              <a:t>(binary classification). It works by taking multiple inputs, multiplying each by a corresponding weight, summing these weighted inputs, adding a bias, and then passing the result through an activation function (typically a step function) </a:t>
            </a:r>
            <a:r>
              <a:rPr lang="en-US" sz="1400" b="1" dirty="0" smtClean="0">
                <a:solidFill>
                  <a:srgbClr val="0000FF"/>
                </a:solidFill>
              </a:rPr>
              <a:t>to produce a binary output (0 or 1). </a:t>
            </a:r>
          </a:p>
          <a:p>
            <a:pPr fontAlgn="ctr">
              <a:buNone/>
            </a:pPr>
            <a:r>
              <a:rPr lang="en-US" sz="1400" dirty="0" smtClean="0"/>
              <a:t>Here's a breakdown of the process:</a:t>
            </a:r>
          </a:p>
          <a:p>
            <a:pPr>
              <a:buNone/>
            </a:pPr>
            <a:r>
              <a:rPr lang="en-US" sz="1400" b="1" dirty="0" smtClean="0"/>
              <a:t>1. Inputs (x):</a:t>
            </a:r>
            <a:endParaRPr lang="en-US" sz="1400" dirty="0" smtClean="0"/>
          </a:p>
          <a:p>
            <a:pPr fontAlgn="ctr">
              <a:buNone/>
            </a:pPr>
            <a:r>
              <a:rPr lang="en-US" sz="1400" dirty="0" smtClean="0"/>
              <a:t>The </a:t>
            </a:r>
            <a:r>
              <a:rPr lang="en-US" sz="1400" dirty="0" err="1" smtClean="0"/>
              <a:t>perceptron</a:t>
            </a:r>
            <a:r>
              <a:rPr lang="en-US" sz="1400" dirty="0" smtClean="0"/>
              <a:t> receives multiple input values, each representing a feature of the data. </a:t>
            </a:r>
          </a:p>
          <a:p>
            <a:pPr>
              <a:buNone/>
            </a:pPr>
            <a:r>
              <a:rPr lang="en-US" sz="1400" b="1" dirty="0" smtClean="0"/>
              <a:t>2. Weights (w):</a:t>
            </a:r>
            <a:endParaRPr lang="en-US" sz="1400" dirty="0" smtClean="0"/>
          </a:p>
          <a:p>
            <a:pPr fontAlgn="ctr">
              <a:buNone/>
            </a:pPr>
            <a:r>
              <a:rPr lang="en-US" sz="1400" dirty="0" smtClean="0"/>
              <a:t>Each input is associated with a weight, representing its importance in the decision-making process. </a:t>
            </a:r>
          </a:p>
          <a:p>
            <a:pPr>
              <a:buNone/>
            </a:pPr>
            <a:r>
              <a:rPr lang="en-US" sz="1400" b="1" dirty="0" smtClean="0"/>
              <a:t>3. Weighted Sum:</a:t>
            </a:r>
            <a:endParaRPr lang="en-US" sz="1400" dirty="0" smtClean="0"/>
          </a:p>
          <a:p>
            <a:pPr fontAlgn="ctr">
              <a:buNone/>
            </a:pPr>
            <a:r>
              <a:rPr lang="en-US" sz="1400" dirty="0" smtClean="0"/>
              <a:t>The inputs are multiplied by their respective weights, and the products are summed up. This can be represented as ∑(wᵢ * xᵢ) where </a:t>
            </a:r>
            <a:r>
              <a:rPr lang="en-US" sz="1400" dirty="0" err="1" smtClean="0"/>
              <a:t>i</a:t>
            </a:r>
            <a:r>
              <a:rPr lang="en-US" sz="1400" dirty="0" smtClean="0"/>
              <a:t> ranges from 1 to the number of inputs. </a:t>
            </a:r>
          </a:p>
          <a:p>
            <a:pPr>
              <a:buNone/>
            </a:pPr>
            <a:r>
              <a:rPr lang="en-US" sz="1400" b="1" dirty="0" smtClean="0"/>
              <a:t>4. Bias (b):</a:t>
            </a:r>
            <a:endParaRPr lang="en-US" sz="1400" dirty="0" smtClean="0"/>
          </a:p>
          <a:p>
            <a:pPr fontAlgn="ctr">
              <a:buNone/>
            </a:pPr>
            <a:r>
              <a:rPr lang="en-US" sz="1400" dirty="0" smtClean="0"/>
              <a:t>A bias term is added to the weighted sum. This</a:t>
            </a:r>
            <a:r>
              <a:rPr lang="en-US" sz="1400" b="1" dirty="0" smtClean="0">
                <a:solidFill>
                  <a:srgbClr val="0000FF"/>
                </a:solidFill>
              </a:rPr>
              <a:t> allows the </a:t>
            </a:r>
            <a:r>
              <a:rPr lang="en-US" sz="1400" b="1" dirty="0" err="1" smtClean="0">
                <a:solidFill>
                  <a:srgbClr val="0000FF"/>
                </a:solidFill>
              </a:rPr>
              <a:t>perceptron</a:t>
            </a:r>
            <a:r>
              <a:rPr lang="en-US" sz="1400" b="1" dirty="0" smtClean="0">
                <a:solidFill>
                  <a:srgbClr val="0000FF"/>
                </a:solidFill>
              </a:rPr>
              <a:t> to learn even if all inputs are zero</a:t>
            </a:r>
            <a:r>
              <a:rPr lang="en-US" sz="1400" dirty="0" smtClean="0"/>
              <a:t>. The equation becomes ∑(wᵢ * xᵢ) + b. </a:t>
            </a:r>
          </a:p>
          <a:p>
            <a:pPr>
              <a:buNone/>
            </a:pPr>
            <a:r>
              <a:rPr lang="en-US" sz="1400" b="1" dirty="0" smtClean="0"/>
              <a:t>5. Activation Function:</a:t>
            </a:r>
            <a:endParaRPr lang="en-US" sz="1400" dirty="0" smtClean="0"/>
          </a:p>
          <a:p>
            <a:pPr fontAlgn="ctr">
              <a:buNone/>
            </a:pPr>
            <a:r>
              <a:rPr lang="en-US" sz="1400" dirty="0" smtClean="0"/>
              <a:t>The result of the weighted sum plus bias is passed through an activation function. A common choice is the step function: </a:t>
            </a:r>
          </a:p>
          <a:p>
            <a:pPr fontAlgn="ctr">
              <a:buNone/>
            </a:pPr>
            <a:r>
              <a:rPr lang="en-US" sz="1400" dirty="0" smtClean="0"/>
              <a:t>If the result is greater than or equal to 0, the output is 1. </a:t>
            </a:r>
          </a:p>
          <a:p>
            <a:pPr fontAlgn="ctr">
              <a:buNone/>
            </a:pPr>
            <a:r>
              <a:rPr lang="en-US" sz="1400" dirty="0" smtClean="0"/>
              <a:t>If the result is less than 0, the output is 0. </a:t>
            </a:r>
          </a:p>
          <a:p>
            <a:pPr>
              <a:buNone/>
            </a:pPr>
            <a:r>
              <a:rPr lang="en-US" sz="1400" b="1" dirty="0" smtClean="0"/>
              <a:t>6. Output (y):</a:t>
            </a:r>
            <a:endParaRPr lang="en-US" sz="1400" dirty="0" smtClean="0"/>
          </a:p>
          <a:p>
            <a:pPr>
              <a:buNone/>
            </a:pPr>
            <a:r>
              <a:rPr lang="en-US" sz="1400" dirty="0" smtClean="0"/>
              <a:t>The </a:t>
            </a:r>
            <a:r>
              <a:rPr lang="en-US" sz="1400" dirty="0" err="1" smtClean="0"/>
              <a:t>perceptron</a:t>
            </a:r>
            <a:r>
              <a:rPr lang="en-US" sz="1400" dirty="0" smtClean="0"/>
              <a:t> produces a binary output (0 or 1), representing the classification result. </a:t>
            </a:r>
          </a:p>
          <a:p>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2" y="274638"/>
            <a:ext cx="5266928" cy="1143000"/>
          </a:xfrm>
        </p:spPr>
        <p:txBody>
          <a:bodyPr/>
          <a:lstStyle/>
          <a:p>
            <a:r>
              <a:rPr lang="en-US" b="1" dirty="0" err="1" smtClean="0"/>
              <a:t>Perceptron</a:t>
            </a:r>
            <a:endParaRPr lang="en-US" dirty="0"/>
          </a:p>
        </p:txBody>
      </p:sp>
      <p:sp>
        <p:nvSpPr>
          <p:cNvPr id="3" name="Content Placeholder 2"/>
          <p:cNvSpPr>
            <a:spLocks noGrp="1"/>
          </p:cNvSpPr>
          <p:nvPr>
            <p:ph idx="1"/>
          </p:nvPr>
        </p:nvSpPr>
        <p:spPr>
          <a:xfrm>
            <a:off x="323528" y="3140968"/>
            <a:ext cx="8568952" cy="3528392"/>
          </a:xfrm>
        </p:spPr>
        <p:txBody>
          <a:bodyPr>
            <a:normAutofit fontScale="47500" lnSpcReduction="20000"/>
          </a:bodyPr>
          <a:lstStyle/>
          <a:p>
            <a:r>
              <a:rPr lang="en-US" dirty="0" smtClean="0"/>
              <a:t>x1 and x2 are the two inputs. an integer , float etc. </a:t>
            </a:r>
          </a:p>
          <a:p>
            <a:r>
              <a:rPr lang="en-US" dirty="0" smtClean="0"/>
              <a:t>for example , assume them as 1 and 0 respectively.</a:t>
            </a:r>
          </a:p>
          <a:p>
            <a:r>
              <a:rPr lang="en-US" dirty="0" smtClean="0"/>
              <a:t>When these inputs pass through the connections ( through W1 and W2 ) , they are adjusted depending on the connection weights.</a:t>
            </a:r>
          </a:p>
          <a:p>
            <a:pPr>
              <a:buNone/>
            </a:pPr>
            <a:r>
              <a:rPr lang="en-US" dirty="0" smtClean="0"/>
              <a:t>Let us assume that W1 = 0.5 and W2 = 0.6 ,</a:t>
            </a:r>
          </a:p>
          <a:p>
            <a:pPr>
              <a:buNone/>
            </a:pPr>
            <a:r>
              <a:rPr lang="en-US" dirty="0" smtClean="0"/>
              <a:t>x1 * W1 + x2 * W2 </a:t>
            </a:r>
          </a:p>
          <a:p>
            <a:pPr>
              <a:buNone/>
            </a:pPr>
            <a:r>
              <a:rPr lang="en-US" dirty="0" smtClean="0"/>
              <a:t>= 1 * 0.5 + 0 * 0.6 </a:t>
            </a:r>
          </a:p>
          <a:p>
            <a:pPr>
              <a:buNone/>
            </a:pPr>
            <a:r>
              <a:rPr lang="en-US" dirty="0" smtClean="0"/>
              <a:t>= 0.5</a:t>
            </a:r>
          </a:p>
          <a:p>
            <a:pPr>
              <a:buNone/>
            </a:pPr>
            <a:r>
              <a:rPr lang="en-US" dirty="0" smtClean="0"/>
              <a:t>Apply  the simple sigmoid activation function .</a:t>
            </a:r>
          </a:p>
          <a:p>
            <a:pPr>
              <a:buNone/>
            </a:pPr>
            <a:r>
              <a:rPr lang="en-US" dirty="0" smtClean="0"/>
              <a:t>f ( x ) = f ( 0.5 ) = 0.6224</a:t>
            </a:r>
            <a:endParaRPr lang="en-US" dirty="0"/>
          </a:p>
        </p:txBody>
      </p:sp>
      <p:sp>
        <p:nvSpPr>
          <p:cNvPr id="5" name="Rectangle 4"/>
          <p:cNvSpPr/>
          <p:nvPr/>
        </p:nvSpPr>
        <p:spPr>
          <a:xfrm>
            <a:off x="3203848" y="1844824"/>
            <a:ext cx="64807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2" cstate="print"/>
          <a:srcRect/>
          <a:stretch>
            <a:fillRect/>
          </a:stretch>
        </p:blipFill>
        <p:spPr bwMode="auto">
          <a:xfrm>
            <a:off x="395536" y="332656"/>
            <a:ext cx="4121333" cy="237626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348880"/>
            <a:ext cx="8712968" cy="1800200"/>
          </a:xfrm>
        </p:spPr>
        <p:txBody>
          <a:bodyPr>
            <a:normAutofit fontScale="47500" lnSpcReduction="20000"/>
          </a:bodyPr>
          <a:lstStyle/>
          <a:p>
            <a:endParaRPr lang="en-US" b="1" dirty="0" smtClean="0"/>
          </a:p>
          <a:p>
            <a:pPr>
              <a:buNone/>
            </a:pPr>
            <a:r>
              <a:rPr lang="en-US" b="1" dirty="0" smtClean="0"/>
              <a:t>Training Step-by-Step (For first input [0, 0])</a:t>
            </a:r>
          </a:p>
          <a:p>
            <a:pPr>
              <a:buNone/>
            </a:pPr>
            <a:r>
              <a:rPr lang="en-US" dirty="0" smtClean="0"/>
              <a:t>Let’s initialize:</a:t>
            </a:r>
          </a:p>
          <a:p>
            <a:pPr>
              <a:buNone/>
            </a:pPr>
            <a:r>
              <a:rPr lang="en-US" dirty="0" smtClean="0"/>
              <a:t>w1 = 0, w2 = 0, b = 0</a:t>
            </a:r>
          </a:p>
          <a:p>
            <a:pPr>
              <a:buNone/>
            </a:pPr>
            <a:r>
              <a:rPr lang="en-US" b="1" dirty="0" smtClean="0"/>
              <a:t>1st Sample: x1 = 0, x2 = 0, y = 0</a:t>
            </a:r>
          </a:p>
          <a:p>
            <a:endParaRPr lang="en-US" dirty="0"/>
          </a:p>
        </p:txBody>
      </p:sp>
      <p:pic>
        <p:nvPicPr>
          <p:cNvPr id="74754" name="Picture 2"/>
          <p:cNvPicPr>
            <a:picLocks noChangeAspect="1" noChangeArrowheads="1"/>
          </p:cNvPicPr>
          <p:nvPr/>
        </p:nvPicPr>
        <p:blipFill>
          <a:blip r:embed="rId2" cstate="print"/>
          <a:srcRect/>
          <a:stretch>
            <a:fillRect/>
          </a:stretch>
        </p:blipFill>
        <p:spPr bwMode="auto">
          <a:xfrm>
            <a:off x="683568" y="260648"/>
            <a:ext cx="7219030" cy="2304256"/>
          </a:xfrm>
          <a:prstGeom prst="rect">
            <a:avLst/>
          </a:prstGeom>
          <a:noFill/>
          <a:ln w="9525">
            <a:noFill/>
            <a:miter lim="800000"/>
            <a:headEnd/>
            <a:tailEnd/>
          </a:ln>
        </p:spPr>
      </p:pic>
      <p:pic>
        <p:nvPicPr>
          <p:cNvPr id="74755" name="Picture 3"/>
          <p:cNvPicPr>
            <a:picLocks noChangeAspect="1" noChangeArrowheads="1"/>
          </p:cNvPicPr>
          <p:nvPr/>
        </p:nvPicPr>
        <p:blipFill>
          <a:blip r:embed="rId3" cstate="print"/>
          <a:srcRect/>
          <a:stretch>
            <a:fillRect/>
          </a:stretch>
        </p:blipFill>
        <p:spPr bwMode="auto">
          <a:xfrm>
            <a:off x="163416" y="4077072"/>
            <a:ext cx="8225008" cy="1368152"/>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6552728"/>
          </a:xfrm>
        </p:spPr>
        <p:txBody>
          <a:bodyPr numCol="1">
            <a:normAutofit fontScale="40000" lnSpcReduction="20000"/>
          </a:bodyPr>
          <a:lstStyle/>
          <a:p>
            <a:pPr>
              <a:buNone/>
            </a:pPr>
            <a:r>
              <a:rPr lang="en-US" sz="4500" b="1" dirty="0" err="1" smtClean="0">
                <a:solidFill>
                  <a:srgbClr val="C00000"/>
                </a:solidFill>
              </a:rPr>
              <a:t>np.insert</a:t>
            </a:r>
            <a:r>
              <a:rPr lang="en-US" sz="4500" b="1" dirty="0" smtClean="0">
                <a:solidFill>
                  <a:srgbClr val="C00000"/>
                </a:solidFill>
              </a:rPr>
              <a:t>(array, index, value)                         np.dot(a, b) </a:t>
            </a:r>
            <a:r>
              <a:rPr lang="en-US" dirty="0" smtClean="0"/>
              <a:t>import </a:t>
            </a:r>
            <a:r>
              <a:rPr lang="en-US" dirty="0" err="1" smtClean="0"/>
              <a:t>numpy</a:t>
            </a:r>
            <a:r>
              <a:rPr lang="en-US" dirty="0" smtClean="0"/>
              <a:t> as </a:t>
            </a:r>
            <a:r>
              <a:rPr lang="en-US" dirty="0" err="1" smtClean="0"/>
              <a:t>np</a:t>
            </a:r>
            <a:endParaRPr lang="en-US" dirty="0" smtClean="0"/>
          </a:p>
          <a:p>
            <a:pPr>
              <a:buNone/>
            </a:pPr>
            <a:endParaRPr lang="en-US" dirty="0" smtClean="0"/>
          </a:p>
          <a:p>
            <a:pPr>
              <a:buNone/>
            </a:pPr>
            <a:r>
              <a:rPr lang="en-US" dirty="0" smtClean="0"/>
              <a:t># Step 1: Define the activation function</a:t>
            </a:r>
          </a:p>
          <a:p>
            <a:pPr>
              <a:buNone/>
            </a:pPr>
            <a:r>
              <a:rPr lang="en-US" dirty="0" smtClean="0"/>
              <a:t># This is a </a:t>
            </a:r>
            <a:r>
              <a:rPr lang="en-US" b="1" dirty="0" smtClean="0">
                <a:solidFill>
                  <a:srgbClr val="0000FF"/>
                </a:solidFill>
              </a:rPr>
              <a:t>step function</a:t>
            </a:r>
            <a:r>
              <a:rPr lang="en-US" dirty="0" smtClean="0"/>
              <a:t>: returns 1 if input is &gt;= 0, else returns 0</a:t>
            </a:r>
          </a:p>
          <a:p>
            <a:pPr>
              <a:buNone/>
            </a:pPr>
            <a:r>
              <a:rPr lang="en-US" dirty="0" smtClean="0"/>
              <a:t>def </a:t>
            </a:r>
            <a:r>
              <a:rPr lang="en-US" dirty="0" err="1" smtClean="0"/>
              <a:t>step_function</a:t>
            </a:r>
            <a:r>
              <a:rPr lang="en-US" dirty="0" smtClean="0"/>
              <a:t>(value):</a:t>
            </a:r>
          </a:p>
          <a:p>
            <a:pPr>
              <a:buNone/>
            </a:pPr>
            <a:r>
              <a:rPr lang="en-US" dirty="0" smtClean="0"/>
              <a:t>    return 1 if value &gt;= 0 else 0</a:t>
            </a:r>
          </a:p>
          <a:p>
            <a:pPr>
              <a:buNone/>
            </a:pPr>
            <a:endParaRPr lang="en-US" dirty="0" smtClean="0"/>
          </a:p>
          <a:p>
            <a:pPr>
              <a:buNone/>
            </a:pPr>
            <a:r>
              <a:rPr lang="en-US" dirty="0" smtClean="0"/>
              <a:t># Step 2: Create the </a:t>
            </a:r>
            <a:r>
              <a:rPr lang="en-US" dirty="0" err="1" smtClean="0"/>
              <a:t>Perceptron</a:t>
            </a:r>
            <a:r>
              <a:rPr lang="en-US" dirty="0" smtClean="0"/>
              <a:t> class</a:t>
            </a:r>
          </a:p>
          <a:p>
            <a:pPr>
              <a:buNone/>
            </a:pPr>
            <a:r>
              <a:rPr lang="en-US" dirty="0" smtClean="0"/>
              <a:t>class </a:t>
            </a:r>
            <a:r>
              <a:rPr lang="en-US" dirty="0" err="1" smtClean="0"/>
              <a:t>Perceptron</a:t>
            </a:r>
            <a:r>
              <a:rPr lang="en-US" dirty="0" smtClean="0"/>
              <a:t>:</a:t>
            </a:r>
          </a:p>
          <a:p>
            <a:pPr>
              <a:buNone/>
            </a:pPr>
            <a:r>
              <a:rPr lang="en-US" dirty="0" smtClean="0"/>
              <a:t>    def __init__(self, </a:t>
            </a:r>
            <a:r>
              <a:rPr lang="en-US" dirty="0" err="1" smtClean="0"/>
              <a:t>input_size</a:t>
            </a:r>
            <a:r>
              <a:rPr lang="en-US" dirty="0" smtClean="0"/>
              <a:t>, </a:t>
            </a:r>
            <a:r>
              <a:rPr lang="en-US" dirty="0" err="1" smtClean="0"/>
              <a:t>learning_rate</a:t>
            </a:r>
            <a:r>
              <a:rPr lang="en-US" dirty="0" smtClean="0"/>
              <a:t>=0.1):</a:t>
            </a:r>
          </a:p>
          <a:p>
            <a:pPr>
              <a:buNone/>
            </a:pPr>
            <a:r>
              <a:rPr lang="en-US" dirty="0" smtClean="0"/>
              <a:t>        # Initialize weights (including one for bias)</a:t>
            </a:r>
          </a:p>
          <a:p>
            <a:pPr>
              <a:buNone/>
            </a:pPr>
            <a:r>
              <a:rPr lang="en-US" dirty="0" smtClean="0"/>
              <a:t>        </a:t>
            </a:r>
            <a:r>
              <a:rPr lang="en-US" dirty="0" err="1" smtClean="0"/>
              <a:t>self.weights</a:t>
            </a:r>
            <a:r>
              <a:rPr lang="en-US" dirty="0" smtClean="0"/>
              <a:t> = </a:t>
            </a:r>
            <a:r>
              <a:rPr lang="en-US" dirty="0" err="1" smtClean="0"/>
              <a:t>np.zeros</a:t>
            </a:r>
            <a:r>
              <a:rPr lang="en-US" dirty="0" smtClean="0"/>
              <a:t>(</a:t>
            </a:r>
            <a:r>
              <a:rPr lang="en-US" dirty="0" err="1" smtClean="0"/>
              <a:t>input_size</a:t>
            </a:r>
            <a:r>
              <a:rPr lang="en-US" dirty="0" smtClean="0"/>
              <a:t> + 1)   # weights = [0.0, 0.0, 0.0]</a:t>
            </a:r>
          </a:p>
          <a:p>
            <a:pPr>
              <a:buNone/>
            </a:pPr>
            <a:r>
              <a:rPr lang="en-US" dirty="0" smtClean="0"/>
              <a:t>        </a:t>
            </a:r>
            <a:r>
              <a:rPr lang="en-US" dirty="0" err="1" smtClean="0"/>
              <a:t>self.learning_rate</a:t>
            </a:r>
            <a:r>
              <a:rPr lang="en-US" dirty="0" smtClean="0"/>
              <a:t> = </a:t>
            </a:r>
            <a:r>
              <a:rPr lang="en-US" dirty="0" err="1" smtClean="0"/>
              <a:t>learning_rate</a:t>
            </a:r>
            <a:endParaRPr lang="en-US" dirty="0" smtClean="0"/>
          </a:p>
          <a:p>
            <a:pPr>
              <a:buNone/>
            </a:pPr>
            <a:endParaRPr lang="en-US" dirty="0" smtClean="0"/>
          </a:p>
          <a:p>
            <a:pPr>
              <a:buNone/>
            </a:pPr>
            <a:r>
              <a:rPr lang="en-US" dirty="0" smtClean="0"/>
              <a:t>    # Method to make predictions</a:t>
            </a:r>
          </a:p>
          <a:p>
            <a:pPr>
              <a:buNone/>
            </a:pPr>
            <a:r>
              <a:rPr lang="en-US" dirty="0" smtClean="0"/>
              <a:t>    def predict(self, inputs):</a:t>
            </a:r>
          </a:p>
          <a:p>
            <a:pPr>
              <a:buNone/>
            </a:pPr>
            <a:r>
              <a:rPr lang="en-US" dirty="0" smtClean="0"/>
              <a:t>        # Add 1 at the beginning of input to represent bias input</a:t>
            </a:r>
          </a:p>
          <a:p>
            <a:pPr>
              <a:buNone/>
            </a:pPr>
            <a:r>
              <a:rPr lang="en-US" dirty="0" smtClean="0"/>
              <a:t>        </a:t>
            </a:r>
            <a:r>
              <a:rPr lang="en-US" dirty="0" err="1" smtClean="0"/>
              <a:t>inputs_with_bias</a:t>
            </a:r>
            <a:r>
              <a:rPr lang="en-US" dirty="0" smtClean="0"/>
              <a:t> = </a:t>
            </a:r>
            <a:r>
              <a:rPr lang="en-US" dirty="0" err="1" smtClean="0"/>
              <a:t>np.insert</a:t>
            </a:r>
            <a:r>
              <a:rPr lang="en-US" dirty="0" smtClean="0"/>
              <a:t>(inputs, 0, 1)      # example : inputs = [0, 1]     </a:t>
            </a:r>
            <a:r>
              <a:rPr lang="en-US" dirty="0" err="1" smtClean="0"/>
              <a:t>inputs_with_bias</a:t>
            </a:r>
            <a:r>
              <a:rPr lang="en-US" dirty="0" smtClean="0"/>
              <a:t> = [1, 0, 1]</a:t>
            </a:r>
          </a:p>
          <a:p>
            <a:pPr>
              <a:buNone/>
            </a:pPr>
            <a:r>
              <a:rPr lang="en-US" dirty="0" smtClean="0"/>
              <a:t>        # Calculate the weighted sum</a:t>
            </a:r>
          </a:p>
          <a:p>
            <a:pPr>
              <a:buNone/>
            </a:pPr>
            <a:r>
              <a:rPr lang="en-US" dirty="0" smtClean="0"/>
              <a:t>        total = np.dot(</a:t>
            </a:r>
            <a:r>
              <a:rPr lang="en-US" dirty="0" err="1" smtClean="0"/>
              <a:t>self.weights</a:t>
            </a:r>
            <a:r>
              <a:rPr lang="en-US" dirty="0" smtClean="0"/>
              <a:t>, </a:t>
            </a:r>
            <a:r>
              <a:rPr lang="en-US" dirty="0" err="1" smtClean="0"/>
              <a:t>inputs_with_bias</a:t>
            </a:r>
            <a:r>
              <a:rPr lang="en-US" dirty="0" smtClean="0"/>
              <a:t>)</a:t>
            </a:r>
          </a:p>
          <a:p>
            <a:pPr>
              <a:buNone/>
            </a:pPr>
            <a:r>
              <a:rPr lang="en-US" dirty="0" smtClean="0"/>
              <a:t>        # Apply step function to decide output</a:t>
            </a:r>
          </a:p>
          <a:p>
            <a:pPr>
              <a:buNone/>
            </a:pPr>
            <a:r>
              <a:rPr lang="en-US" dirty="0" smtClean="0"/>
              <a:t>        return </a:t>
            </a:r>
            <a:r>
              <a:rPr lang="en-US" dirty="0" err="1" smtClean="0"/>
              <a:t>step_function</a:t>
            </a:r>
            <a:r>
              <a:rPr lang="en-US" dirty="0" smtClean="0"/>
              <a:t>(total)</a:t>
            </a:r>
          </a:p>
          <a:p>
            <a:pPr>
              <a:buNone/>
            </a:pPr>
            <a:endParaRPr lang="en-US" dirty="0" smtClean="0"/>
          </a:p>
          <a:p>
            <a:pPr>
              <a:buNone/>
            </a:pPr>
            <a:endParaRPr lang="en-US" dirty="0"/>
          </a:p>
        </p:txBody>
      </p:sp>
      <p:sp>
        <p:nvSpPr>
          <p:cNvPr id="4" name="Rectangle 3"/>
          <p:cNvSpPr/>
          <p:nvPr/>
        </p:nvSpPr>
        <p:spPr>
          <a:xfrm>
            <a:off x="5724128" y="1556792"/>
            <a:ext cx="3419872" cy="2031325"/>
          </a:xfrm>
          <a:prstGeom prst="rect">
            <a:avLst/>
          </a:prstGeom>
        </p:spPr>
        <p:txBody>
          <a:bodyPr wrap="square">
            <a:spAutoFit/>
          </a:bodyPr>
          <a:lstStyle/>
          <a:p>
            <a:pPr>
              <a:buNone/>
            </a:pPr>
            <a:r>
              <a:rPr lang="en-US" b="1" dirty="0" smtClean="0">
                <a:solidFill>
                  <a:srgbClr val="C00000"/>
                </a:solidFill>
              </a:rPr>
              <a:t>a = </a:t>
            </a:r>
            <a:r>
              <a:rPr lang="en-US" b="1" dirty="0" err="1" smtClean="0">
                <a:solidFill>
                  <a:srgbClr val="C00000"/>
                </a:solidFill>
              </a:rPr>
              <a:t>np.array</a:t>
            </a:r>
            <a:r>
              <a:rPr lang="en-US" b="1" dirty="0" smtClean="0">
                <a:solidFill>
                  <a:srgbClr val="C00000"/>
                </a:solidFill>
              </a:rPr>
              <a:t>([a1, a2, a3])</a:t>
            </a:r>
          </a:p>
          <a:p>
            <a:pPr>
              <a:buNone/>
            </a:pPr>
            <a:r>
              <a:rPr lang="en-US" b="1" dirty="0" smtClean="0">
                <a:solidFill>
                  <a:srgbClr val="C00000"/>
                </a:solidFill>
              </a:rPr>
              <a:t>b = </a:t>
            </a:r>
            <a:r>
              <a:rPr lang="en-US" b="1" dirty="0" err="1" smtClean="0">
                <a:solidFill>
                  <a:srgbClr val="C00000"/>
                </a:solidFill>
              </a:rPr>
              <a:t>np.array</a:t>
            </a:r>
            <a:r>
              <a:rPr lang="en-US" b="1" dirty="0" smtClean="0">
                <a:solidFill>
                  <a:srgbClr val="C00000"/>
                </a:solidFill>
              </a:rPr>
              <a:t>([b1, b2, b3])</a:t>
            </a:r>
          </a:p>
          <a:p>
            <a:pPr>
              <a:buNone/>
            </a:pPr>
            <a:endParaRPr lang="en-US" b="1" dirty="0" smtClean="0">
              <a:solidFill>
                <a:srgbClr val="C00000"/>
              </a:solidFill>
            </a:endParaRPr>
          </a:p>
          <a:p>
            <a:pPr>
              <a:buNone/>
            </a:pPr>
            <a:r>
              <a:rPr lang="en-US" b="1" dirty="0" smtClean="0">
                <a:solidFill>
                  <a:srgbClr val="C00000"/>
                </a:solidFill>
              </a:rPr>
              <a:t>result = np.dot(a, b)</a:t>
            </a:r>
          </a:p>
          <a:p>
            <a:pPr>
              <a:buNone/>
            </a:pPr>
            <a:r>
              <a:rPr lang="en-US" b="1" dirty="0" smtClean="0">
                <a:solidFill>
                  <a:srgbClr val="C00000"/>
                </a:solidFill>
              </a:rPr>
              <a:t>This gives:</a:t>
            </a:r>
          </a:p>
          <a:p>
            <a:pPr>
              <a:buNone/>
            </a:pPr>
            <a:endParaRPr lang="en-US" b="1" dirty="0" smtClean="0">
              <a:solidFill>
                <a:srgbClr val="C00000"/>
              </a:solidFill>
            </a:endParaRPr>
          </a:p>
          <a:p>
            <a:pPr>
              <a:buNone/>
            </a:pPr>
            <a:r>
              <a:rPr lang="en-US" b="1" dirty="0" smtClean="0">
                <a:solidFill>
                  <a:srgbClr val="C00000"/>
                </a:solidFill>
              </a:rPr>
              <a:t>result = a1*b1 + a2*b2 + a3*b3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6480720"/>
          </a:xfrm>
        </p:spPr>
        <p:txBody>
          <a:bodyPr numCol="1">
            <a:normAutofit fontScale="40000" lnSpcReduction="20000"/>
          </a:bodyPr>
          <a:lstStyle/>
          <a:p>
            <a:pPr>
              <a:buNone/>
            </a:pPr>
            <a:r>
              <a:rPr lang="en-US" dirty="0" smtClean="0"/>
              <a:t> # Method to train the </a:t>
            </a:r>
            <a:r>
              <a:rPr lang="en-US" dirty="0" err="1" smtClean="0"/>
              <a:t>perceptron</a:t>
            </a:r>
            <a:endParaRPr lang="en-US" dirty="0" smtClean="0"/>
          </a:p>
          <a:p>
            <a:pPr>
              <a:buNone/>
            </a:pPr>
            <a:r>
              <a:rPr lang="en-US" dirty="0" smtClean="0"/>
              <a:t>    def train(self, X, y, epochs=10):</a:t>
            </a:r>
          </a:p>
          <a:p>
            <a:pPr>
              <a:buNone/>
            </a:pPr>
            <a:r>
              <a:rPr lang="en-US" dirty="0" smtClean="0"/>
              <a:t>        for epoch in range(epochs):</a:t>
            </a:r>
          </a:p>
          <a:p>
            <a:pPr>
              <a:buNone/>
            </a:pPr>
            <a:r>
              <a:rPr lang="en-US" dirty="0" smtClean="0"/>
              <a:t>            print(</a:t>
            </a:r>
            <a:r>
              <a:rPr lang="en-US" dirty="0" err="1" smtClean="0"/>
              <a:t>f"Epoch</a:t>
            </a:r>
            <a:r>
              <a:rPr lang="en-US" dirty="0" smtClean="0"/>
              <a:t> {epoch+1}")</a:t>
            </a:r>
          </a:p>
          <a:p>
            <a:pPr>
              <a:buNone/>
            </a:pPr>
            <a:r>
              <a:rPr lang="en-US" dirty="0" smtClean="0"/>
              <a:t>            for </a:t>
            </a:r>
            <a:r>
              <a:rPr lang="en-US" dirty="0" err="1" smtClean="0"/>
              <a:t>i</a:t>
            </a:r>
            <a:r>
              <a:rPr lang="en-US" dirty="0" smtClean="0"/>
              <a:t> in range(</a:t>
            </a:r>
            <a:r>
              <a:rPr lang="en-US" dirty="0" err="1" smtClean="0"/>
              <a:t>len</a:t>
            </a:r>
            <a:r>
              <a:rPr lang="en-US" dirty="0" smtClean="0"/>
              <a:t>(X)):</a:t>
            </a:r>
          </a:p>
          <a:p>
            <a:pPr>
              <a:buNone/>
            </a:pPr>
            <a:r>
              <a:rPr lang="en-US" dirty="0" smtClean="0"/>
              <a:t>                prediction = </a:t>
            </a:r>
            <a:r>
              <a:rPr lang="en-US" dirty="0" err="1" smtClean="0"/>
              <a:t>self.predict</a:t>
            </a:r>
            <a:r>
              <a:rPr lang="en-US" dirty="0" smtClean="0"/>
              <a:t>(X[</a:t>
            </a:r>
            <a:r>
              <a:rPr lang="en-US" dirty="0" err="1" smtClean="0"/>
              <a:t>i</a:t>
            </a:r>
            <a:r>
              <a:rPr lang="en-US" dirty="0" smtClean="0"/>
              <a:t>]) # Predict output</a:t>
            </a:r>
          </a:p>
          <a:p>
            <a:pPr>
              <a:buNone/>
            </a:pPr>
            <a:r>
              <a:rPr lang="en-US" dirty="0" smtClean="0"/>
              <a:t>                error = y[</a:t>
            </a:r>
            <a:r>
              <a:rPr lang="en-US" dirty="0" err="1" smtClean="0"/>
              <a:t>i</a:t>
            </a:r>
            <a:r>
              <a:rPr lang="en-US" dirty="0" smtClean="0"/>
              <a:t>] - prediction       # Calculate error</a:t>
            </a:r>
          </a:p>
          <a:p>
            <a:pPr>
              <a:buNone/>
            </a:pPr>
            <a:r>
              <a:rPr lang="en-US" dirty="0" smtClean="0"/>
              <a:t>                </a:t>
            </a:r>
            <a:r>
              <a:rPr lang="en-US" dirty="0" err="1" smtClean="0"/>
              <a:t>x_with_bias</a:t>
            </a:r>
            <a:r>
              <a:rPr lang="en-US" dirty="0" smtClean="0"/>
              <a:t> = </a:t>
            </a:r>
            <a:r>
              <a:rPr lang="en-US" dirty="0" err="1" smtClean="0"/>
              <a:t>np.insert</a:t>
            </a:r>
            <a:r>
              <a:rPr lang="en-US" dirty="0" smtClean="0"/>
              <a:t>(X[</a:t>
            </a:r>
            <a:r>
              <a:rPr lang="en-US" dirty="0" err="1" smtClean="0"/>
              <a:t>i</a:t>
            </a:r>
            <a:r>
              <a:rPr lang="en-US" dirty="0" smtClean="0"/>
              <a:t>], 0, 1)      # Add bias input</a:t>
            </a:r>
          </a:p>
          <a:p>
            <a:pPr>
              <a:buNone/>
            </a:pPr>
            <a:r>
              <a:rPr lang="en-US" dirty="0" smtClean="0"/>
              <a:t>                # Update weights using learning rule</a:t>
            </a:r>
          </a:p>
          <a:p>
            <a:pPr>
              <a:buNone/>
            </a:pPr>
            <a:r>
              <a:rPr lang="en-US" dirty="0" smtClean="0"/>
              <a:t>                </a:t>
            </a:r>
            <a:r>
              <a:rPr lang="en-US" dirty="0" err="1" smtClean="0"/>
              <a:t>self.weights</a:t>
            </a:r>
            <a:r>
              <a:rPr lang="en-US" dirty="0" smtClean="0"/>
              <a:t> += </a:t>
            </a:r>
            <a:r>
              <a:rPr lang="en-US" dirty="0" err="1" smtClean="0"/>
              <a:t>self.learning_rate</a:t>
            </a:r>
            <a:r>
              <a:rPr lang="en-US" dirty="0" smtClean="0"/>
              <a:t> * error * </a:t>
            </a:r>
            <a:r>
              <a:rPr lang="en-US" dirty="0" err="1" smtClean="0"/>
              <a:t>x_with_bias</a:t>
            </a:r>
            <a:endParaRPr lang="en-US" dirty="0" smtClean="0"/>
          </a:p>
          <a:p>
            <a:pPr>
              <a:buNone/>
            </a:pPr>
            <a:r>
              <a:rPr lang="en-US" dirty="0" smtClean="0"/>
              <a:t>                print(f"  Input: {X[</a:t>
            </a:r>
            <a:r>
              <a:rPr lang="en-US" dirty="0" err="1" smtClean="0"/>
              <a:t>i</a:t>
            </a:r>
            <a:r>
              <a:rPr lang="en-US" dirty="0" smtClean="0"/>
              <a:t>]}, Predicted: {prediction}, Actual: {y[</a:t>
            </a:r>
            <a:r>
              <a:rPr lang="en-US" dirty="0" err="1" smtClean="0"/>
              <a:t>i</a:t>
            </a:r>
            <a:r>
              <a:rPr lang="en-US" dirty="0" smtClean="0"/>
              <a:t>]}, Updated Weights: {</a:t>
            </a:r>
            <a:r>
              <a:rPr lang="en-US" dirty="0" err="1" smtClean="0"/>
              <a:t>self.weights</a:t>
            </a:r>
            <a:r>
              <a:rPr lang="en-US" dirty="0" smtClean="0"/>
              <a:t>}")</a:t>
            </a:r>
          </a:p>
          <a:p>
            <a:pPr>
              <a:buNone/>
            </a:pPr>
            <a:endParaRPr lang="en-US" dirty="0" smtClean="0"/>
          </a:p>
          <a:p>
            <a:pPr>
              <a:buNone/>
            </a:pPr>
            <a:r>
              <a:rPr lang="en-US" dirty="0" smtClean="0"/>
              <a:t># Step 3: Example usage</a:t>
            </a:r>
          </a:p>
          <a:p>
            <a:pPr>
              <a:buNone/>
            </a:pPr>
            <a:r>
              <a:rPr lang="en-US" dirty="0" smtClean="0"/>
              <a:t>if __name__ == "__main__":</a:t>
            </a:r>
          </a:p>
          <a:p>
            <a:pPr>
              <a:buNone/>
            </a:pPr>
            <a:r>
              <a:rPr lang="en-US" dirty="0" smtClean="0"/>
              <a:t>    # Training data for OR logic gate</a:t>
            </a:r>
          </a:p>
          <a:p>
            <a:pPr>
              <a:buNone/>
            </a:pPr>
            <a:r>
              <a:rPr lang="en-US" dirty="0" smtClean="0"/>
              <a:t>    X = </a:t>
            </a:r>
            <a:r>
              <a:rPr lang="en-US" dirty="0" err="1" smtClean="0"/>
              <a:t>np.array</a:t>
            </a:r>
            <a:r>
              <a:rPr lang="en-US" dirty="0" smtClean="0"/>
              <a:t>([</a:t>
            </a:r>
          </a:p>
          <a:p>
            <a:pPr>
              <a:buNone/>
            </a:pPr>
            <a:r>
              <a:rPr lang="en-US" dirty="0" smtClean="0"/>
              <a:t>        [0, 0],</a:t>
            </a:r>
          </a:p>
          <a:p>
            <a:pPr>
              <a:buNone/>
            </a:pPr>
            <a:r>
              <a:rPr lang="en-US" dirty="0" smtClean="0"/>
              <a:t>        [0, 1],</a:t>
            </a:r>
          </a:p>
          <a:p>
            <a:pPr>
              <a:buNone/>
            </a:pPr>
            <a:r>
              <a:rPr lang="en-US" dirty="0" smtClean="0"/>
              <a:t>        [1, 0],</a:t>
            </a:r>
          </a:p>
          <a:p>
            <a:pPr>
              <a:buNone/>
            </a:pPr>
            <a:r>
              <a:rPr lang="en-US" dirty="0" smtClean="0"/>
              <a:t>        [1, 1]</a:t>
            </a:r>
          </a:p>
          <a:p>
            <a:pPr>
              <a:buNone/>
            </a:pPr>
            <a:r>
              <a:rPr lang="en-US" dirty="0" smtClean="0"/>
              <a:t>    ])</a:t>
            </a:r>
          </a:p>
          <a:p>
            <a:pPr>
              <a:buNone/>
            </a:pPr>
            <a:r>
              <a:rPr lang="en-US" dirty="0" smtClean="0"/>
              <a:t>    y = </a:t>
            </a:r>
            <a:r>
              <a:rPr lang="en-US" dirty="0" err="1" smtClean="0"/>
              <a:t>np.array</a:t>
            </a:r>
            <a:r>
              <a:rPr lang="en-US" dirty="0" smtClean="0"/>
              <a:t>([0, 1, 1, 1])  # Correct output of OR gate</a:t>
            </a:r>
          </a:p>
          <a:p>
            <a:pPr>
              <a:buNone/>
            </a:pPr>
            <a:endParaRPr lang="en-US" dirty="0" smtClean="0"/>
          </a:p>
        </p:txBody>
      </p:sp>
      <p:sp>
        <p:nvSpPr>
          <p:cNvPr id="4" name="Content Placeholder 2"/>
          <p:cNvSpPr txBox="1">
            <a:spLocks/>
          </p:cNvSpPr>
          <p:nvPr/>
        </p:nvSpPr>
        <p:spPr>
          <a:xfrm>
            <a:off x="4921696" y="3212976"/>
            <a:ext cx="3970784" cy="2913187"/>
          </a:xfrm>
          <a:prstGeom prst="rect">
            <a:avLst/>
          </a:prstGeom>
        </p:spPr>
        <p:txBody>
          <a:bodyPr vert="horz" lIns="91440" tIns="45720" rIns="91440" bIns="45720" rtlCol="0">
            <a:normAutofit fontScale="40000" lnSpcReduction="20000"/>
          </a:bodyPr>
          <a:lstStyle/>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 Step 4: Create </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perceptron</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and train it</a:t>
            </a: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perceptron</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 </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Perceptron</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input_size</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=2)</a:t>
            </a: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perceptron.train</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(X, y, epochs=10)</a:t>
            </a: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 Step 5: Test the trained </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perceptron</a:t>
            </a:r>
            <a:endPar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print("\</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nFinal</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Predictions:")</a:t>
            </a: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for x in X:</a:t>
            </a: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output = </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perceptron.predict</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(x)</a:t>
            </a:r>
          </a:p>
          <a:p>
            <a:pPr marL="342900" marR="0" lvl="0" indent="-342900" algn="l" defTabSz="914400" rtl="0" eaLnBrk="1" fontAlgn="auto" latinLnBrk="0" hangingPunct="1">
              <a:lnSpc>
                <a:spcPct val="150000"/>
              </a:lnSpc>
              <a:spcBef>
                <a:spcPts val="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print(</a:t>
            </a:r>
            <a:r>
              <a:rPr kumimoji="0" lang="en-US" sz="32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f"Input</a:t>
            </a:r>
            <a:r>
              <a:rPr kumimoji="0" lang="en-US"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{x}, Predicted Output: {output}")</a:t>
            </a: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76801" name="Rectangle 1"/>
          <p:cNvSpPr>
            <a:spLocks noChangeArrowheads="1"/>
          </p:cNvSpPr>
          <p:nvPr/>
        </p:nvSpPr>
        <p:spPr bwMode="auto">
          <a:xfrm>
            <a:off x="5436096" y="315813"/>
            <a:ext cx="3528392" cy="116955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C00000"/>
                </a:solidFill>
                <a:effectLst/>
                <a:latin typeface="Times New Roman" pitchFamily="18" charset="0"/>
                <a:cs typeface="Times New Roman" pitchFamily="18" charset="0"/>
              </a:rPr>
              <a:t>Weight Update Rule in </a:t>
            </a:r>
            <a:r>
              <a:rPr kumimoji="0" lang="en-US" sz="1400" b="1" i="0" u="none" strike="noStrike" cap="none" normalizeH="0" baseline="0" dirty="0" err="1" smtClean="0">
                <a:ln>
                  <a:noFill/>
                </a:ln>
                <a:solidFill>
                  <a:srgbClr val="C00000"/>
                </a:solidFill>
                <a:effectLst/>
                <a:latin typeface="Times New Roman" pitchFamily="18" charset="0"/>
                <a:cs typeface="Times New Roman" pitchFamily="18" charset="0"/>
              </a:rPr>
              <a:t>Perceptron</a:t>
            </a:r>
            <a:endParaRPr kumimoji="0" lang="en-US" sz="1400" b="1" i="0" u="none" strike="noStrike" cap="none" normalizeH="0" baseline="0" dirty="0" smtClean="0">
              <a:ln>
                <a:noFill/>
              </a:ln>
              <a:solidFill>
                <a:srgbClr val="C00000"/>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rgbClr val="C0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C00000"/>
                </a:solidFill>
                <a:effectLst/>
                <a:latin typeface="Times New Roman" pitchFamily="18" charset="0"/>
                <a:cs typeface="Times New Roman" pitchFamily="18" charset="0"/>
              </a:rPr>
              <a:t>In your training loop: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rgbClr val="C0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rgbClr val="C00000"/>
                </a:solidFill>
                <a:effectLst/>
                <a:latin typeface="Times New Roman" pitchFamily="18" charset="0"/>
                <a:cs typeface="Times New Roman" pitchFamily="18" charset="0"/>
              </a:rPr>
              <a:t>self.weights</a:t>
            </a:r>
            <a:r>
              <a:rPr kumimoji="0" lang="en-US" sz="1400" b="1" i="0" u="none" strike="noStrike" cap="none" normalizeH="0" baseline="0" dirty="0" smtClean="0">
                <a:ln>
                  <a:noFill/>
                </a:ln>
                <a:solidFill>
                  <a:srgbClr val="C00000"/>
                </a:solidFill>
                <a:effectLst/>
                <a:latin typeface="Times New Roman" pitchFamily="18" charset="0"/>
                <a:cs typeface="Times New Roman" pitchFamily="18" charset="0"/>
              </a:rPr>
              <a:t> += self.lr * error * </a:t>
            </a:r>
            <a:r>
              <a:rPr kumimoji="0" lang="en-US" sz="1400" b="1" i="0" u="none" strike="noStrike" cap="none" normalizeH="0" baseline="0" dirty="0" err="1" smtClean="0">
                <a:ln>
                  <a:noFill/>
                </a:ln>
                <a:solidFill>
                  <a:srgbClr val="C00000"/>
                </a:solidFill>
                <a:effectLst/>
                <a:latin typeface="Times New Roman" pitchFamily="18" charset="0"/>
                <a:cs typeface="Times New Roman" pitchFamily="18" charset="0"/>
              </a:rPr>
              <a:t>x_with_bias</a:t>
            </a:r>
            <a:endParaRPr kumimoji="0" lang="en-US" sz="1400" b="1" i="0" u="none" strike="noStrike" cap="none" normalizeH="0" baseline="0" dirty="0" smtClean="0">
              <a:ln>
                <a:noFill/>
              </a:ln>
              <a:solidFill>
                <a:srgbClr val="C00000"/>
              </a:solidFill>
              <a:effectLst/>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74042"/>
          </a:xfrm>
        </p:spPr>
        <p:txBody>
          <a:bodyPr>
            <a:normAutofit fontScale="90000"/>
          </a:bodyPr>
          <a:lstStyle/>
          <a:p>
            <a:r>
              <a:rPr lang="en-US" dirty="0" smtClean="0"/>
              <a:t>Key terms</a:t>
            </a:r>
            <a:endParaRPr lang="en-US" dirty="0"/>
          </a:p>
        </p:txBody>
      </p:sp>
      <p:sp>
        <p:nvSpPr>
          <p:cNvPr id="3" name="Content Placeholder 2"/>
          <p:cNvSpPr>
            <a:spLocks noGrp="1"/>
          </p:cNvSpPr>
          <p:nvPr>
            <p:ph idx="1"/>
          </p:nvPr>
        </p:nvSpPr>
        <p:spPr>
          <a:xfrm>
            <a:off x="179512" y="620688"/>
            <a:ext cx="8507288" cy="5760640"/>
          </a:xfrm>
        </p:spPr>
        <p:txBody>
          <a:bodyPr numCol="2">
            <a:noAutofit/>
          </a:bodyPr>
          <a:lstStyle/>
          <a:p>
            <a:pPr>
              <a:buNone/>
            </a:pPr>
            <a:r>
              <a:rPr lang="en-US" sz="1200" b="1" dirty="0" smtClean="0"/>
              <a:t>1. Bias</a:t>
            </a:r>
          </a:p>
          <a:p>
            <a:pPr>
              <a:buNone/>
            </a:pPr>
            <a:r>
              <a:rPr lang="en-US" sz="1200" dirty="0" smtClean="0"/>
              <a:t>Bias is an </a:t>
            </a:r>
            <a:r>
              <a:rPr lang="en-US" sz="1200" b="1" dirty="0" smtClean="0"/>
              <a:t>extra constant</a:t>
            </a:r>
            <a:r>
              <a:rPr lang="en-US" sz="1200" dirty="0" smtClean="0"/>
              <a:t> added to the weighted sum of inputs before applying the activation function.</a:t>
            </a:r>
          </a:p>
          <a:p>
            <a:pPr>
              <a:buNone/>
            </a:pPr>
            <a:r>
              <a:rPr lang="en-US" sz="1200" dirty="0" smtClean="0"/>
              <a:t>It allows the model to </a:t>
            </a:r>
            <a:r>
              <a:rPr lang="en-US" sz="1200" b="1" dirty="0" smtClean="0"/>
              <a:t>shift the decision boundary</a:t>
            </a:r>
            <a:r>
              <a:rPr lang="en-US" sz="1200" dirty="0" smtClean="0"/>
              <a:t> (like the "intercept" in a straight line y = </a:t>
            </a:r>
            <a:r>
              <a:rPr lang="en-US" sz="1200" dirty="0" err="1" smtClean="0"/>
              <a:t>mx</a:t>
            </a:r>
            <a:r>
              <a:rPr lang="en-US" sz="1200" dirty="0" smtClean="0"/>
              <a:t> + b).</a:t>
            </a:r>
          </a:p>
          <a:p>
            <a:pPr>
              <a:buNone/>
            </a:pPr>
            <a:r>
              <a:rPr lang="en-US" sz="1200" dirty="0" smtClean="0"/>
              <a:t> </a:t>
            </a:r>
            <a:r>
              <a:rPr lang="en-US" sz="1200" b="1" dirty="0" smtClean="0"/>
              <a:t>Without bias</a:t>
            </a:r>
            <a:r>
              <a:rPr lang="en-US" sz="1200" dirty="0" smtClean="0"/>
              <a:t>, the model would always have to pass through the origin (0,0), limiting flexibility.</a:t>
            </a:r>
          </a:p>
          <a:p>
            <a:pPr>
              <a:buNone/>
            </a:pPr>
            <a:endParaRPr lang="en-US" sz="1200" dirty="0" smtClean="0"/>
          </a:p>
          <a:p>
            <a:pPr>
              <a:buNone/>
            </a:pPr>
            <a:r>
              <a:rPr lang="en-US" sz="1200" b="1" dirty="0" smtClean="0"/>
              <a:t> 2. Weights</a:t>
            </a:r>
          </a:p>
          <a:p>
            <a:pPr>
              <a:buNone/>
            </a:pPr>
            <a:r>
              <a:rPr lang="en-US" sz="1200" dirty="0" smtClean="0"/>
              <a:t>Weights are </a:t>
            </a:r>
            <a:r>
              <a:rPr lang="en-US" sz="1200" b="1" dirty="0" smtClean="0"/>
              <a:t>multipliers</a:t>
            </a:r>
            <a:r>
              <a:rPr lang="en-US" sz="1200" dirty="0" smtClean="0"/>
              <a:t> applied to each input feature.</a:t>
            </a:r>
          </a:p>
          <a:p>
            <a:pPr>
              <a:buNone/>
            </a:pPr>
            <a:r>
              <a:rPr lang="en-US" sz="1200" dirty="0" smtClean="0"/>
              <a:t>They determine </a:t>
            </a:r>
            <a:r>
              <a:rPr lang="en-US" sz="1200" b="1" dirty="0" smtClean="0"/>
              <a:t>how important</a:t>
            </a:r>
            <a:r>
              <a:rPr lang="en-US" sz="1200" dirty="0" smtClean="0"/>
              <a:t> each input is in predicting the output.</a:t>
            </a:r>
          </a:p>
          <a:p>
            <a:pPr>
              <a:buNone/>
            </a:pPr>
            <a:r>
              <a:rPr lang="en-US" sz="1200" dirty="0" smtClean="0"/>
              <a:t>Example:</a:t>
            </a:r>
          </a:p>
          <a:p>
            <a:pPr>
              <a:buNone/>
            </a:pPr>
            <a:r>
              <a:rPr lang="en-US" sz="1200" dirty="0" smtClean="0"/>
              <a:t>output = weight1 * input1 + weight2 * input2 + bias </a:t>
            </a:r>
          </a:p>
          <a:p>
            <a:pPr>
              <a:buNone/>
            </a:pPr>
            <a:endParaRPr lang="en-US" sz="1200" dirty="0" smtClean="0"/>
          </a:p>
          <a:p>
            <a:pPr>
              <a:buNone/>
            </a:pPr>
            <a:r>
              <a:rPr lang="en-US" sz="1200" b="1" dirty="0" smtClean="0"/>
              <a:t> 3. Learning Rate (η)</a:t>
            </a:r>
          </a:p>
          <a:p>
            <a:pPr>
              <a:buNone/>
            </a:pPr>
            <a:r>
              <a:rPr lang="en-US" sz="1200" dirty="0" smtClean="0"/>
              <a:t>The </a:t>
            </a:r>
            <a:r>
              <a:rPr lang="en-US" sz="1200" b="1" dirty="0" smtClean="0"/>
              <a:t>learning rate</a:t>
            </a:r>
            <a:r>
              <a:rPr lang="en-US" sz="1200" dirty="0" smtClean="0"/>
              <a:t> controls </a:t>
            </a:r>
            <a:r>
              <a:rPr lang="en-US" sz="1200" b="1" dirty="0" smtClean="0"/>
              <a:t>how big the step</a:t>
            </a:r>
            <a:r>
              <a:rPr lang="en-US" sz="1200" dirty="0" smtClean="0"/>
              <a:t> is when updating the weights during training.</a:t>
            </a:r>
          </a:p>
          <a:p>
            <a:pPr>
              <a:buNone/>
            </a:pPr>
            <a:r>
              <a:rPr lang="en-US" sz="1200" dirty="0" smtClean="0"/>
              <a:t>A small value = slow learning; large value = faster but risk of overshooting. defined before training (like learning rate, epochs)</a:t>
            </a:r>
          </a:p>
          <a:p>
            <a:pPr>
              <a:buNone/>
            </a:pPr>
            <a:endParaRPr lang="en-US" sz="1200" dirty="0" smtClean="0"/>
          </a:p>
          <a:p>
            <a:pPr>
              <a:buNone/>
            </a:pPr>
            <a:r>
              <a:rPr lang="en-US" sz="1200" dirty="0" smtClean="0"/>
              <a:t>Example: </a:t>
            </a:r>
            <a:r>
              <a:rPr lang="en-US" sz="1200" dirty="0" err="1" smtClean="0"/>
              <a:t>new_weight</a:t>
            </a:r>
            <a:r>
              <a:rPr lang="en-US" sz="1200" dirty="0" smtClean="0"/>
              <a:t> = </a:t>
            </a:r>
            <a:r>
              <a:rPr lang="en-US" sz="1200" dirty="0" err="1" smtClean="0"/>
              <a:t>old_weight</a:t>
            </a:r>
            <a:r>
              <a:rPr lang="en-US" sz="1200" dirty="0" smtClean="0"/>
              <a:t> + </a:t>
            </a:r>
            <a:r>
              <a:rPr lang="en-US" sz="1200" dirty="0" err="1" smtClean="0"/>
              <a:t>learning_rate</a:t>
            </a:r>
            <a:r>
              <a:rPr lang="en-US" sz="1200" dirty="0" smtClean="0"/>
              <a:t> × error × input </a:t>
            </a:r>
          </a:p>
          <a:p>
            <a:pPr>
              <a:buNone/>
            </a:pPr>
            <a:endParaRPr lang="en-US" sz="1200" dirty="0" smtClean="0"/>
          </a:p>
          <a:p>
            <a:pPr>
              <a:buNone/>
            </a:pPr>
            <a:r>
              <a:rPr lang="en-US" sz="1200" b="1" dirty="0" smtClean="0"/>
              <a:t> 4. Training</a:t>
            </a:r>
          </a:p>
          <a:p>
            <a:pPr>
              <a:buNone/>
            </a:pPr>
            <a:r>
              <a:rPr lang="en-US" sz="1200" dirty="0" smtClean="0"/>
              <a:t>Training is the </a:t>
            </a:r>
            <a:r>
              <a:rPr lang="en-US" sz="1200" b="1" dirty="0" smtClean="0"/>
              <a:t>process of teaching</a:t>
            </a:r>
            <a:r>
              <a:rPr lang="en-US" sz="1200" dirty="0" smtClean="0"/>
              <a:t> the model by showing it examples (inputs with correct outputs).</a:t>
            </a:r>
          </a:p>
          <a:p>
            <a:pPr>
              <a:buNone/>
            </a:pPr>
            <a:r>
              <a:rPr lang="en-US" sz="1200" dirty="0" smtClean="0"/>
              <a:t>During training, the model:</a:t>
            </a:r>
          </a:p>
          <a:p>
            <a:pPr lvl="1">
              <a:buNone/>
            </a:pPr>
            <a:r>
              <a:rPr lang="en-US" sz="1200" dirty="0" smtClean="0"/>
              <a:t>Makes predictions</a:t>
            </a:r>
          </a:p>
          <a:p>
            <a:pPr lvl="1">
              <a:buNone/>
            </a:pPr>
            <a:r>
              <a:rPr lang="en-US" sz="1200" dirty="0" smtClean="0"/>
              <a:t>Compares predictions to actual output (using loss)</a:t>
            </a:r>
          </a:p>
          <a:p>
            <a:pPr lvl="1">
              <a:buNone/>
            </a:pPr>
            <a:r>
              <a:rPr lang="en-US" sz="1200" dirty="0" smtClean="0"/>
              <a:t>Updates weights and bias to reduce error</a:t>
            </a:r>
          </a:p>
          <a:p>
            <a:pPr lvl="1">
              <a:buNone/>
            </a:pPr>
            <a:endParaRPr lang="en-US" sz="1200" dirty="0" smtClean="0"/>
          </a:p>
          <a:p>
            <a:pPr>
              <a:buNone/>
            </a:pPr>
            <a:r>
              <a:rPr lang="en-US" sz="1200" b="1" dirty="0" smtClean="0"/>
              <a:t> 5. Compile (in </a:t>
            </a:r>
            <a:r>
              <a:rPr lang="en-US" sz="1200" b="1" dirty="0" err="1" smtClean="0"/>
              <a:t>Keras</a:t>
            </a:r>
            <a:r>
              <a:rPr lang="en-US" sz="1200" b="1" dirty="0" smtClean="0"/>
              <a:t>/</a:t>
            </a:r>
            <a:r>
              <a:rPr lang="en-US" sz="1200" b="1" dirty="0" err="1" smtClean="0"/>
              <a:t>TensorFlow</a:t>
            </a:r>
            <a:r>
              <a:rPr lang="en-US" sz="1200" b="1" dirty="0" smtClean="0"/>
              <a:t>)</a:t>
            </a:r>
          </a:p>
          <a:p>
            <a:pPr>
              <a:buNone/>
            </a:pPr>
            <a:r>
              <a:rPr lang="en-US" sz="1200" dirty="0" err="1" smtClean="0"/>
              <a:t>model.compile</a:t>
            </a:r>
            <a:r>
              <a:rPr lang="en-US" sz="1200" dirty="0" smtClean="0"/>
              <a:t>() is a function to set:</a:t>
            </a:r>
          </a:p>
          <a:p>
            <a:pPr lvl="1">
              <a:buNone/>
            </a:pPr>
            <a:r>
              <a:rPr lang="en-US" sz="1200" b="1" dirty="0" smtClean="0"/>
              <a:t>Loss function</a:t>
            </a:r>
            <a:r>
              <a:rPr lang="en-US" sz="1200" dirty="0" smtClean="0"/>
              <a:t> (how to measure error)</a:t>
            </a:r>
          </a:p>
          <a:p>
            <a:pPr lvl="1">
              <a:buNone/>
            </a:pPr>
            <a:r>
              <a:rPr lang="en-US" sz="1200" b="1" dirty="0" smtClean="0"/>
              <a:t>Optimizer</a:t>
            </a:r>
            <a:r>
              <a:rPr lang="en-US" sz="1200" dirty="0" smtClean="0"/>
              <a:t> (how to update weights)</a:t>
            </a:r>
          </a:p>
          <a:p>
            <a:pPr lvl="1">
              <a:buNone/>
            </a:pPr>
            <a:r>
              <a:rPr lang="en-US" sz="1200" b="1" dirty="0" smtClean="0"/>
              <a:t>Metrics</a:t>
            </a:r>
            <a:r>
              <a:rPr lang="en-US" sz="1200" dirty="0" smtClean="0"/>
              <a:t> (what performance to track)</a:t>
            </a:r>
          </a:p>
          <a:p>
            <a:pPr>
              <a:buNone/>
            </a:pPr>
            <a:r>
              <a:rPr lang="en-US" sz="1200" dirty="0" err="1" smtClean="0"/>
              <a:t>model.compile</a:t>
            </a:r>
            <a:r>
              <a:rPr lang="en-US" sz="1200" dirty="0" smtClean="0"/>
              <a:t>(loss='</a:t>
            </a:r>
            <a:r>
              <a:rPr lang="en-US" sz="1200" dirty="0" err="1" smtClean="0"/>
              <a:t>binary_crossentropy</a:t>
            </a:r>
            <a:r>
              <a:rPr lang="en-US" sz="1200" dirty="0" smtClean="0"/>
              <a:t>', optimizer='</a:t>
            </a:r>
            <a:r>
              <a:rPr lang="en-US" sz="1200" dirty="0" err="1" smtClean="0"/>
              <a:t>adam</a:t>
            </a:r>
            <a:r>
              <a:rPr lang="en-US" sz="1200" dirty="0" smtClean="0"/>
              <a:t>', metrics=['accuracy']) </a:t>
            </a:r>
          </a:p>
          <a:p>
            <a:pPr>
              <a:buNone/>
            </a:pPr>
            <a:endParaRPr lang="en-US" sz="1200" dirty="0" smtClean="0"/>
          </a:p>
          <a:p>
            <a:pPr>
              <a:buNone/>
            </a:pPr>
            <a:r>
              <a:rPr lang="en-US" sz="1200" b="1" dirty="0" smtClean="0"/>
              <a:t> 6. Loss Function</a:t>
            </a:r>
          </a:p>
          <a:p>
            <a:pPr>
              <a:buNone/>
            </a:pPr>
            <a:r>
              <a:rPr lang="en-US" sz="1200" dirty="0" smtClean="0"/>
              <a:t>A </a:t>
            </a:r>
            <a:r>
              <a:rPr lang="en-US" sz="1200" b="1" dirty="0" smtClean="0"/>
              <a:t>loss function</a:t>
            </a:r>
            <a:r>
              <a:rPr lang="en-US" sz="1200" dirty="0" smtClean="0"/>
              <a:t> tells the model </a:t>
            </a:r>
            <a:r>
              <a:rPr lang="en-US" sz="1200" b="1" dirty="0" smtClean="0"/>
              <a:t>how wrong</a:t>
            </a:r>
            <a:r>
              <a:rPr lang="en-US" sz="1200" dirty="0" smtClean="0"/>
              <a:t> its prediction is.</a:t>
            </a:r>
          </a:p>
          <a:p>
            <a:pPr>
              <a:buNone/>
            </a:pPr>
            <a:r>
              <a:rPr lang="en-US" sz="1200" dirty="0" smtClean="0"/>
              <a:t>Goal of training: </a:t>
            </a:r>
            <a:r>
              <a:rPr lang="en-US" sz="1200" b="1" dirty="0" smtClean="0"/>
              <a:t>minimize loss</a:t>
            </a:r>
          </a:p>
          <a:p>
            <a:pPr>
              <a:buNone/>
            </a:pPr>
            <a:endParaRPr lang="en-US" sz="12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US" dirty="0" smtClean="0"/>
              <a:t>Bias – to understand</a:t>
            </a:r>
            <a:endParaRPr lang="en-US" dirty="0"/>
          </a:p>
        </p:txBody>
      </p:sp>
      <p:sp>
        <p:nvSpPr>
          <p:cNvPr id="3" name="Content Placeholder 2"/>
          <p:cNvSpPr>
            <a:spLocks noGrp="1"/>
          </p:cNvSpPr>
          <p:nvPr>
            <p:ph idx="1"/>
          </p:nvPr>
        </p:nvSpPr>
        <p:spPr>
          <a:xfrm>
            <a:off x="323528" y="980728"/>
            <a:ext cx="8568952" cy="5616624"/>
          </a:xfrm>
        </p:spPr>
        <p:txBody>
          <a:bodyPr>
            <a:normAutofit/>
          </a:bodyPr>
          <a:lstStyle/>
          <a:p>
            <a:pPr>
              <a:buNone/>
            </a:pPr>
            <a:r>
              <a:rPr lang="en-US" sz="1600" b="1" dirty="0" smtClean="0"/>
              <a:t>:Making Tea with a Gas Stove</a:t>
            </a:r>
          </a:p>
          <a:p>
            <a:r>
              <a:rPr lang="en-US" sz="1600" dirty="0" smtClean="0"/>
              <a:t>To </a:t>
            </a:r>
            <a:r>
              <a:rPr lang="en-US" sz="1600" b="1" dirty="0" smtClean="0"/>
              <a:t>make tea</a:t>
            </a:r>
            <a:r>
              <a:rPr lang="en-US" sz="1600" dirty="0" smtClean="0"/>
              <a:t>, you need to </a:t>
            </a:r>
            <a:r>
              <a:rPr lang="en-US" sz="1600" b="1" dirty="0" smtClean="0"/>
              <a:t>turn the gas knob</a:t>
            </a:r>
            <a:r>
              <a:rPr lang="en-US" sz="1600" dirty="0" smtClean="0"/>
              <a:t>.</a:t>
            </a:r>
          </a:p>
          <a:p>
            <a:r>
              <a:rPr lang="en-US" sz="1600" dirty="0" smtClean="0"/>
              <a:t>But you can’t just lightly touch it — you must </a:t>
            </a:r>
            <a:r>
              <a:rPr lang="en-US" sz="1600" b="1" dirty="0" smtClean="0"/>
              <a:t>turn it past a certain point</a:t>
            </a:r>
            <a:r>
              <a:rPr lang="en-US" sz="1600" dirty="0" smtClean="0"/>
              <a:t> before the </a:t>
            </a:r>
            <a:r>
              <a:rPr lang="en-US" sz="1600" b="1" dirty="0" smtClean="0"/>
              <a:t>flame</a:t>
            </a:r>
            <a:r>
              <a:rPr lang="en-US" sz="1600" dirty="0" smtClean="0"/>
              <a:t> turns on.</a:t>
            </a:r>
          </a:p>
          <a:p>
            <a:r>
              <a:rPr lang="en-US" sz="1600" dirty="0" smtClean="0">
                <a:solidFill>
                  <a:srgbClr val="0000FF"/>
                </a:solidFill>
              </a:rPr>
              <a:t>That </a:t>
            </a:r>
            <a:r>
              <a:rPr lang="en-US" sz="1600" b="1" dirty="0" smtClean="0">
                <a:solidFill>
                  <a:srgbClr val="0000FF"/>
                </a:solidFill>
              </a:rPr>
              <a:t>initial push you need before the gas stove lights up</a:t>
            </a:r>
            <a:r>
              <a:rPr lang="en-US" sz="1600" dirty="0" smtClean="0"/>
              <a:t/>
            </a:r>
            <a:br>
              <a:rPr lang="en-US" sz="1600" dirty="0" smtClean="0"/>
            </a:br>
            <a:endParaRPr lang="en-US" sz="1600" dirty="0" smtClean="0"/>
          </a:p>
          <a:p>
            <a:r>
              <a:rPr lang="en-US" sz="1600" dirty="0" smtClean="0"/>
              <a:t>The </a:t>
            </a:r>
            <a:r>
              <a:rPr lang="en-US" sz="1600" b="1" dirty="0" smtClean="0"/>
              <a:t>ingredients (milk, tea, sugar)</a:t>
            </a:r>
            <a:r>
              <a:rPr lang="en-US" sz="1600" dirty="0" smtClean="0"/>
              <a:t> are like the </a:t>
            </a:r>
            <a:r>
              <a:rPr lang="en-US" sz="1600" b="1" dirty="0" smtClean="0"/>
              <a:t>inputs x1,x2,x3.</a:t>
            </a:r>
            <a:endParaRPr lang="en-US" sz="1600" dirty="0" smtClean="0"/>
          </a:p>
          <a:p>
            <a:r>
              <a:rPr lang="en-US" sz="1600" dirty="0" smtClean="0"/>
              <a:t>The </a:t>
            </a:r>
            <a:r>
              <a:rPr lang="en-US" sz="1600" b="1" dirty="0" smtClean="0"/>
              <a:t>heat</a:t>
            </a:r>
            <a:r>
              <a:rPr lang="en-US" sz="1600" dirty="0" smtClean="0"/>
              <a:t> (final output) depends on how you mix the ingredients </a:t>
            </a:r>
            <a:r>
              <a:rPr lang="en-US" sz="1600" b="1" dirty="0" smtClean="0"/>
              <a:t>AND</a:t>
            </a:r>
            <a:r>
              <a:rPr lang="en-US" sz="1600" dirty="0" smtClean="0"/>
              <a:t> whether the </a:t>
            </a:r>
            <a:r>
              <a:rPr lang="en-US" sz="1600" b="1" dirty="0" smtClean="0"/>
              <a:t>flame turns on</a:t>
            </a:r>
            <a:r>
              <a:rPr lang="en-US" sz="1600" dirty="0" smtClean="0"/>
              <a:t>.</a:t>
            </a:r>
          </a:p>
          <a:p>
            <a:r>
              <a:rPr lang="en-US" sz="1600" dirty="0" smtClean="0"/>
              <a:t>Even if the ingredients are correct, the stove won’t light unless you </a:t>
            </a:r>
            <a:r>
              <a:rPr lang="en-US" sz="1600" b="1" dirty="0" smtClean="0"/>
              <a:t>pass a minimum threshold</a:t>
            </a:r>
            <a:r>
              <a:rPr lang="en-US" sz="1600" dirty="0" smtClean="0"/>
              <a:t> — that’s the </a:t>
            </a:r>
            <a:r>
              <a:rPr lang="en-US" sz="1600" b="1" dirty="0" smtClean="0"/>
              <a:t>bias</a:t>
            </a:r>
            <a:r>
              <a:rPr lang="en-US" sz="1600" dirty="0" smtClean="0"/>
              <a:t>.</a:t>
            </a:r>
          </a:p>
          <a:p>
            <a:pPr>
              <a:buNone/>
            </a:pPr>
            <a:r>
              <a:rPr lang="en-US" sz="1600" b="1" dirty="0" smtClean="0"/>
              <a:t> In Neural Networks:</a:t>
            </a:r>
          </a:p>
          <a:p>
            <a:r>
              <a:rPr lang="en-US" sz="1600" b="1" dirty="0" smtClean="0">
                <a:solidFill>
                  <a:srgbClr val="0000FF"/>
                </a:solidFill>
              </a:rPr>
              <a:t>Bias lets the model "ignite" or activate even when the weighted inputs are small or zero.</a:t>
            </a:r>
          </a:p>
          <a:p>
            <a:r>
              <a:rPr lang="en-US" sz="1600" dirty="0" smtClean="0"/>
              <a:t>Without it, the neuron is like a stove that can only turn on </a:t>
            </a:r>
            <a:r>
              <a:rPr lang="en-US" sz="1600" b="1" dirty="0" smtClean="0"/>
              <a:t>if inputs are perfect</a:t>
            </a:r>
            <a:r>
              <a:rPr lang="en-US" sz="1600" dirty="0" smtClean="0"/>
              <a:t>, which is very limiting.</a:t>
            </a:r>
          </a:p>
          <a:p>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cstate="print"/>
          <a:srcRect/>
          <a:stretch>
            <a:fillRect/>
          </a:stretch>
        </p:blipFill>
        <p:spPr bwMode="auto">
          <a:xfrm>
            <a:off x="323528" y="2780928"/>
            <a:ext cx="6480720" cy="3951659"/>
          </a:xfrm>
          <a:prstGeom prst="rect">
            <a:avLst/>
          </a:prstGeom>
          <a:noFill/>
          <a:ln w="9525">
            <a:noFill/>
            <a:miter lim="800000"/>
            <a:headEnd/>
            <a:tailEnd/>
          </a:ln>
        </p:spPr>
      </p:pic>
      <p:pic>
        <p:nvPicPr>
          <p:cNvPr id="78852" name="Picture 4"/>
          <p:cNvPicPr>
            <a:picLocks noChangeAspect="1" noChangeArrowheads="1"/>
          </p:cNvPicPr>
          <p:nvPr/>
        </p:nvPicPr>
        <p:blipFill>
          <a:blip r:embed="rId3" cstate="print"/>
          <a:srcRect/>
          <a:stretch>
            <a:fillRect/>
          </a:stretch>
        </p:blipFill>
        <p:spPr bwMode="auto">
          <a:xfrm>
            <a:off x="755576" y="116632"/>
            <a:ext cx="6915150" cy="20859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640960" cy="5112568"/>
          </a:xfrm>
        </p:spPr>
        <p:txBody>
          <a:bodyPr numCol="2">
            <a:noAutofit/>
          </a:bodyPr>
          <a:lstStyle/>
          <a:p>
            <a:pPr>
              <a:buNone/>
            </a:pPr>
            <a:r>
              <a:rPr lang="en-US" sz="1200" dirty="0" smtClean="0"/>
              <a:t>A </a:t>
            </a:r>
            <a:r>
              <a:rPr lang="en-US" sz="1200" b="1" dirty="0" smtClean="0"/>
              <a:t>threshold value</a:t>
            </a:r>
            <a:r>
              <a:rPr lang="en-US" sz="1200" dirty="0" smtClean="0"/>
              <a:t> is a </a:t>
            </a:r>
            <a:r>
              <a:rPr lang="en-US" sz="1200" b="1" dirty="0" smtClean="0"/>
              <a:t>cut-off point</a:t>
            </a:r>
            <a:r>
              <a:rPr lang="en-US" sz="1200" dirty="0" smtClean="0"/>
              <a:t> the model uses to decide:</a:t>
            </a:r>
          </a:p>
          <a:p>
            <a:pPr>
              <a:buNone/>
            </a:pPr>
            <a:r>
              <a:rPr lang="en-US" sz="1200" dirty="0" smtClean="0"/>
              <a:t>Should the output be </a:t>
            </a:r>
            <a:r>
              <a:rPr lang="en-US" sz="1200" b="1" dirty="0" smtClean="0"/>
              <a:t>1 (yes)</a:t>
            </a:r>
            <a:r>
              <a:rPr lang="en-US" sz="1200" dirty="0" smtClean="0"/>
              <a:t> or </a:t>
            </a:r>
            <a:r>
              <a:rPr lang="en-US" sz="1200" b="1" dirty="0" smtClean="0"/>
              <a:t>0 (no)</a:t>
            </a:r>
            <a:r>
              <a:rPr lang="en-US" sz="1200" dirty="0" smtClean="0"/>
              <a:t>?</a:t>
            </a:r>
          </a:p>
          <a:p>
            <a:pPr>
              <a:buNone/>
            </a:pPr>
            <a:endParaRPr lang="en-US" sz="1200" dirty="0" smtClean="0"/>
          </a:p>
          <a:p>
            <a:pPr>
              <a:buNone/>
            </a:pPr>
            <a:r>
              <a:rPr lang="en-US" sz="1200" dirty="0" smtClean="0"/>
              <a:t>You need at least </a:t>
            </a:r>
            <a:r>
              <a:rPr lang="en-US" sz="1200" b="1" dirty="0" smtClean="0"/>
              <a:t>40 marks</a:t>
            </a:r>
            <a:r>
              <a:rPr lang="en-US" sz="1200" dirty="0" smtClean="0"/>
              <a:t> to pass.</a:t>
            </a:r>
          </a:p>
          <a:p>
            <a:pPr>
              <a:buNone/>
            </a:pPr>
            <a:r>
              <a:rPr lang="en-US" sz="1200" dirty="0" smtClean="0"/>
              <a:t>Here, </a:t>
            </a:r>
            <a:r>
              <a:rPr lang="en-US" sz="1200" b="1" dirty="0" smtClean="0"/>
              <a:t>40</a:t>
            </a:r>
            <a:r>
              <a:rPr lang="en-US" sz="1200" dirty="0" smtClean="0"/>
              <a:t> is the </a:t>
            </a:r>
            <a:r>
              <a:rPr lang="en-US" sz="1200" b="1" dirty="0" smtClean="0"/>
              <a:t>threshold</a:t>
            </a:r>
            <a:r>
              <a:rPr lang="en-US" sz="1200" dirty="0" smtClean="0"/>
              <a:t>.</a:t>
            </a:r>
          </a:p>
          <a:p>
            <a:pPr>
              <a:buNone/>
            </a:pPr>
            <a:r>
              <a:rPr lang="en-US" sz="1200" dirty="0" smtClean="0"/>
              <a:t>If you score 45 → you pass (1)</a:t>
            </a:r>
            <a:br>
              <a:rPr lang="en-US" sz="1200" dirty="0" smtClean="0"/>
            </a:br>
            <a:r>
              <a:rPr lang="en-US" sz="1200" dirty="0" smtClean="0"/>
              <a:t>If you score 35 → you fail (0)</a:t>
            </a:r>
          </a:p>
          <a:p>
            <a:pPr>
              <a:buNone/>
            </a:pPr>
            <a:endParaRPr lang="en-US" sz="1200" b="1" dirty="0" smtClean="0"/>
          </a:p>
          <a:p>
            <a:pPr>
              <a:buNone/>
            </a:pPr>
            <a:r>
              <a:rPr lang="en-US" sz="1200" b="1" dirty="0" smtClean="0"/>
              <a:t>Does the activation function decide the threshold?</a:t>
            </a:r>
          </a:p>
          <a:p>
            <a:pPr>
              <a:buNone/>
            </a:pPr>
            <a:r>
              <a:rPr lang="en-US" sz="1200" dirty="0" smtClean="0"/>
              <a:t>Yes — in many simple models like a </a:t>
            </a:r>
            <a:r>
              <a:rPr lang="en-US" sz="1200" b="1" dirty="0" err="1" smtClean="0"/>
              <a:t>perceptron</a:t>
            </a:r>
            <a:r>
              <a:rPr lang="en-US" sz="1200" dirty="0" smtClean="0"/>
              <a:t>, the </a:t>
            </a:r>
            <a:r>
              <a:rPr lang="en-US" sz="1200" b="1" dirty="0" smtClean="0"/>
              <a:t>activation function</a:t>
            </a:r>
            <a:r>
              <a:rPr lang="en-US" sz="1200" dirty="0" smtClean="0"/>
              <a:t> (like the </a:t>
            </a:r>
            <a:r>
              <a:rPr lang="en-US" sz="1200" b="1" dirty="0" smtClean="0"/>
              <a:t>step function</a:t>
            </a:r>
            <a:r>
              <a:rPr lang="en-US" sz="1200" dirty="0" smtClean="0"/>
              <a:t>) </a:t>
            </a:r>
            <a:r>
              <a:rPr lang="en-US" sz="1200" b="1" dirty="0" smtClean="0"/>
              <a:t>implicitly includes the threshold</a:t>
            </a:r>
            <a:r>
              <a:rPr lang="en-US" sz="1200" dirty="0" smtClean="0"/>
              <a:t>.</a:t>
            </a:r>
          </a:p>
          <a:p>
            <a:pPr>
              <a:buNone/>
            </a:pPr>
            <a:r>
              <a:rPr lang="en-US" sz="1200" b="1" dirty="0" smtClean="0"/>
              <a:t> Example: Step Function</a:t>
            </a:r>
          </a:p>
          <a:p>
            <a:pPr>
              <a:buNone/>
            </a:pPr>
            <a:r>
              <a:rPr lang="en-US" sz="1200" dirty="0" smtClean="0"/>
              <a:t>def </a:t>
            </a:r>
            <a:r>
              <a:rPr lang="en-US" sz="1200" dirty="0" err="1" smtClean="0"/>
              <a:t>step_function</a:t>
            </a:r>
            <a:r>
              <a:rPr lang="en-US" sz="1200" dirty="0" smtClean="0"/>
              <a:t>(x): return 1 if x &gt;= 0 else 0 </a:t>
            </a:r>
          </a:p>
          <a:p>
            <a:pPr>
              <a:buNone/>
            </a:pPr>
            <a:r>
              <a:rPr lang="en-US" sz="1200" dirty="0" smtClean="0"/>
              <a:t>In this function, the threshold is </a:t>
            </a:r>
            <a:r>
              <a:rPr lang="en-US" sz="1200" b="1" dirty="0" smtClean="0"/>
              <a:t>0</a:t>
            </a:r>
            <a:r>
              <a:rPr lang="en-US" sz="1200" dirty="0" smtClean="0"/>
              <a:t> — it's </a:t>
            </a:r>
            <a:r>
              <a:rPr lang="en-US" sz="1200" b="1" dirty="0" smtClean="0"/>
              <a:t>built into the function</a:t>
            </a:r>
            <a:r>
              <a:rPr lang="en-US" sz="1200" dirty="0" smtClean="0"/>
              <a:t>.</a:t>
            </a:r>
          </a:p>
          <a:p>
            <a:pPr>
              <a:buNone/>
            </a:pPr>
            <a:r>
              <a:rPr lang="en-US" sz="1200" dirty="0" smtClean="0"/>
              <a:t>So:</a:t>
            </a:r>
          </a:p>
          <a:p>
            <a:pPr>
              <a:buNone/>
            </a:pPr>
            <a:r>
              <a:rPr lang="en-US" sz="1200" dirty="0" smtClean="0"/>
              <a:t>If x ≥ 0 → Output is 1</a:t>
            </a:r>
          </a:p>
          <a:p>
            <a:pPr>
              <a:buNone/>
            </a:pPr>
            <a:r>
              <a:rPr lang="en-US" sz="1200" dirty="0" smtClean="0"/>
              <a:t>If x &lt; 0 → Output is 0</a:t>
            </a:r>
          </a:p>
          <a:p>
            <a:pPr>
              <a:buNone/>
            </a:pPr>
            <a:r>
              <a:rPr lang="en-US" sz="1200" dirty="0" smtClean="0"/>
              <a:t> That means: </a:t>
            </a:r>
            <a:r>
              <a:rPr lang="en-US" sz="1200" b="1" dirty="0" smtClean="0"/>
              <a:t>you don't need to set the threshold separately</a:t>
            </a:r>
            <a:r>
              <a:rPr lang="en-US" sz="1200" dirty="0" smtClean="0"/>
              <a:t> — it's already part of the activation function.</a:t>
            </a:r>
          </a:p>
          <a:p>
            <a:pPr>
              <a:buNone/>
            </a:pPr>
            <a:r>
              <a:rPr lang="en-US" sz="1200" b="1" dirty="0" smtClean="0"/>
              <a:t>When do we set threshold separately?</a:t>
            </a:r>
          </a:p>
          <a:p>
            <a:pPr>
              <a:buNone/>
            </a:pPr>
            <a:r>
              <a:rPr lang="en-US" sz="1200" dirty="0" smtClean="0"/>
              <a:t>Only in </a:t>
            </a:r>
            <a:r>
              <a:rPr lang="en-US" sz="1200" b="1" dirty="0" smtClean="0"/>
              <a:t>some custom or complex models</a:t>
            </a:r>
            <a:r>
              <a:rPr lang="en-US" sz="1200" dirty="0" smtClean="0"/>
              <a:t>, you might want to </a:t>
            </a:r>
            <a:r>
              <a:rPr lang="en-US" sz="1200" b="1" dirty="0" smtClean="0"/>
              <a:t>set the threshold manually</a:t>
            </a:r>
            <a:r>
              <a:rPr lang="en-US" sz="1200" dirty="0" smtClean="0"/>
              <a:t>. For example:</a:t>
            </a:r>
          </a:p>
          <a:p>
            <a:pPr>
              <a:buNone/>
            </a:pPr>
            <a:r>
              <a:rPr lang="en-US" sz="1200" dirty="0" smtClean="0"/>
              <a:t>threshold = 0.5 output = 1 if total &gt;= threshold else 0 </a:t>
            </a:r>
          </a:p>
          <a:p>
            <a:pPr>
              <a:buNone/>
            </a:pPr>
            <a:r>
              <a:rPr lang="en-US" sz="1200" dirty="0" smtClean="0"/>
              <a:t>This might be used when you're using </a:t>
            </a:r>
            <a:r>
              <a:rPr lang="en-US" sz="1200" b="1" dirty="0" smtClean="0"/>
              <a:t>sigmoid</a:t>
            </a:r>
            <a:r>
              <a:rPr lang="en-US" sz="1200" dirty="0" smtClean="0"/>
              <a:t> or </a:t>
            </a:r>
            <a:r>
              <a:rPr lang="en-US" sz="1200" b="1" dirty="0" smtClean="0"/>
              <a:t>other continuous activation functions</a:t>
            </a:r>
            <a:r>
              <a:rPr lang="en-US" sz="1200" dirty="0" smtClean="0"/>
              <a:t>.</a:t>
            </a:r>
          </a:p>
          <a:p>
            <a:pPr>
              <a:buNone/>
            </a:pPr>
            <a:endParaRPr lang="en-US" sz="1200" dirty="0" smtClean="0"/>
          </a:p>
          <a:p>
            <a:pPr>
              <a:buNone/>
            </a:pPr>
            <a:r>
              <a:rPr lang="en-US" sz="1200" b="1" dirty="0" smtClean="0"/>
              <a:t> Example with Sigmoid Activation:</a:t>
            </a:r>
          </a:p>
          <a:p>
            <a:pPr>
              <a:buNone/>
            </a:pPr>
            <a:r>
              <a:rPr lang="en-US" sz="1200" dirty="0" smtClean="0"/>
              <a:t>def sigmoid(x): return 1 / (1 + np.exp(-x)) </a:t>
            </a:r>
          </a:p>
          <a:p>
            <a:pPr>
              <a:buNone/>
            </a:pPr>
            <a:r>
              <a:rPr lang="en-US" sz="1200" dirty="0" smtClean="0"/>
              <a:t>Sigmoid gives an output between 0 and 1 (like a probability).</a:t>
            </a:r>
            <a:br>
              <a:rPr lang="en-US" sz="1200" dirty="0" smtClean="0"/>
            </a:br>
            <a:r>
              <a:rPr lang="en-US" sz="1200" dirty="0" smtClean="0"/>
              <a:t>So we often use a threshold like:</a:t>
            </a:r>
          </a:p>
          <a:p>
            <a:pPr>
              <a:buNone/>
            </a:pPr>
            <a:r>
              <a:rPr lang="en-US" sz="1200" dirty="0" smtClean="0"/>
              <a:t>output = 1 if sigmoid(x) &gt;= 0.5 else 0 </a:t>
            </a:r>
          </a:p>
          <a:p>
            <a:pPr>
              <a:buNone/>
            </a:pPr>
            <a:r>
              <a:rPr lang="en-US" sz="1200" dirty="0" smtClean="0"/>
              <a:t>Here, </a:t>
            </a:r>
            <a:r>
              <a:rPr lang="en-US" sz="1200" b="1" dirty="0" smtClean="0"/>
              <a:t>threshold 0.5</a:t>
            </a:r>
            <a:r>
              <a:rPr lang="en-US" sz="1200" dirty="0" smtClean="0"/>
              <a:t> is fixed </a:t>
            </a:r>
            <a:r>
              <a:rPr lang="en-US" sz="1200" b="1" dirty="0" smtClean="0"/>
              <a:t>manually</a:t>
            </a:r>
            <a:r>
              <a:rPr lang="en-US" sz="1200" dirty="0" smtClean="0"/>
              <a:t>.</a:t>
            </a:r>
          </a:p>
          <a:p>
            <a:pPr>
              <a:buNone/>
            </a:pPr>
            <a:r>
              <a:rPr lang="en-US" sz="1200" b="1" dirty="0" smtClean="0"/>
              <a:t> </a:t>
            </a:r>
            <a:endParaRPr lang="en-US" sz="1200" dirty="0"/>
          </a:p>
        </p:txBody>
      </p:sp>
      <p:pic>
        <p:nvPicPr>
          <p:cNvPr id="79874" name="Picture 2"/>
          <p:cNvPicPr>
            <a:picLocks noChangeAspect="1" noChangeArrowheads="1"/>
          </p:cNvPicPr>
          <p:nvPr/>
        </p:nvPicPr>
        <p:blipFill>
          <a:blip r:embed="rId2" cstate="print"/>
          <a:srcRect/>
          <a:stretch>
            <a:fillRect/>
          </a:stretch>
        </p:blipFill>
        <p:spPr bwMode="auto">
          <a:xfrm>
            <a:off x="1835696" y="5589240"/>
            <a:ext cx="5580113" cy="990208"/>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856984" cy="490066"/>
          </a:xfrm>
        </p:spPr>
        <p:txBody>
          <a:bodyPr>
            <a:normAutofit/>
          </a:bodyPr>
          <a:lstStyle/>
          <a:p>
            <a:r>
              <a:rPr lang="en-US" sz="2400" b="1" dirty="0" smtClean="0"/>
              <a:t>Artificial Neural Network (</a:t>
            </a:r>
            <a:r>
              <a:rPr lang="en-US" sz="2400" dirty="0" smtClean="0"/>
              <a:t>ANN)</a:t>
            </a:r>
            <a:endParaRPr lang="en-US" sz="2400" dirty="0"/>
          </a:p>
        </p:txBody>
      </p:sp>
      <p:sp>
        <p:nvSpPr>
          <p:cNvPr id="3" name="Content Placeholder 2"/>
          <p:cNvSpPr>
            <a:spLocks noGrp="1"/>
          </p:cNvSpPr>
          <p:nvPr>
            <p:ph idx="1"/>
          </p:nvPr>
        </p:nvSpPr>
        <p:spPr>
          <a:xfrm>
            <a:off x="251520" y="836712"/>
            <a:ext cx="8712968" cy="5760640"/>
          </a:xfrm>
        </p:spPr>
        <p:txBody>
          <a:bodyPr>
            <a:normAutofit fontScale="40000" lnSpcReduction="20000"/>
          </a:bodyPr>
          <a:lstStyle/>
          <a:p>
            <a:pPr>
              <a:buNone/>
            </a:pPr>
            <a:r>
              <a:rPr lang="en-US" b="1" dirty="0" smtClean="0"/>
              <a:t>How Neurons Work in an Artificial Neural Network (ANN)</a:t>
            </a:r>
          </a:p>
          <a:p>
            <a:r>
              <a:rPr lang="en-US" dirty="0" smtClean="0"/>
              <a:t>An </a:t>
            </a:r>
            <a:r>
              <a:rPr lang="en-US" b="1" dirty="0" smtClean="0"/>
              <a:t>ANN</a:t>
            </a:r>
            <a:r>
              <a:rPr lang="en-US" dirty="0" smtClean="0"/>
              <a:t> consists of </a:t>
            </a:r>
            <a:r>
              <a:rPr lang="en-US" b="1" dirty="0" smtClean="0"/>
              <a:t>layers of artificial neurons</a:t>
            </a:r>
            <a:r>
              <a:rPr lang="en-US" dirty="0" smtClean="0"/>
              <a:t>:</a:t>
            </a:r>
          </a:p>
          <a:p>
            <a:pPr>
              <a:buNone/>
            </a:pPr>
            <a:r>
              <a:rPr lang="en-US" b="1" dirty="0" smtClean="0"/>
              <a:t>Layers in a Neural Network:</a:t>
            </a:r>
          </a:p>
          <a:p>
            <a:r>
              <a:rPr lang="en-US" b="1" dirty="0" smtClean="0"/>
              <a:t>Input Layer</a:t>
            </a:r>
            <a:r>
              <a:rPr lang="en-US" dirty="0" smtClean="0"/>
              <a:t>: Accepts input features (like image pixels, sensor values).</a:t>
            </a:r>
          </a:p>
          <a:p>
            <a:r>
              <a:rPr lang="en-US" b="1" dirty="0" smtClean="0"/>
              <a:t>Hidden Layers</a:t>
            </a:r>
            <a:r>
              <a:rPr lang="en-US" dirty="0" smtClean="0"/>
              <a:t>: Process inputs through multiple neurons and non-linear functions.</a:t>
            </a:r>
          </a:p>
          <a:p>
            <a:r>
              <a:rPr lang="en-US" b="1" dirty="0" smtClean="0"/>
              <a:t>Output Layer</a:t>
            </a:r>
            <a:r>
              <a:rPr lang="en-US" dirty="0" smtClean="0"/>
              <a:t>: Produces final prediction or classification.</a:t>
            </a:r>
          </a:p>
          <a:p>
            <a:pPr>
              <a:buNone/>
            </a:pPr>
            <a:r>
              <a:rPr lang="en-US" b="1" dirty="0" smtClean="0"/>
              <a:t>Working Process of ANN:</a:t>
            </a:r>
          </a:p>
          <a:p>
            <a:r>
              <a:rPr lang="en-US" b="1" dirty="0" smtClean="0"/>
              <a:t>Forward Propagation</a:t>
            </a:r>
            <a:r>
              <a:rPr lang="en-US" dirty="0" smtClean="0"/>
              <a:t>: the data flows from the input layer to the output layer, passing through any hidden layers. Each neuron in the hidden layers processes the input as follows:</a:t>
            </a:r>
          </a:p>
          <a:p>
            <a:pPr lvl="1"/>
            <a:r>
              <a:rPr lang="en-US" dirty="0" smtClean="0"/>
              <a:t>Each neuron computes a weighted sum.</a:t>
            </a:r>
          </a:p>
          <a:p>
            <a:pPr lvl="1"/>
            <a:r>
              <a:rPr lang="en-US" dirty="0" smtClean="0"/>
              <a:t>Activation function determines neuron output.</a:t>
            </a:r>
          </a:p>
          <a:p>
            <a:pPr lvl="1"/>
            <a:r>
              <a:rPr lang="en-US" dirty="0" smtClean="0"/>
              <a:t>The output is passed to the next layer.</a:t>
            </a:r>
          </a:p>
          <a:p>
            <a:r>
              <a:rPr lang="en-US" b="1" dirty="0" smtClean="0"/>
              <a:t>Loss Calculation</a:t>
            </a:r>
            <a:r>
              <a:rPr lang="en-US" dirty="0" smtClean="0"/>
              <a:t>:</a:t>
            </a:r>
          </a:p>
          <a:p>
            <a:pPr lvl="1"/>
            <a:r>
              <a:rPr lang="en-US" dirty="0" smtClean="0"/>
              <a:t>Once the network generates an output,  the next step is to calculate the loss using a </a:t>
            </a:r>
            <a:r>
              <a:rPr lang="en-US" u="sng" dirty="0" smtClean="0">
                <a:hlinkClick r:id="rId2"/>
              </a:rPr>
              <a:t>loss function</a:t>
            </a:r>
            <a:r>
              <a:rPr lang="en-US" u="sng" dirty="0" smtClean="0"/>
              <a:t> (</a:t>
            </a:r>
            <a:r>
              <a:rPr lang="en-US" dirty="0" smtClean="0"/>
              <a:t>Compares the predicted output with actual output (ground truth).)</a:t>
            </a:r>
          </a:p>
          <a:p>
            <a:pPr lvl="1"/>
            <a:r>
              <a:rPr lang="en-US" dirty="0" smtClean="0"/>
              <a:t>Computes an error (loss function like MSE ( </a:t>
            </a:r>
            <a:r>
              <a:rPr lang="en-US" b="1" u="sng" dirty="0" smtClean="0">
                <a:hlinkClick r:id="rId3"/>
              </a:rPr>
              <a:t>mean squared error</a:t>
            </a:r>
            <a:r>
              <a:rPr lang="en-US" dirty="0" smtClean="0"/>
              <a:t>) for regression, cross-entropy for classification).</a:t>
            </a:r>
          </a:p>
          <a:p>
            <a:r>
              <a:rPr lang="en-US" b="1" dirty="0" err="1" smtClean="0"/>
              <a:t>Backpropagation</a:t>
            </a:r>
            <a:r>
              <a:rPr lang="en-US" dirty="0" smtClean="0"/>
              <a:t>:</a:t>
            </a:r>
          </a:p>
          <a:p>
            <a:pPr>
              <a:buNone/>
            </a:pPr>
            <a:r>
              <a:rPr lang="en-US" dirty="0" smtClean="0"/>
              <a:t>	The goal of training an MLP is to minimize the loss function by adjusting the network's weights and biases. This is achieved through </a:t>
            </a:r>
            <a:r>
              <a:rPr lang="en-US" b="1" u="sng" dirty="0" err="1" smtClean="0">
                <a:hlinkClick r:id="rId4"/>
              </a:rPr>
              <a:t>backpropagation</a:t>
            </a:r>
            <a:r>
              <a:rPr lang="en-US" dirty="0" smtClean="0"/>
              <a:t>:</a:t>
            </a:r>
          </a:p>
          <a:p>
            <a:pPr lvl="1"/>
            <a:r>
              <a:rPr lang="en-US" dirty="0" smtClean="0"/>
              <a:t>Adjusts weights and bias to reduce error.</a:t>
            </a:r>
          </a:p>
          <a:p>
            <a:pPr lvl="1"/>
            <a:r>
              <a:rPr lang="en-US" dirty="0" smtClean="0"/>
              <a:t>Uses optimization techniques (e.g., gradient descent).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712968" cy="634082"/>
          </a:xfrm>
        </p:spPr>
        <p:txBody>
          <a:bodyPr>
            <a:noAutofit/>
          </a:bodyPr>
          <a:lstStyle/>
          <a:p>
            <a:r>
              <a:rPr lang="en-US" sz="3200" b="1" dirty="0" smtClean="0"/>
              <a:t>Multi-Layer </a:t>
            </a:r>
            <a:r>
              <a:rPr lang="en-US" sz="3200" b="1" dirty="0" err="1" smtClean="0"/>
              <a:t>Perceptron</a:t>
            </a:r>
            <a:r>
              <a:rPr lang="en-US" sz="3200" b="1" dirty="0" smtClean="0"/>
              <a:t> Learning in </a:t>
            </a:r>
            <a:r>
              <a:rPr lang="en-US" sz="3200" b="1" dirty="0" err="1" smtClean="0"/>
              <a:t>Tensorflow</a:t>
            </a:r>
            <a:r>
              <a:rPr lang="en-US" sz="3200" b="1" dirty="0" smtClean="0"/>
              <a:t/>
            </a:r>
            <a:br>
              <a:rPr lang="en-US" sz="3200" b="1" dirty="0" smtClean="0"/>
            </a:br>
            <a:endParaRPr lang="en-US" sz="3200" dirty="0"/>
          </a:p>
        </p:txBody>
      </p:sp>
      <p:sp>
        <p:nvSpPr>
          <p:cNvPr id="3" name="Content Placeholder 2"/>
          <p:cNvSpPr>
            <a:spLocks noGrp="1"/>
          </p:cNvSpPr>
          <p:nvPr>
            <p:ph idx="1"/>
          </p:nvPr>
        </p:nvSpPr>
        <p:spPr>
          <a:xfrm>
            <a:off x="251520" y="836712"/>
            <a:ext cx="8712968" cy="4392488"/>
          </a:xfrm>
        </p:spPr>
        <p:txBody>
          <a:bodyPr>
            <a:normAutofit fontScale="40000" lnSpcReduction="20000"/>
          </a:bodyPr>
          <a:lstStyle/>
          <a:p>
            <a:pPr fontAlgn="base">
              <a:lnSpc>
                <a:spcPct val="170000"/>
              </a:lnSpc>
              <a:buNone/>
            </a:pPr>
            <a:r>
              <a:rPr lang="en-US" b="1" dirty="0" smtClean="0">
                <a:solidFill>
                  <a:srgbClr val="0000FF"/>
                </a:solidFill>
              </a:rPr>
              <a:t>Multi-Layer </a:t>
            </a:r>
            <a:r>
              <a:rPr lang="en-US" b="1" dirty="0" err="1" smtClean="0">
                <a:solidFill>
                  <a:srgbClr val="0000FF"/>
                </a:solidFill>
              </a:rPr>
              <a:t>Perceptron</a:t>
            </a:r>
            <a:r>
              <a:rPr lang="en-US" b="1" dirty="0" smtClean="0">
                <a:solidFill>
                  <a:srgbClr val="0000FF"/>
                </a:solidFill>
              </a:rPr>
              <a:t> (MLP)</a:t>
            </a:r>
            <a:r>
              <a:rPr lang="en-US" dirty="0" smtClean="0"/>
              <a:t> or </a:t>
            </a:r>
            <a:r>
              <a:rPr lang="en-US" b="1" dirty="0" smtClean="0">
                <a:solidFill>
                  <a:srgbClr val="0000FF"/>
                </a:solidFill>
              </a:rPr>
              <a:t>feed-forward neural network architecture </a:t>
            </a:r>
            <a:r>
              <a:rPr lang="en-US" dirty="0" smtClean="0"/>
              <a:t>consists of fully connected dense layers that transform input data from one dimension to another. It is called </a:t>
            </a:r>
            <a:r>
              <a:rPr lang="en-US" b="1" dirty="0" smtClean="0"/>
              <a:t>multi-layer</a:t>
            </a:r>
            <a:r>
              <a:rPr lang="en-US" dirty="0" smtClean="0"/>
              <a:t> because it contains an input layer, one or more hidden layers and an output layer. The purpose of an MLP is to model complex relationships between inputs and outputs.</a:t>
            </a:r>
          </a:p>
          <a:p>
            <a:pPr fontAlgn="base">
              <a:lnSpc>
                <a:spcPct val="170000"/>
              </a:lnSpc>
              <a:buNone/>
            </a:pPr>
            <a:endParaRPr lang="en-US" dirty="0" smtClean="0"/>
          </a:p>
          <a:p>
            <a:pPr fontAlgn="base">
              <a:lnSpc>
                <a:spcPct val="170000"/>
              </a:lnSpc>
              <a:buNone/>
            </a:pPr>
            <a:r>
              <a:rPr lang="en-US" b="1" dirty="0" smtClean="0"/>
              <a:t>Components of Multi-Layer </a:t>
            </a:r>
            <a:r>
              <a:rPr lang="en-US" b="1" dirty="0" err="1" smtClean="0"/>
              <a:t>Perceptron</a:t>
            </a:r>
            <a:r>
              <a:rPr lang="en-US" b="1" dirty="0" smtClean="0"/>
              <a:t> (MLP)</a:t>
            </a:r>
          </a:p>
          <a:p>
            <a:pPr fontAlgn="base">
              <a:lnSpc>
                <a:spcPct val="170000"/>
              </a:lnSpc>
              <a:buNone/>
            </a:pPr>
            <a:endParaRPr lang="en-US" b="1" dirty="0" smtClean="0"/>
          </a:p>
          <a:p>
            <a:pPr fontAlgn="base">
              <a:lnSpc>
                <a:spcPct val="170000"/>
              </a:lnSpc>
              <a:buNone/>
            </a:pPr>
            <a:r>
              <a:rPr lang="en-US" b="1" dirty="0" smtClean="0"/>
              <a:t>Input Layer</a:t>
            </a:r>
            <a:r>
              <a:rPr lang="en-US" dirty="0" smtClean="0"/>
              <a:t>: Each neuron or node in this layer corresponds to an input feature. For instance, if you have three input features the input layer will have three neurons.</a:t>
            </a:r>
          </a:p>
          <a:p>
            <a:pPr fontAlgn="base">
              <a:lnSpc>
                <a:spcPct val="170000"/>
              </a:lnSpc>
              <a:buNone/>
            </a:pPr>
            <a:r>
              <a:rPr lang="en-US" b="1" dirty="0" smtClean="0"/>
              <a:t>Hidden Layers</a:t>
            </a:r>
            <a:r>
              <a:rPr lang="en-US" dirty="0" smtClean="0"/>
              <a:t>: MLP can have any number of hidden layers with each layer containing any number of nodes. These layers process the information received from the input layer.</a:t>
            </a:r>
          </a:p>
          <a:p>
            <a:pPr fontAlgn="base">
              <a:lnSpc>
                <a:spcPct val="170000"/>
              </a:lnSpc>
              <a:buNone/>
            </a:pPr>
            <a:r>
              <a:rPr lang="en-US" b="1" dirty="0" smtClean="0"/>
              <a:t>Output Layer</a:t>
            </a:r>
            <a:r>
              <a:rPr lang="en-US" dirty="0" smtClean="0"/>
              <a:t>: The output layer generates the final prediction or result. If there are multiple outputs, the output layer will have a corresponding number of neurons.</a:t>
            </a:r>
          </a:p>
          <a:p>
            <a:pPr>
              <a:lnSpc>
                <a:spcPct val="170000"/>
              </a:lnSpc>
              <a:buNone/>
            </a:pPr>
            <a:endParaRPr lang="en-US" dirty="0"/>
          </a:p>
        </p:txBody>
      </p:sp>
      <p:pic>
        <p:nvPicPr>
          <p:cNvPr id="3074" name="Picture 2" descr="Lightbox"/>
          <p:cNvPicPr>
            <a:picLocks noChangeAspect="1" noChangeArrowheads="1"/>
          </p:cNvPicPr>
          <p:nvPr/>
        </p:nvPicPr>
        <p:blipFill>
          <a:blip r:embed="rId2" cstate="print"/>
          <a:srcRect/>
          <a:stretch>
            <a:fillRect/>
          </a:stretch>
        </p:blipFill>
        <p:spPr bwMode="auto">
          <a:xfrm>
            <a:off x="4932040" y="4725144"/>
            <a:ext cx="3840485" cy="2081351"/>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76672"/>
            <a:ext cx="8640960" cy="6120680"/>
          </a:xfrm>
        </p:spPr>
        <p:txBody>
          <a:bodyPr>
            <a:normAutofit fontScale="55000" lnSpcReduction="20000"/>
          </a:bodyPr>
          <a:lstStyle/>
          <a:p>
            <a:pPr fontAlgn="base"/>
            <a:r>
              <a:rPr lang="en-US" dirty="0" smtClean="0"/>
              <a:t>Every </a:t>
            </a:r>
            <a:r>
              <a:rPr lang="en-US" b="1" dirty="0" smtClean="0">
                <a:solidFill>
                  <a:srgbClr val="0000FF"/>
                </a:solidFill>
              </a:rPr>
              <a:t>neural network </a:t>
            </a:r>
            <a:r>
              <a:rPr lang="en-US" dirty="0" smtClean="0"/>
              <a:t>consists of </a:t>
            </a:r>
            <a:r>
              <a:rPr lang="en-US" b="1" dirty="0" smtClean="0">
                <a:solidFill>
                  <a:srgbClr val="0000FF"/>
                </a:solidFill>
              </a:rPr>
              <a:t>layers of nodes </a:t>
            </a:r>
            <a:r>
              <a:rPr lang="en-US" dirty="0" smtClean="0"/>
              <a:t>or artificial neurons, </a:t>
            </a:r>
            <a:r>
              <a:rPr lang="en-US" b="1" dirty="0" smtClean="0">
                <a:solidFill>
                  <a:srgbClr val="0000FF"/>
                </a:solidFill>
              </a:rPr>
              <a:t>an input layer</a:t>
            </a:r>
            <a:r>
              <a:rPr lang="en-US" dirty="0" smtClean="0"/>
              <a:t>, </a:t>
            </a:r>
            <a:r>
              <a:rPr lang="en-US" b="1" dirty="0" smtClean="0">
                <a:solidFill>
                  <a:srgbClr val="0000FF"/>
                </a:solidFill>
              </a:rPr>
              <a:t>one or more hidden layers</a:t>
            </a:r>
            <a:r>
              <a:rPr lang="en-US" dirty="0" smtClean="0"/>
              <a:t>, and </a:t>
            </a:r>
            <a:r>
              <a:rPr lang="en-US" b="1" dirty="0" smtClean="0">
                <a:solidFill>
                  <a:srgbClr val="0000FF"/>
                </a:solidFill>
              </a:rPr>
              <a:t>an output layer</a:t>
            </a:r>
            <a:r>
              <a:rPr lang="en-US" dirty="0" smtClean="0"/>
              <a:t>. Each node connects to others, and has its own </a:t>
            </a:r>
            <a:r>
              <a:rPr lang="en-US" b="1" dirty="0" smtClean="0">
                <a:solidFill>
                  <a:srgbClr val="C00000"/>
                </a:solidFill>
              </a:rPr>
              <a:t>associated weight and threshold</a:t>
            </a:r>
            <a:r>
              <a:rPr lang="en-US" dirty="0" smtClean="0"/>
              <a:t>. If the output of any individual node is </a:t>
            </a:r>
            <a:r>
              <a:rPr lang="en-US" b="1" dirty="0" smtClean="0">
                <a:solidFill>
                  <a:srgbClr val="0000FF"/>
                </a:solidFill>
              </a:rPr>
              <a:t>above the specified threshold value</a:t>
            </a:r>
            <a:r>
              <a:rPr lang="en-US" dirty="0" smtClean="0"/>
              <a:t>, that </a:t>
            </a:r>
            <a:r>
              <a:rPr lang="en-US" b="1" dirty="0" smtClean="0">
                <a:solidFill>
                  <a:srgbClr val="0000FF"/>
                </a:solidFill>
              </a:rPr>
              <a:t>node is activated</a:t>
            </a:r>
            <a:r>
              <a:rPr lang="en-US" dirty="0" smtClean="0"/>
              <a:t>, </a:t>
            </a:r>
            <a:r>
              <a:rPr lang="en-US" b="1" dirty="0" smtClean="0">
                <a:solidFill>
                  <a:srgbClr val="0000FF"/>
                </a:solidFill>
              </a:rPr>
              <a:t>sending data to the next layer </a:t>
            </a:r>
            <a:r>
              <a:rPr lang="en-US" dirty="0" smtClean="0"/>
              <a:t>of the network. Otherwise, no data is passed along to the next layer of the network.</a:t>
            </a:r>
            <a:br>
              <a:rPr lang="en-US" dirty="0" smtClean="0"/>
            </a:br>
            <a:endParaRPr lang="en-US" dirty="0" smtClean="0"/>
          </a:p>
          <a:p>
            <a:pPr fontAlgn="base"/>
            <a:r>
              <a:rPr lang="en-US" dirty="0" smtClean="0"/>
              <a:t>Neural networks rely on training data to learn and improve their accuracy over time. Once they are fine-tuned for accuracy, they are powerful tools in computer science and </a:t>
            </a:r>
            <a:r>
              <a:rPr lang="en-US" dirty="0" smtClean="0">
                <a:hlinkClick r:id="rId2"/>
              </a:rPr>
              <a:t>artificial intelligence</a:t>
            </a:r>
            <a:r>
              <a:rPr lang="en-US" dirty="0" smtClean="0"/>
              <a:t>, allowing us to classify and cluster data at a high velocity. Tasks in speech recognition or image recognition can take minutes versus hours when compared to the manual identification by human experts. One of the best-known examples of a neural network is Google’s search algorithm.</a:t>
            </a:r>
          </a:p>
          <a:p>
            <a:pPr fontAlgn="base"/>
            <a:r>
              <a:rPr lang="en-US" dirty="0" smtClean="0"/>
              <a:t>Neural networks are sometimes called artificial neural networks (ANNs) or simulated neural networks (SNNs). They are a subset of machine learning, and at the heart of </a:t>
            </a:r>
            <a:r>
              <a:rPr lang="en-US" dirty="0" smtClean="0">
                <a:hlinkClick r:id="rId3"/>
              </a:rPr>
              <a:t>deep learning</a:t>
            </a:r>
            <a:r>
              <a:rPr lang="en-US" dirty="0" smtClean="0"/>
              <a:t> models.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Neural Networks Architecture"/>
          <p:cNvPicPr>
            <a:picLocks noChangeAspect="1" noChangeArrowheads="1"/>
          </p:cNvPicPr>
          <p:nvPr/>
        </p:nvPicPr>
        <p:blipFill>
          <a:blip r:embed="rId2" cstate="print"/>
          <a:srcRect/>
          <a:stretch>
            <a:fillRect/>
          </a:stretch>
        </p:blipFill>
        <p:spPr bwMode="auto">
          <a:xfrm>
            <a:off x="467544" y="980728"/>
            <a:ext cx="7620000" cy="4800601"/>
          </a:xfrm>
          <a:prstGeom prst="rect">
            <a:avLst/>
          </a:prstGeom>
          <a:noFill/>
        </p:spPr>
      </p:pic>
      <p:sp>
        <p:nvSpPr>
          <p:cNvPr id="55298" name="AutoShape 2" descr="A diagram depicting the layers of a deep neural net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5300" name="AutoShape 4" descr="A diagram depicting the layers of a deep neural net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Architectural Principles of Deep Networks</a:t>
            </a:r>
            <a:br>
              <a:rPr lang="en-US" dirty="0" smtClean="0"/>
            </a:br>
            <a:endParaRPr lang="en-US" dirty="0"/>
          </a:p>
        </p:txBody>
      </p:sp>
      <p:sp>
        <p:nvSpPr>
          <p:cNvPr id="3" name="Content Placeholder 2"/>
          <p:cNvSpPr>
            <a:spLocks noGrp="1"/>
          </p:cNvSpPr>
          <p:nvPr>
            <p:ph idx="1"/>
          </p:nvPr>
        </p:nvSpPr>
        <p:spPr>
          <a:xfrm>
            <a:off x="395536" y="1268760"/>
            <a:ext cx="8748464" cy="5400600"/>
          </a:xfrm>
        </p:spPr>
        <p:txBody>
          <a:bodyPr numCol="2">
            <a:normAutofit fontScale="70000" lnSpcReduction="20000"/>
          </a:bodyPr>
          <a:lstStyle/>
          <a:p>
            <a:pPr>
              <a:buNone/>
            </a:pPr>
            <a:r>
              <a:rPr lang="en-US" b="1" dirty="0" smtClean="0"/>
              <a:t>Core components:</a:t>
            </a:r>
          </a:p>
          <a:p>
            <a:r>
              <a:rPr lang="en-US" dirty="0" smtClean="0"/>
              <a:t>Parameters</a:t>
            </a:r>
          </a:p>
          <a:p>
            <a:r>
              <a:rPr lang="en-US" dirty="0" smtClean="0"/>
              <a:t>Layers</a:t>
            </a:r>
          </a:p>
          <a:p>
            <a:r>
              <a:rPr lang="en-US" dirty="0" smtClean="0"/>
              <a:t>Activation functions</a:t>
            </a:r>
          </a:p>
          <a:p>
            <a:r>
              <a:rPr lang="en-US" dirty="0" smtClean="0"/>
              <a:t>Loss functions</a:t>
            </a:r>
          </a:p>
          <a:p>
            <a:r>
              <a:rPr lang="en-US" dirty="0" smtClean="0"/>
              <a:t>Optimization methods</a:t>
            </a:r>
          </a:p>
          <a:p>
            <a:r>
              <a:rPr lang="en-US" dirty="0" err="1" smtClean="0"/>
              <a:t>Hyperparameters</a:t>
            </a:r>
            <a:endParaRPr lang="en-US" dirty="0" smtClean="0"/>
          </a:p>
          <a:p>
            <a:endParaRPr lang="en-US" dirty="0" smtClean="0"/>
          </a:p>
          <a:p>
            <a:pPr>
              <a:buNone/>
            </a:pPr>
            <a:r>
              <a:rPr lang="en-US" b="1" dirty="0" smtClean="0"/>
              <a:t>Building block networks of deep networks, such as the following:</a:t>
            </a:r>
          </a:p>
          <a:p>
            <a:r>
              <a:rPr lang="en-US" smtClean="0"/>
              <a:t>RBMs</a:t>
            </a:r>
            <a:endParaRPr lang="en-US" dirty="0" smtClean="0"/>
          </a:p>
          <a:p>
            <a:r>
              <a:rPr lang="en-US" dirty="0" err="1" smtClean="0"/>
              <a:t>Autoencoders</a:t>
            </a:r>
            <a:endParaRPr lang="en-US" dirty="0" smtClean="0"/>
          </a:p>
          <a:p>
            <a:pPr>
              <a:buNone/>
            </a:pPr>
            <a:r>
              <a:rPr lang="en-US" b="1" dirty="0" smtClean="0"/>
              <a:t>specific deep network architectures:</a:t>
            </a:r>
          </a:p>
          <a:p>
            <a:r>
              <a:rPr lang="en-US" dirty="0" smtClean="0"/>
              <a:t>UPNs</a:t>
            </a:r>
          </a:p>
          <a:p>
            <a:r>
              <a:rPr lang="en-US" dirty="0" smtClean="0"/>
              <a:t>CNNs</a:t>
            </a:r>
          </a:p>
          <a:p>
            <a:r>
              <a:rPr lang="en-US" dirty="0" smtClean="0"/>
              <a:t>Recurrent neural networks</a:t>
            </a:r>
          </a:p>
          <a:p>
            <a:r>
              <a:rPr lang="en-US" dirty="0" smtClean="0"/>
              <a:t>Recursive neural networks</a:t>
            </a:r>
          </a:p>
          <a:p>
            <a:endParaRPr lang="en-US" dirty="0" smtClean="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US" b="1" dirty="0" smtClean="0"/>
              <a:t>Parameters and </a:t>
            </a:r>
            <a:r>
              <a:rPr lang="en-US" b="1" dirty="0" err="1" smtClean="0"/>
              <a:t>Hyperparameters</a:t>
            </a:r>
            <a:endParaRPr lang="en-US" dirty="0"/>
          </a:p>
        </p:txBody>
      </p:sp>
      <p:sp>
        <p:nvSpPr>
          <p:cNvPr id="3" name="Content Placeholder 2"/>
          <p:cNvSpPr>
            <a:spLocks noGrp="1"/>
          </p:cNvSpPr>
          <p:nvPr>
            <p:ph idx="1"/>
          </p:nvPr>
        </p:nvSpPr>
        <p:spPr>
          <a:xfrm>
            <a:off x="323528" y="1196752"/>
            <a:ext cx="8496944" cy="5472608"/>
          </a:xfrm>
        </p:spPr>
        <p:txBody>
          <a:bodyPr>
            <a:normAutofit/>
          </a:bodyPr>
          <a:lstStyle/>
          <a:p>
            <a:r>
              <a:rPr lang="en-US" sz="2400" dirty="0" smtClean="0"/>
              <a:t>In ML/DL, a model is </a:t>
            </a:r>
            <a:r>
              <a:rPr lang="en-US" sz="2400" b="1" dirty="0" smtClean="0">
                <a:solidFill>
                  <a:srgbClr val="0000FF"/>
                </a:solidFill>
              </a:rPr>
              <a:t>defined or represented </a:t>
            </a:r>
            <a:r>
              <a:rPr lang="en-US" sz="2400" dirty="0" smtClean="0"/>
              <a:t>by the </a:t>
            </a:r>
            <a:r>
              <a:rPr lang="en-US" sz="2400" b="1" dirty="0" smtClean="0">
                <a:solidFill>
                  <a:srgbClr val="0000FF"/>
                </a:solidFill>
              </a:rPr>
              <a:t>model parameters</a:t>
            </a:r>
            <a:r>
              <a:rPr lang="en-US" sz="2400" dirty="0" smtClean="0"/>
              <a:t>. </a:t>
            </a:r>
          </a:p>
          <a:p>
            <a:r>
              <a:rPr lang="en-US" sz="2400" dirty="0" smtClean="0"/>
              <a:t>However, the </a:t>
            </a:r>
            <a:r>
              <a:rPr lang="en-US" sz="2400" b="1" dirty="0" smtClean="0">
                <a:solidFill>
                  <a:srgbClr val="0000FF"/>
                </a:solidFill>
              </a:rPr>
              <a:t>process of training a model </a:t>
            </a:r>
            <a:r>
              <a:rPr lang="en-US" sz="2400" dirty="0" smtClean="0"/>
              <a:t>involves </a:t>
            </a:r>
            <a:r>
              <a:rPr lang="en-US" sz="2400" b="1" dirty="0" smtClean="0">
                <a:solidFill>
                  <a:srgbClr val="0000FF"/>
                </a:solidFill>
              </a:rPr>
              <a:t>choosing the optimal </a:t>
            </a:r>
            <a:r>
              <a:rPr lang="en-US" sz="2400" b="1" dirty="0" err="1" smtClean="0">
                <a:solidFill>
                  <a:srgbClr val="0000FF"/>
                </a:solidFill>
              </a:rPr>
              <a:t>hyperparameters</a:t>
            </a:r>
            <a:r>
              <a:rPr lang="en-US" sz="2400" b="1" dirty="0" smtClean="0">
                <a:solidFill>
                  <a:srgbClr val="0000FF"/>
                </a:solidFill>
              </a:rPr>
              <a:t> </a:t>
            </a:r>
            <a:r>
              <a:rPr lang="en-US" sz="2400" dirty="0" smtClean="0"/>
              <a:t>that the learning algorithm will </a:t>
            </a:r>
            <a:r>
              <a:rPr lang="en-US" sz="2400" b="1" dirty="0" smtClean="0">
                <a:solidFill>
                  <a:srgbClr val="0000FF"/>
                </a:solidFill>
              </a:rPr>
              <a:t>use to learn the optimal parameters</a:t>
            </a:r>
            <a:r>
              <a:rPr lang="en-US" sz="2400" dirty="0" smtClean="0"/>
              <a:t> that correctly </a:t>
            </a:r>
            <a:r>
              <a:rPr lang="en-US" sz="2400" b="1" dirty="0" smtClean="0">
                <a:solidFill>
                  <a:srgbClr val="0000FF"/>
                </a:solidFill>
              </a:rPr>
              <a:t>map the input features </a:t>
            </a:r>
            <a:r>
              <a:rPr lang="en-US" sz="2400" dirty="0" smtClean="0"/>
              <a:t>(independent variables) </a:t>
            </a:r>
            <a:r>
              <a:rPr lang="en-US" sz="2400" b="1" dirty="0" smtClean="0">
                <a:solidFill>
                  <a:srgbClr val="0000FF"/>
                </a:solidFill>
              </a:rPr>
              <a:t>to the labels or targets </a:t>
            </a:r>
            <a:r>
              <a:rPr lang="en-US" sz="2400" dirty="0" smtClean="0"/>
              <a:t>(dependent variable) such that you achieve some form of intelligence.</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Model Parameters</a:t>
            </a:r>
            <a:br>
              <a:rPr lang="en-US" b="1" dirty="0" smtClean="0"/>
            </a:br>
            <a:endParaRPr lang="en-US" dirty="0"/>
          </a:p>
        </p:txBody>
      </p:sp>
      <p:sp>
        <p:nvSpPr>
          <p:cNvPr id="3" name="Content Placeholder 2"/>
          <p:cNvSpPr>
            <a:spLocks noGrp="1"/>
          </p:cNvSpPr>
          <p:nvPr>
            <p:ph idx="1"/>
          </p:nvPr>
        </p:nvSpPr>
        <p:spPr>
          <a:xfrm>
            <a:off x="323528" y="1052736"/>
            <a:ext cx="8496944" cy="5616624"/>
          </a:xfrm>
        </p:spPr>
        <p:txBody>
          <a:bodyPr>
            <a:normAutofit fontScale="47500" lnSpcReduction="20000"/>
          </a:bodyPr>
          <a:lstStyle/>
          <a:p>
            <a:pPr>
              <a:lnSpc>
                <a:spcPct val="170000"/>
              </a:lnSpc>
            </a:pPr>
            <a:r>
              <a:rPr lang="en-US" dirty="0" smtClean="0"/>
              <a:t>Parameters are </a:t>
            </a:r>
            <a:r>
              <a:rPr lang="en-US" b="1" dirty="0" smtClean="0">
                <a:solidFill>
                  <a:srgbClr val="0000FF"/>
                </a:solidFill>
              </a:rPr>
              <a:t>internal to the model</a:t>
            </a:r>
            <a:r>
              <a:rPr lang="en-US" dirty="0" smtClean="0"/>
              <a:t>. That is, they are learned or estimated purely </a:t>
            </a:r>
            <a:r>
              <a:rPr lang="en-US" b="1" dirty="0" smtClean="0">
                <a:solidFill>
                  <a:srgbClr val="0000FF"/>
                </a:solidFill>
              </a:rPr>
              <a:t>from the data during training</a:t>
            </a:r>
            <a:r>
              <a:rPr lang="en-US" dirty="0" smtClean="0"/>
              <a:t> as the algorithm used tries </a:t>
            </a:r>
            <a:r>
              <a:rPr lang="en-US" b="1" dirty="0" smtClean="0">
                <a:solidFill>
                  <a:srgbClr val="C00000"/>
                </a:solidFill>
              </a:rPr>
              <a:t>to learn the mapping between the input features and the labels or targets.</a:t>
            </a:r>
          </a:p>
          <a:p>
            <a:pPr>
              <a:lnSpc>
                <a:spcPct val="170000"/>
              </a:lnSpc>
            </a:pPr>
            <a:r>
              <a:rPr lang="en-US" dirty="0" smtClean="0"/>
              <a:t>Model parameters are </a:t>
            </a:r>
            <a:r>
              <a:rPr lang="en-US" b="1" dirty="0" smtClean="0">
                <a:solidFill>
                  <a:srgbClr val="0000FF"/>
                </a:solidFill>
              </a:rPr>
              <a:t>learned by the model automatically</a:t>
            </a:r>
            <a:r>
              <a:rPr lang="en-US" dirty="0" smtClean="0">
                <a:solidFill>
                  <a:srgbClr val="0000FF"/>
                </a:solidFill>
              </a:rPr>
              <a:t> </a:t>
            </a:r>
            <a:r>
              <a:rPr lang="en-US" dirty="0" smtClean="0"/>
              <a:t>during training. These are the values the model adjusts to fit the data.</a:t>
            </a:r>
          </a:p>
          <a:p>
            <a:pPr>
              <a:lnSpc>
                <a:spcPct val="170000"/>
              </a:lnSpc>
              <a:buNone/>
            </a:pPr>
            <a:r>
              <a:rPr lang="en-US" b="1" dirty="0" smtClean="0"/>
              <a:t> Purpose:</a:t>
            </a:r>
          </a:p>
          <a:p>
            <a:pPr>
              <a:lnSpc>
                <a:spcPct val="170000"/>
              </a:lnSpc>
              <a:buNone/>
            </a:pPr>
            <a:r>
              <a:rPr lang="en-US" dirty="0" smtClean="0"/>
              <a:t>They define the </a:t>
            </a:r>
            <a:r>
              <a:rPr lang="en-US" b="1" dirty="0" smtClean="0">
                <a:solidFill>
                  <a:srgbClr val="0000FF"/>
                </a:solidFill>
              </a:rPr>
              <a:t>behavior of the model</a:t>
            </a:r>
            <a:r>
              <a:rPr lang="en-US" dirty="0" smtClean="0">
                <a:solidFill>
                  <a:srgbClr val="0000FF"/>
                </a:solidFill>
              </a:rPr>
              <a:t> </a:t>
            </a:r>
            <a:r>
              <a:rPr lang="en-US" dirty="0" smtClean="0"/>
              <a:t>during prediction. They change </a:t>
            </a:r>
            <a:r>
              <a:rPr lang="en-US" b="1" dirty="0" smtClean="0"/>
              <a:t>as the model trains</a:t>
            </a:r>
            <a:r>
              <a:rPr lang="en-US" dirty="0" smtClean="0"/>
              <a:t>, improving the model’s accuracy.</a:t>
            </a:r>
          </a:p>
          <a:p>
            <a:pPr>
              <a:lnSpc>
                <a:spcPct val="170000"/>
              </a:lnSpc>
              <a:buNone/>
            </a:pPr>
            <a:r>
              <a:rPr lang="en-US" b="1" dirty="0" smtClean="0"/>
              <a:t> Examples:</a:t>
            </a:r>
          </a:p>
          <a:p>
            <a:pPr>
              <a:lnSpc>
                <a:spcPct val="170000"/>
              </a:lnSpc>
              <a:buNone/>
            </a:pPr>
            <a:r>
              <a:rPr lang="en-US" dirty="0" smtClean="0"/>
              <a:t>Let’s take a simple model like </a:t>
            </a:r>
            <a:r>
              <a:rPr lang="en-US" b="1" dirty="0" smtClean="0"/>
              <a:t>Linear Regression</a:t>
            </a:r>
            <a:r>
              <a:rPr lang="en-US" dirty="0" smtClean="0"/>
              <a:t>: </a:t>
            </a:r>
            <a:r>
              <a:rPr lang="en-US" b="1" dirty="0" smtClean="0">
                <a:solidFill>
                  <a:srgbClr val="0000FF"/>
                </a:solidFill>
              </a:rPr>
              <a:t>y=</a:t>
            </a:r>
            <a:r>
              <a:rPr lang="en-US" b="1" dirty="0" err="1" smtClean="0">
                <a:solidFill>
                  <a:srgbClr val="0000FF"/>
                </a:solidFill>
              </a:rPr>
              <a:t>w⋅x+b</a:t>
            </a:r>
            <a:r>
              <a:rPr lang="en-US" b="1" dirty="0" smtClean="0">
                <a:solidFill>
                  <a:srgbClr val="0000FF"/>
                </a:solidFill>
              </a:rPr>
              <a:t> </a:t>
            </a:r>
          </a:p>
          <a:p>
            <a:pPr>
              <a:lnSpc>
                <a:spcPct val="170000"/>
              </a:lnSpc>
              <a:buNone/>
            </a:pPr>
            <a:r>
              <a:rPr lang="en-US" dirty="0" smtClean="0"/>
              <a:t>Here:</a:t>
            </a:r>
          </a:p>
          <a:p>
            <a:pPr>
              <a:lnSpc>
                <a:spcPct val="170000"/>
              </a:lnSpc>
              <a:buNone/>
            </a:pPr>
            <a:r>
              <a:rPr lang="en-US" dirty="0" smtClean="0"/>
              <a:t>w (weight) and b (bias) are </a:t>
            </a:r>
            <a:r>
              <a:rPr lang="en-US" b="1" dirty="0" smtClean="0"/>
              <a:t>model parameters</a:t>
            </a:r>
            <a:r>
              <a:rPr lang="en-US" dirty="0" smtClean="0"/>
              <a:t>.</a:t>
            </a:r>
          </a:p>
          <a:p>
            <a:pPr>
              <a:lnSpc>
                <a:spcPct val="170000"/>
              </a:lnSpc>
              <a:buNone/>
            </a:pPr>
            <a:r>
              <a:rPr lang="en-US" dirty="0" smtClean="0"/>
              <a:t>The model adjusts these values based on training data to reduce error.</a:t>
            </a:r>
          </a:p>
          <a:p>
            <a:pPr>
              <a:lnSpc>
                <a:spcPct val="170000"/>
              </a:lnSpc>
              <a:buNone/>
            </a:pPr>
            <a:r>
              <a:rPr lang="en-US" b="1" dirty="0" smtClean="0"/>
              <a:t> In Deep Learning (Neural Network):</a:t>
            </a:r>
          </a:p>
          <a:p>
            <a:pPr>
              <a:lnSpc>
                <a:spcPct val="170000"/>
              </a:lnSpc>
              <a:buNone/>
            </a:pPr>
            <a:r>
              <a:rPr lang="en-US" b="1" dirty="0" smtClean="0"/>
              <a:t>Weights</a:t>
            </a:r>
            <a:r>
              <a:rPr lang="en-US" dirty="0" smtClean="0"/>
              <a:t> and </a:t>
            </a:r>
            <a:r>
              <a:rPr lang="en-US" b="1" dirty="0" smtClean="0"/>
              <a:t>biases</a:t>
            </a:r>
            <a:r>
              <a:rPr lang="en-US" dirty="0" smtClean="0"/>
              <a:t> in each layer are model parameters.</a:t>
            </a:r>
          </a:p>
          <a:p>
            <a:pPr>
              <a:lnSpc>
                <a:spcPct val="170000"/>
              </a:lnSpc>
              <a:buNone/>
            </a:pPr>
            <a:r>
              <a:rPr lang="en-US" dirty="0" smtClean="0"/>
              <a:t>These are updated during </a:t>
            </a:r>
            <a:r>
              <a:rPr lang="en-US" b="1" dirty="0" err="1" smtClean="0"/>
              <a:t>backpropagation</a:t>
            </a:r>
            <a:r>
              <a:rPr lang="en-US" dirty="0" smtClean="0"/>
              <a:t> using the optimizer (like SGD or Adam).</a:t>
            </a:r>
          </a:p>
          <a:p>
            <a:pPr>
              <a:lnSpc>
                <a:spcPct val="170000"/>
              </a:lnSpc>
              <a:buNone/>
            </a:pPr>
            <a:endParaRPr lang="en-US" dirty="0" smtClean="0"/>
          </a:p>
          <a:p>
            <a:pPr>
              <a:lnSpc>
                <a:spcPct val="170000"/>
              </a:lnSpc>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706090"/>
          </a:xfrm>
        </p:spPr>
        <p:txBody>
          <a:bodyPr>
            <a:normAutofit fontScale="90000"/>
          </a:bodyPr>
          <a:lstStyle/>
          <a:p>
            <a:r>
              <a:rPr lang="en-US" b="1" dirty="0" err="1" smtClean="0"/>
              <a:t>Hyperparameters</a:t>
            </a:r>
            <a:endParaRPr lang="en-US" dirty="0"/>
          </a:p>
        </p:txBody>
      </p:sp>
      <p:sp>
        <p:nvSpPr>
          <p:cNvPr id="3" name="Content Placeholder 2"/>
          <p:cNvSpPr>
            <a:spLocks noGrp="1"/>
          </p:cNvSpPr>
          <p:nvPr>
            <p:ph idx="1"/>
          </p:nvPr>
        </p:nvSpPr>
        <p:spPr>
          <a:xfrm>
            <a:off x="179512" y="908720"/>
            <a:ext cx="8712968" cy="5688632"/>
          </a:xfrm>
        </p:spPr>
        <p:txBody>
          <a:bodyPr numCol="1">
            <a:normAutofit fontScale="92500"/>
          </a:bodyPr>
          <a:lstStyle/>
          <a:p>
            <a:pPr>
              <a:lnSpc>
                <a:spcPct val="170000"/>
              </a:lnSpc>
            </a:pPr>
            <a:r>
              <a:rPr lang="en-US" sz="1600" dirty="0" err="1" smtClean="0"/>
              <a:t>Hyperparameters</a:t>
            </a:r>
            <a:r>
              <a:rPr lang="en-US" sz="1600" dirty="0" smtClean="0"/>
              <a:t> </a:t>
            </a:r>
            <a:r>
              <a:rPr lang="en-US" sz="1600" b="1" dirty="0" smtClean="0">
                <a:solidFill>
                  <a:srgbClr val="0000FF"/>
                </a:solidFill>
              </a:rPr>
              <a:t>are parameters </a:t>
            </a:r>
            <a:r>
              <a:rPr lang="en-US" sz="1600" dirty="0" smtClean="0"/>
              <a:t>whose </a:t>
            </a:r>
            <a:r>
              <a:rPr lang="en-US" sz="1600" b="1" dirty="0" smtClean="0">
                <a:solidFill>
                  <a:srgbClr val="0000FF"/>
                </a:solidFill>
              </a:rPr>
              <a:t>values control the learning process </a:t>
            </a:r>
            <a:r>
              <a:rPr lang="en-US" sz="1600" dirty="0" smtClean="0"/>
              <a:t>and </a:t>
            </a:r>
            <a:r>
              <a:rPr lang="en-US" sz="1600" b="1" dirty="0" smtClean="0">
                <a:solidFill>
                  <a:srgbClr val="0000FF"/>
                </a:solidFill>
              </a:rPr>
              <a:t>determine the values of model parameters.</a:t>
            </a:r>
          </a:p>
          <a:p>
            <a:pPr>
              <a:lnSpc>
                <a:spcPct val="170000"/>
              </a:lnSpc>
            </a:pPr>
            <a:r>
              <a:rPr lang="en-US" sz="1600" dirty="0" err="1" smtClean="0"/>
              <a:t>Hyperparameters</a:t>
            </a:r>
            <a:r>
              <a:rPr lang="en-US" sz="1600" dirty="0" smtClean="0"/>
              <a:t> are </a:t>
            </a:r>
            <a:r>
              <a:rPr lang="en-US" sz="1600" b="1" dirty="0" smtClean="0">
                <a:solidFill>
                  <a:srgbClr val="0000FF"/>
                </a:solidFill>
              </a:rPr>
              <a:t>set before training</a:t>
            </a:r>
            <a:r>
              <a:rPr lang="en-US" sz="1600" dirty="0" smtClean="0">
                <a:solidFill>
                  <a:srgbClr val="0000FF"/>
                </a:solidFill>
              </a:rPr>
              <a:t> </a:t>
            </a:r>
            <a:r>
              <a:rPr lang="en-US" sz="1600" dirty="0" smtClean="0"/>
              <a:t>and </a:t>
            </a:r>
            <a:r>
              <a:rPr lang="en-US" sz="1600" b="1" dirty="0" smtClean="0">
                <a:solidFill>
                  <a:srgbClr val="0000FF"/>
                </a:solidFill>
              </a:rPr>
              <a:t>not learned</a:t>
            </a:r>
            <a:r>
              <a:rPr lang="en-US" sz="1600" dirty="0" smtClean="0">
                <a:solidFill>
                  <a:srgbClr val="0000FF"/>
                </a:solidFill>
              </a:rPr>
              <a:t> </a:t>
            </a:r>
            <a:r>
              <a:rPr lang="en-US" sz="1600" dirty="0" smtClean="0"/>
              <a:t>by the model. They control the </a:t>
            </a:r>
            <a:r>
              <a:rPr lang="en-US" sz="1600" b="1" dirty="0" smtClean="0"/>
              <a:t>learning process</a:t>
            </a:r>
            <a:r>
              <a:rPr lang="en-US" sz="1600" dirty="0" smtClean="0"/>
              <a:t>.</a:t>
            </a:r>
          </a:p>
          <a:p>
            <a:pPr>
              <a:lnSpc>
                <a:spcPct val="170000"/>
              </a:lnSpc>
              <a:buNone/>
            </a:pPr>
            <a:r>
              <a:rPr lang="en-US" sz="1600" b="1" dirty="0" smtClean="0"/>
              <a:t>Purpose: </a:t>
            </a:r>
            <a:r>
              <a:rPr lang="en-US" sz="1600" dirty="0" smtClean="0"/>
              <a:t>They affect how well the model learns, how fast it converges, and whether it </a:t>
            </a:r>
            <a:r>
              <a:rPr lang="en-US" sz="1600" dirty="0" err="1" smtClean="0"/>
              <a:t>overfits</a:t>
            </a:r>
            <a:r>
              <a:rPr lang="en-US" sz="1600" dirty="0" smtClean="0"/>
              <a:t> or </a:t>
            </a:r>
            <a:r>
              <a:rPr lang="en-US" sz="1600" dirty="0" err="1" smtClean="0"/>
              <a:t>underfits</a:t>
            </a:r>
            <a:r>
              <a:rPr lang="en-US" sz="1600" dirty="0" smtClean="0"/>
              <a:t>.</a:t>
            </a:r>
          </a:p>
          <a:p>
            <a:pPr>
              <a:lnSpc>
                <a:spcPct val="170000"/>
              </a:lnSpc>
              <a:buNone/>
            </a:pPr>
            <a:r>
              <a:rPr lang="en-US" sz="1600" b="1" dirty="0" smtClean="0"/>
              <a:t>Examples:</a:t>
            </a:r>
          </a:p>
          <a:p>
            <a:pPr>
              <a:lnSpc>
                <a:spcPct val="170000"/>
              </a:lnSpc>
              <a:buNone/>
            </a:pPr>
            <a:r>
              <a:rPr lang="en-US" sz="1600" b="1" dirty="0" smtClean="0"/>
              <a:t>Learning Rate</a:t>
            </a:r>
            <a:r>
              <a:rPr lang="en-US" sz="1600" dirty="0" smtClean="0"/>
              <a:t> – Controls how much weights are updated per step.</a:t>
            </a:r>
          </a:p>
          <a:p>
            <a:pPr>
              <a:lnSpc>
                <a:spcPct val="170000"/>
              </a:lnSpc>
              <a:buNone/>
            </a:pPr>
            <a:r>
              <a:rPr lang="en-US" sz="1600" b="1" dirty="0" smtClean="0"/>
              <a:t>Batch Size</a:t>
            </a:r>
            <a:r>
              <a:rPr lang="en-US" sz="1600" dirty="0" smtClean="0"/>
              <a:t> – Number of training samples in one forward/backward pass.</a:t>
            </a:r>
          </a:p>
          <a:p>
            <a:pPr>
              <a:lnSpc>
                <a:spcPct val="170000"/>
              </a:lnSpc>
              <a:buNone/>
            </a:pPr>
            <a:r>
              <a:rPr lang="en-US" sz="1600" b="1" dirty="0" smtClean="0"/>
              <a:t>Number of Epochs</a:t>
            </a:r>
            <a:r>
              <a:rPr lang="en-US" sz="1600" dirty="0" smtClean="0"/>
              <a:t> – How many times the full dataset is passed through the model.</a:t>
            </a:r>
          </a:p>
          <a:p>
            <a:pPr>
              <a:lnSpc>
                <a:spcPct val="170000"/>
              </a:lnSpc>
              <a:buNone/>
            </a:pPr>
            <a:r>
              <a:rPr lang="en-US" sz="1600" b="1" dirty="0" smtClean="0"/>
              <a:t>Number of Hidden Layers/Units</a:t>
            </a:r>
            <a:r>
              <a:rPr lang="en-US" sz="1600" dirty="0" smtClean="0"/>
              <a:t>  or layer size– Controls network architecture.</a:t>
            </a:r>
          </a:p>
          <a:p>
            <a:pPr>
              <a:lnSpc>
                <a:spcPct val="170000"/>
              </a:lnSpc>
              <a:buNone/>
            </a:pPr>
            <a:r>
              <a:rPr lang="en-US" sz="1600" b="1" dirty="0" smtClean="0"/>
              <a:t>Activation Function</a:t>
            </a:r>
            <a:r>
              <a:rPr lang="en-US" sz="1600" dirty="0" smtClean="0"/>
              <a:t> – Like </a:t>
            </a:r>
            <a:r>
              <a:rPr lang="en-US" sz="1600" dirty="0" err="1" smtClean="0"/>
              <a:t>ReLU</a:t>
            </a:r>
            <a:r>
              <a:rPr lang="en-US" sz="1600" dirty="0" smtClean="0"/>
              <a:t>, Sigmoid, etc.</a:t>
            </a:r>
          </a:p>
          <a:p>
            <a:pPr>
              <a:lnSpc>
                <a:spcPct val="170000"/>
              </a:lnSpc>
              <a:buNone/>
            </a:pPr>
            <a:r>
              <a:rPr lang="en-US" sz="1600" b="1" dirty="0" smtClean="0"/>
              <a:t>Dropout Rate</a:t>
            </a:r>
            <a:r>
              <a:rPr lang="en-US" sz="1600" dirty="0" smtClean="0"/>
              <a:t> – Prevents </a:t>
            </a:r>
            <a:r>
              <a:rPr lang="en-US" sz="1600" dirty="0" err="1" smtClean="0"/>
              <a:t>overfitting</a:t>
            </a:r>
            <a:r>
              <a:rPr lang="en-US" sz="1600" dirty="0" smtClean="0"/>
              <a:t> by randomly turning off neurons.</a:t>
            </a:r>
          </a:p>
          <a:p>
            <a:pPr>
              <a:lnSpc>
                <a:spcPct val="170000"/>
              </a:lnSpc>
              <a:buNone/>
            </a:pPr>
            <a:r>
              <a:rPr lang="en-US" sz="1600" dirty="0" smtClean="0"/>
              <a:t> </a:t>
            </a:r>
          </a:p>
          <a:p>
            <a:pPr>
              <a:lnSpc>
                <a:spcPct val="170000"/>
              </a:lnSpc>
              <a:buNone/>
            </a:pPr>
            <a:r>
              <a:rPr lang="en-US" sz="1600" dirty="0" smtClean="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t>Creating a simple Multilayer Neural Network (MLP) in </a:t>
            </a:r>
            <a:r>
              <a:rPr lang="en-US" sz="2400" b="1" dirty="0" err="1" smtClean="0"/>
              <a:t>Keras</a:t>
            </a:r>
            <a:r>
              <a:rPr lang="en-US" sz="2400" b="1" dirty="0" smtClean="0"/>
              <a:t> (with </a:t>
            </a:r>
            <a:r>
              <a:rPr lang="en-US" sz="2400" b="1" dirty="0" err="1" smtClean="0"/>
              <a:t>TensorFlow</a:t>
            </a:r>
            <a:r>
              <a:rPr lang="en-US" sz="2400" b="1" dirty="0" smtClean="0"/>
              <a:t> backend)</a:t>
            </a:r>
            <a:endParaRPr lang="en-US" sz="2400" b="1" dirty="0"/>
          </a:p>
        </p:txBody>
      </p:sp>
      <p:sp>
        <p:nvSpPr>
          <p:cNvPr id="3" name="Content Placeholder 2"/>
          <p:cNvSpPr>
            <a:spLocks noGrp="1"/>
          </p:cNvSpPr>
          <p:nvPr>
            <p:ph idx="1"/>
          </p:nvPr>
        </p:nvSpPr>
        <p:spPr>
          <a:xfrm>
            <a:off x="251520" y="1340768"/>
            <a:ext cx="8712968" cy="5256584"/>
          </a:xfrm>
        </p:spPr>
        <p:txBody>
          <a:bodyPr numCol="1">
            <a:noAutofit/>
          </a:bodyPr>
          <a:lstStyle/>
          <a:p>
            <a:pPr>
              <a:buNone/>
            </a:pPr>
            <a:r>
              <a:rPr lang="en-US" sz="2000" b="1" u="sng" dirty="0" smtClean="0">
                <a:solidFill>
                  <a:srgbClr val="0000FF"/>
                </a:solidFill>
              </a:rPr>
              <a:t>Using Sequential API (most beginner-friendly)</a:t>
            </a:r>
          </a:p>
          <a:p>
            <a:pPr>
              <a:buNone/>
            </a:pPr>
            <a:endParaRPr lang="en-US" sz="2000" dirty="0" smtClean="0"/>
          </a:p>
          <a:p>
            <a:pPr>
              <a:buNone/>
            </a:pPr>
            <a:r>
              <a:rPr lang="en-US" sz="2000" dirty="0" smtClean="0"/>
              <a:t>from </a:t>
            </a:r>
            <a:r>
              <a:rPr lang="en-US" sz="2000" dirty="0" err="1" smtClean="0"/>
              <a:t>tensorflow.keras.models</a:t>
            </a:r>
            <a:r>
              <a:rPr lang="en-US" sz="2000" dirty="0" smtClean="0"/>
              <a:t> import Sequential</a:t>
            </a:r>
          </a:p>
          <a:p>
            <a:pPr>
              <a:buNone/>
            </a:pPr>
            <a:r>
              <a:rPr lang="en-US" sz="2000" dirty="0" smtClean="0"/>
              <a:t>from </a:t>
            </a:r>
            <a:r>
              <a:rPr lang="en-US" sz="2000" dirty="0" err="1" smtClean="0"/>
              <a:t>tensorflow.keras.layers</a:t>
            </a:r>
            <a:r>
              <a:rPr lang="en-US" sz="2000" dirty="0" smtClean="0"/>
              <a:t> import Dense</a:t>
            </a:r>
          </a:p>
          <a:p>
            <a:pPr>
              <a:buNone/>
            </a:pPr>
            <a:endParaRPr lang="en-US" sz="2000" dirty="0" smtClean="0"/>
          </a:p>
          <a:p>
            <a:pPr>
              <a:buNone/>
            </a:pPr>
            <a:r>
              <a:rPr lang="en-US" sz="2000" dirty="0" smtClean="0"/>
              <a:t># Create a simple model</a:t>
            </a:r>
          </a:p>
          <a:p>
            <a:pPr>
              <a:buNone/>
            </a:pPr>
            <a:r>
              <a:rPr lang="en-US" sz="2000" dirty="0" smtClean="0"/>
              <a:t>model = Sequential([</a:t>
            </a:r>
          </a:p>
          <a:p>
            <a:pPr>
              <a:buNone/>
            </a:pPr>
            <a:r>
              <a:rPr lang="en-US" sz="2000" dirty="0" smtClean="0"/>
              <a:t>    Dense(64, activation='</a:t>
            </a:r>
            <a:r>
              <a:rPr lang="en-US" sz="2000" dirty="0" err="1" smtClean="0"/>
              <a:t>relu</a:t>
            </a:r>
            <a:r>
              <a:rPr lang="en-US" sz="2000" dirty="0" smtClean="0"/>
              <a:t>', </a:t>
            </a:r>
            <a:r>
              <a:rPr lang="en-US" sz="2000" dirty="0" err="1" smtClean="0"/>
              <a:t>input_shape</a:t>
            </a:r>
            <a:r>
              <a:rPr lang="en-US" sz="2000" dirty="0" smtClean="0"/>
              <a:t>=(</a:t>
            </a:r>
            <a:r>
              <a:rPr lang="en-US" sz="2000" dirty="0" err="1" smtClean="0"/>
              <a:t>input_dim</a:t>
            </a:r>
            <a:r>
              <a:rPr lang="en-US" sz="2000" dirty="0" smtClean="0"/>
              <a:t>,)),  # input layer</a:t>
            </a:r>
          </a:p>
          <a:p>
            <a:pPr>
              <a:buNone/>
            </a:pPr>
            <a:r>
              <a:rPr lang="en-US" sz="2000" dirty="0" smtClean="0"/>
              <a:t>    Dense(32, activation='</a:t>
            </a:r>
            <a:r>
              <a:rPr lang="en-US" sz="2000" dirty="0" err="1" smtClean="0"/>
              <a:t>relu</a:t>
            </a:r>
            <a:r>
              <a:rPr lang="en-US" sz="2000" dirty="0" smtClean="0"/>
              <a:t>'),    # hidden layer</a:t>
            </a:r>
          </a:p>
          <a:p>
            <a:pPr>
              <a:buNone/>
            </a:pPr>
            <a:r>
              <a:rPr lang="en-US" sz="2000" dirty="0" smtClean="0"/>
              <a:t>    Dense(1, activation='sigmoid')   # output layer</a:t>
            </a:r>
          </a:p>
          <a:p>
            <a:pPr>
              <a:buNone/>
            </a:pPr>
            <a:r>
              <a:rPr lang="en-US" sz="2000" dirty="0" smtClean="0"/>
              <a:t>])</a:t>
            </a:r>
          </a:p>
          <a:p>
            <a:endParaRPr lang="en-US" sz="2000" dirty="0" smtClean="0"/>
          </a:p>
          <a:p>
            <a:pPr>
              <a:buNone/>
            </a:pP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712968" cy="6408712"/>
          </a:xfrm>
        </p:spPr>
        <p:txBody>
          <a:bodyPr>
            <a:normAutofit fontScale="47500" lnSpcReduction="20000"/>
          </a:bodyPr>
          <a:lstStyle/>
          <a:p>
            <a:pPr>
              <a:buNone/>
            </a:pPr>
            <a:r>
              <a:rPr lang="en-US" dirty="0" smtClean="0"/>
              <a:t>Explanation:</a:t>
            </a:r>
          </a:p>
          <a:p>
            <a:pPr>
              <a:buNone/>
            </a:pPr>
            <a:r>
              <a:rPr lang="en-US" b="1" dirty="0" smtClean="0">
                <a:solidFill>
                  <a:srgbClr val="0000FF"/>
                </a:solidFill>
              </a:rPr>
              <a:t>Dense(64, activation='</a:t>
            </a:r>
            <a:r>
              <a:rPr lang="en-US" b="1" dirty="0" err="1" smtClean="0">
                <a:solidFill>
                  <a:srgbClr val="0000FF"/>
                </a:solidFill>
              </a:rPr>
              <a:t>relu</a:t>
            </a:r>
            <a:r>
              <a:rPr lang="en-US" b="1" dirty="0" smtClean="0">
                <a:solidFill>
                  <a:srgbClr val="0000FF"/>
                </a:solidFill>
              </a:rPr>
              <a:t>', </a:t>
            </a:r>
            <a:r>
              <a:rPr lang="en-US" b="1" dirty="0" err="1" smtClean="0">
                <a:solidFill>
                  <a:srgbClr val="0000FF"/>
                </a:solidFill>
              </a:rPr>
              <a:t>input_shape</a:t>
            </a:r>
            <a:r>
              <a:rPr lang="en-US" b="1" dirty="0" smtClean="0">
                <a:solidFill>
                  <a:srgbClr val="0000FF"/>
                </a:solidFill>
              </a:rPr>
              <a:t>=(</a:t>
            </a:r>
            <a:r>
              <a:rPr lang="en-US" b="1" dirty="0" err="1" smtClean="0">
                <a:solidFill>
                  <a:srgbClr val="0000FF"/>
                </a:solidFill>
              </a:rPr>
              <a:t>input_dim</a:t>
            </a:r>
            <a:r>
              <a:rPr lang="en-US" b="1" dirty="0" smtClean="0">
                <a:solidFill>
                  <a:srgbClr val="0000FF"/>
                </a:solidFill>
              </a:rPr>
              <a:t>,)),</a:t>
            </a:r>
          </a:p>
          <a:p>
            <a:r>
              <a:rPr lang="en-US" dirty="0" smtClean="0"/>
              <a:t>Sequential: Used to build models layer-by-layer (in a linear stack).</a:t>
            </a:r>
          </a:p>
          <a:p>
            <a:r>
              <a:rPr lang="en-US" dirty="0" smtClean="0"/>
              <a:t>Dense: Adds fully connected (dense) layers to the model.</a:t>
            </a:r>
          </a:p>
          <a:p>
            <a:r>
              <a:rPr lang="en-US" dirty="0" smtClean="0"/>
              <a:t>Layer 1: Input + First Hidden Layer</a:t>
            </a:r>
          </a:p>
          <a:p>
            <a:r>
              <a:rPr lang="en-US" b="1" dirty="0" err="1" smtClean="0"/>
              <a:t>input_dim</a:t>
            </a:r>
            <a:r>
              <a:rPr lang="en-US" b="1" dirty="0" smtClean="0"/>
              <a:t> is t</a:t>
            </a:r>
            <a:r>
              <a:rPr lang="en-US" dirty="0" smtClean="0"/>
              <a:t>he number of features in your dataset (e.g., 13 for UCI Heart dataset).</a:t>
            </a:r>
          </a:p>
          <a:p>
            <a:r>
              <a:rPr lang="en-US" dirty="0" smtClean="0"/>
              <a:t>Example: </a:t>
            </a:r>
            <a:r>
              <a:rPr lang="en-US" dirty="0" err="1" smtClean="0"/>
              <a:t>input_shape</a:t>
            </a:r>
            <a:r>
              <a:rPr lang="en-US" dirty="0" smtClean="0"/>
              <a:t>=(13,)</a:t>
            </a:r>
          </a:p>
          <a:p>
            <a:r>
              <a:rPr lang="en-US" dirty="0" smtClean="0"/>
              <a:t>Take 13 features as input, fully connect them to 64 neurons, apply </a:t>
            </a:r>
            <a:r>
              <a:rPr lang="en-US" dirty="0" err="1" smtClean="0"/>
              <a:t>ReLU</a:t>
            </a:r>
            <a:r>
              <a:rPr lang="en-US" dirty="0" smtClean="0"/>
              <a:t> to each neuron's output.</a:t>
            </a:r>
          </a:p>
          <a:p>
            <a:pPr>
              <a:buNone/>
            </a:pPr>
            <a:r>
              <a:rPr lang="en-US" b="1" dirty="0" smtClean="0">
                <a:solidFill>
                  <a:srgbClr val="0000FF"/>
                </a:solidFill>
              </a:rPr>
              <a:t>Dense(32, activation='</a:t>
            </a:r>
            <a:r>
              <a:rPr lang="en-US" b="1" dirty="0" err="1" smtClean="0">
                <a:solidFill>
                  <a:srgbClr val="0000FF"/>
                </a:solidFill>
              </a:rPr>
              <a:t>relu</a:t>
            </a:r>
            <a:r>
              <a:rPr lang="en-US" b="1" dirty="0" smtClean="0">
                <a:solidFill>
                  <a:srgbClr val="0000FF"/>
                </a:solidFill>
              </a:rPr>
              <a:t>'),</a:t>
            </a:r>
          </a:p>
          <a:p>
            <a:r>
              <a:rPr lang="en-US" dirty="0" smtClean="0"/>
              <a:t>Another fully connected layer with </a:t>
            </a:r>
            <a:r>
              <a:rPr lang="en-US" b="1" dirty="0" smtClean="0"/>
              <a:t>32 neurons</a:t>
            </a:r>
            <a:r>
              <a:rPr lang="en-US" dirty="0" smtClean="0"/>
              <a:t>.</a:t>
            </a:r>
          </a:p>
          <a:p>
            <a:r>
              <a:rPr lang="en-US" dirty="0" smtClean="0"/>
              <a:t>Also uses </a:t>
            </a:r>
            <a:r>
              <a:rPr lang="en-US" dirty="0" err="1" smtClean="0"/>
              <a:t>ReLU</a:t>
            </a:r>
            <a:r>
              <a:rPr lang="en-US" dirty="0" smtClean="0"/>
              <a:t> activation.</a:t>
            </a:r>
          </a:p>
          <a:p>
            <a:r>
              <a:rPr lang="en-US" dirty="0" smtClean="0"/>
              <a:t>Learns more complex patterns from the previous layer’s output.</a:t>
            </a:r>
          </a:p>
          <a:p>
            <a:endParaRPr lang="en-US" dirty="0" smtClean="0"/>
          </a:p>
          <a:p>
            <a:pPr>
              <a:buNone/>
            </a:pPr>
            <a:r>
              <a:rPr lang="en-US" b="1" dirty="0" smtClean="0">
                <a:solidFill>
                  <a:srgbClr val="0000FF"/>
                </a:solidFill>
              </a:rPr>
              <a:t> Dense(1, activation='sigmoid') </a:t>
            </a:r>
          </a:p>
          <a:p>
            <a:r>
              <a:rPr lang="en-US" dirty="0" smtClean="0"/>
              <a:t>Final layer with </a:t>
            </a:r>
            <a:r>
              <a:rPr lang="en-US" b="1" dirty="0" smtClean="0"/>
              <a:t>1 neuron</a:t>
            </a:r>
            <a:r>
              <a:rPr lang="en-US" dirty="0" smtClean="0"/>
              <a:t>.</a:t>
            </a:r>
          </a:p>
          <a:p>
            <a:r>
              <a:rPr lang="en-US" b="1" dirty="0" smtClean="0"/>
              <a:t>Activation = sigmoid</a:t>
            </a:r>
            <a:r>
              <a:rPr lang="en-US" dirty="0" smtClean="0"/>
              <a:t>, which outputs a value between 0 and 1.</a:t>
            </a:r>
          </a:p>
          <a:p>
            <a:r>
              <a:rPr lang="en-US" dirty="0" smtClean="0"/>
              <a:t>Perfect for </a:t>
            </a:r>
            <a:r>
              <a:rPr lang="en-US" b="1" dirty="0" smtClean="0"/>
              <a:t>binary classification</a:t>
            </a:r>
            <a:r>
              <a:rPr lang="en-US" dirty="0" smtClean="0"/>
              <a:t> problems (e.g., heart disease: yes/no).</a:t>
            </a:r>
          </a:p>
          <a:p>
            <a:endParaRPr lang="en-US" dirty="0" smtClean="0"/>
          </a:p>
          <a:p>
            <a:endParaRPr lang="en-US" dirty="0" smtClean="0"/>
          </a:p>
          <a:p>
            <a:endParaRPr lang="en-US"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12968" cy="6336704"/>
          </a:xfrm>
        </p:spPr>
        <p:txBody>
          <a:bodyPr>
            <a:normAutofit fontScale="40000" lnSpcReduction="20000"/>
          </a:bodyPr>
          <a:lstStyle/>
          <a:p>
            <a:pPr>
              <a:buNone/>
            </a:pPr>
            <a:r>
              <a:rPr lang="en-US" b="1" u="sng" dirty="0" smtClean="0">
                <a:solidFill>
                  <a:srgbClr val="0000FF"/>
                </a:solidFill>
              </a:rPr>
              <a:t>Using Functional API (more flexible for complex models)</a:t>
            </a:r>
          </a:p>
          <a:p>
            <a:pPr>
              <a:buNone/>
            </a:pPr>
            <a:endParaRPr lang="en-US" dirty="0" smtClean="0"/>
          </a:p>
          <a:p>
            <a:pPr>
              <a:buNone/>
            </a:pPr>
            <a:r>
              <a:rPr lang="en-US" dirty="0" smtClean="0"/>
              <a:t>from </a:t>
            </a:r>
            <a:r>
              <a:rPr lang="en-US" dirty="0" err="1" smtClean="0"/>
              <a:t>tensorflow.keras.models</a:t>
            </a:r>
            <a:r>
              <a:rPr lang="en-US" dirty="0" smtClean="0"/>
              <a:t> import Model</a:t>
            </a:r>
          </a:p>
          <a:p>
            <a:pPr>
              <a:buNone/>
            </a:pPr>
            <a:r>
              <a:rPr lang="en-US" dirty="0" smtClean="0"/>
              <a:t>from </a:t>
            </a:r>
            <a:r>
              <a:rPr lang="en-US" dirty="0" err="1" smtClean="0"/>
              <a:t>tensorflow.keras.layers</a:t>
            </a:r>
            <a:r>
              <a:rPr lang="en-US" dirty="0" smtClean="0"/>
              <a:t> import Input, Dense</a:t>
            </a:r>
          </a:p>
          <a:p>
            <a:pPr>
              <a:buNone/>
            </a:pPr>
            <a:r>
              <a:rPr lang="en-US" dirty="0" smtClean="0"/>
              <a:t># Define input</a:t>
            </a:r>
          </a:p>
          <a:p>
            <a:pPr>
              <a:buNone/>
            </a:pPr>
            <a:r>
              <a:rPr lang="en-US" dirty="0" smtClean="0"/>
              <a:t>inputs = Input(shape=(</a:t>
            </a:r>
            <a:r>
              <a:rPr lang="en-US" dirty="0" err="1" smtClean="0"/>
              <a:t>input_dim</a:t>
            </a:r>
            <a:r>
              <a:rPr lang="en-US" dirty="0" smtClean="0"/>
              <a:t>,))</a:t>
            </a:r>
          </a:p>
          <a:p>
            <a:pPr>
              <a:buNone/>
            </a:pPr>
            <a:r>
              <a:rPr lang="en-US" dirty="0" smtClean="0"/>
              <a:t>x = Dense(64, activation='</a:t>
            </a:r>
            <a:r>
              <a:rPr lang="en-US" dirty="0" err="1" smtClean="0"/>
              <a:t>relu</a:t>
            </a:r>
            <a:r>
              <a:rPr lang="en-US" dirty="0" smtClean="0"/>
              <a:t>')(inputs)</a:t>
            </a:r>
          </a:p>
          <a:p>
            <a:pPr>
              <a:buNone/>
            </a:pPr>
            <a:r>
              <a:rPr lang="en-US" dirty="0" smtClean="0"/>
              <a:t>x = Dense(32, activation='</a:t>
            </a:r>
            <a:r>
              <a:rPr lang="en-US" dirty="0" err="1" smtClean="0"/>
              <a:t>relu</a:t>
            </a:r>
            <a:r>
              <a:rPr lang="en-US" dirty="0" smtClean="0"/>
              <a:t>')(x)</a:t>
            </a:r>
          </a:p>
          <a:p>
            <a:pPr>
              <a:buNone/>
            </a:pPr>
            <a:r>
              <a:rPr lang="en-US" dirty="0" smtClean="0"/>
              <a:t>outputs = Dense(1, activation='sigmoid')(x)</a:t>
            </a:r>
          </a:p>
          <a:p>
            <a:pPr>
              <a:buNone/>
            </a:pPr>
            <a:endParaRPr lang="en-US" dirty="0" smtClean="0"/>
          </a:p>
          <a:p>
            <a:pPr>
              <a:buNone/>
            </a:pPr>
            <a:r>
              <a:rPr lang="en-US" dirty="0" smtClean="0"/>
              <a:t># Create model</a:t>
            </a:r>
          </a:p>
          <a:p>
            <a:pPr>
              <a:buNone/>
            </a:pPr>
            <a:r>
              <a:rPr lang="en-US" dirty="0" smtClean="0"/>
              <a:t>model = Model(inputs=inputs, outputs=outputs)</a:t>
            </a:r>
          </a:p>
          <a:p>
            <a:pPr>
              <a:buNone/>
            </a:pPr>
            <a:endParaRPr lang="en-US" dirty="0" smtClean="0"/>
          </a:p>
          <a:p>
            <a:pPr>
              <a:buNone/>
            </a:pPr>
            <a:r>
              <a:rPr lang="en-US" dirty="0" err="1" smtClean="0"/>
              <a:t>model.compile</a:t>
            </a:r>
            <a:r>
              <a:rPr lang="en-US" dirty="0" smtClean="0"/>
              <a:t>(optimizer='</a:t>
            </a:r>
            <a:r>
              <a:rPr lang="en-US" dirty="0" err="1" smtClean="0"/>
              <a:t>adam</a:t>
            </a:r>
            <a:r>
              <a:rPr lang="en-US" dirty="0" smtClean="0"/>
              <a:t>',</a:t>
            </a:r>
          </a:p>
          <a:p>
            <a:pPr>
              <a:buNone/>
            </a:pPr>
            <a:r>
              <a:rPr lang="en-US" dirty="0" smtClean="0"/>
              <a:t>              loss='</a:t>
            </a:r>
            <a:r>
              <a:rPr lang="en-US" dirty="0" err="1" smtClean="0"/>
              <a:t>binary_crossentropy</a:t>
            </a:r>
            <a:r>
              <a:rPr lang="en-US" dirty="0" smtClean="0"/>
              <a:t>',</a:t>
            </a:r>
          </a:p>
          <a:p>
            <a:pPr>
              <a:buNone/>
            </a:pPr>
            <a:r>
              <a:rPr lang="en-US" dirty="0" smtClean="0"/>
              <a:t>              metrics=['accuracy'])</a:t>
            </a:r>
          </a:p>
          <a:p>
            <a:pPr>
              <a:buNone/>
            </a:pPr>
            <a:endParaRPr lang="en-US" dirty="0" smtClean="0"/>
          </a:p>
          <a:p>
            <a:pPr>
              <a:buNone/>
            </a:pPr>
            <a:r>
              <a:rPr lang="en-US" dirty="0" smtClean="0"/>
              <a:t>model.fit(</a:t>
            </a:r>
            <a:r>
              <a:rPr lang="en-US" dirty="0" err="1" smtClean="0"/>
              <a:t>X_train</a:t>
            </a:r>
            <a:r>
              <a:rPr lang="en-US" dirty="0" smtClean="0"/>
              <a:t>, </a:t>
            </a:r>
            <a:r>
              <a:rPr lang="en-US" dirty="0" err="1" smtClean="0"/>
              <a:t>y_train</a:t>
            </a:r>
            <a:r>
              <a:rPr lang="en-US" dirty="0" smtClean="0"/>
              <a:t>, epochs=10, </a:t>
            </a:r>
            <a:r>
              <a:rPr lang="en-US" dirty="0" err="1" smtClean="0"/>
              <a:t>batch_size</a:t>
            </a:r>
            <a:r>
              <a:rPr lang="en-US" dirty="0" smtClean="0"/>
              <a:t>=32, </a:t>
            </a:r>
            <a:r>
              <a:rPr lang="en-US" dirty="0" err="1" smtClean="0"/>
              <a:t>validation_split</a:t>
            </a:r>
            <a:r>
              <a:rPr lang="en-US" dirty="0" smtClean="0"/>
              <a:t>=0.2)</a:t>
            </a:r>
          </a:p>
          <a:p>
            <a:pPr>
              <a:buNone/>
            </a:pPr>
            <a:endParaRPr lang="en-US" dirty="0" smtClean="0"/>
          </a:p>
          <a:p>
            <a:r>
              <a:rPr lang="en-US" dirty="0" err="1" smtClean="0"/>
              <a:t>model.compile</a:t>
            </a:r>
            <a:r>
              <a:rPr lang="en-US" dirty="0" smtClean="0"/>
              <a:t>(: prepares the model for training by configuring the optimization algorithm, loss function, and evaluation metrics.</a:t>
            </a:r>
          </a:p>
          <a:p>
            <a:r>
              <a:rPr lang="en-US" dirty="0" smtClean="0"/>
              <a:t>model.fit(...) : This line trains the model using the training data.</a:t>
            </a:r>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8568952" cy="6408712"/>
          </a:xfrm>
        </p:spPr>
        <p:txBody>
          <a:bodyPr>
            <a:normAutofit fontScale="40000" lnSpcReduction="20000"/>
          </a:bodyPr>
          <a:lstStyle/>
          <a:p>
            <a:pPr>
              <a:lnSpc>
                <a:spcPct val="170000"/>
              </a:lnSpc>
              <a:buNone/>
            </a:pPr>
            <a:r>
              <a:rPr lang="en-US" b="1" dirty="0" smtClean="0"/>
              <a:t>Example:</a:t>
            </a:r>
          </a:p>
          <a:p>
            <a:pPr>
              <a:lnSpc>
                <a:spcPct val="170000"/>
              </a:lnSpc>
              <a:buNone/>
            </a:pPr>
            <a:r>
              <a:rPr lang="en-US" dirty="0" smtClean="0"/>
              <a:t>from </a:t>
            </a:r>
            <a:r>
              <a:rPr lang="en-US" dirty="0" err="1" smtClean="0"/>
              <a:t>tensorflow.keras.models</a:t>
            </a:r>
            <a:r>
              <a:rPr lang="en-US" dirty="0" smtClean="0"/>
              <a:t> import Sequential</a:t>
            </a:r>
          </a:p>
          <a:p>
            <a:pPr>
              <a:lnSpc>
                <a:spcPct val="170000"/>
              </a:lnSpc>
              <a:buNone/>
            </a:pPr>
            <a:r>
              <a:rPr lang="en-US" dirty="0" smtClean="0"/>
              <a:t>from </a:t>
            </a:r>
            <a:r>
              <a:rPr lang="en-US" dirty="0" err="1" smtClean="0"/>
              <a:t>tensorflow.keras.layers</a:t>
            </a:r>
            <a:r>
              <a:rPr lang="en-US" dirty="0" smtClean="0"/>
              <a:t> import Dense</a:t>
            </a:r>
          </a:p>
          <a:p>
            <a:pPr>
              <a:lnSpc>
                <a:spcPct val="170000"/>
              </a:lnSpc>
              <a:buNone/>
            </a:pPr>
            <a:r>
              <a:rPr lang="en-US" b="1" dirty="0" smtClean="0">
                <a:solidFill>
                  <a:srgbClr val="0000FF"/>
                </a:solidFill>
              </a:rPr>
              <a:t>model = Sequential()</a:t>
            </a:r>
          </a:p>
          <a:p>
            <a:pPr>
              <a:lnSpc>
                <a:spcPct val="170000"/>
              </a:lnSpc>
              <a:buNone/>
            </a:pPr>
            <a:r>
              <a:rPr lang="en-US" b="1" dirty="0" err="1" smtClean="0">
                <a:solidFill>
                  <a:srgbClr val="0000FF"/>
                </a:solidFill>
              </a:rPr>
              <a:t>model.add</a:t>
            </a:r>
            <a:r>
              <a:rPr lang="en-US" dirty="0" smtClean="0"/>
              <a:t>(Dense(128, activation='</a:t>
            </a:r>
            <a:r>
              <a:rPr lang="en-US" dirty="0" err="1" smtClean="0"/>
              <a:t>relu</a:t>
            </a:r>
            <a:r>
              <a:rPr lang="en-US" dirty="0" smtClean="0"/>
              <a:t>')) 	  # 128 units/</a:t>
            </a:r>
            <a:r>
              <a:rPr lang="en-US" dirty="0" err="1" smtClean="0"/>
              <a:t>no.of</a:t>
            </a:r>
            <a:r>
              <a:rPr lang="en-US" dirty="0" smtClean="0"/>
              <a:t> neurons → </a:t>
            </a:r>
            <a:r>
              <a:rPr lang="en-US" dirty="0" err="1" smtClean="0"/>
              <a:t>hyperparameter</a:t>
            </a:r>
            <a:endParaRPr lang="en-US" dirty="0" smtClean="0"/>
          </a:p>
          <a:p>
            <a:pPr>
              <a:lnSpc>
                <a:spcPct val="170000"/>
              </a:lnSpc>
              <a:buNone/>
            </a:pPr>
            <a:r>
              <a:rPr lang="en-US" dirty="0" err="1" smtClean="0"/>
              <a:t>model.add</a:t>
            </a:r>
            <a:r>
              <a:rPr lang="en-US" dirty="0" smtClean="0"/>
              <a:t>(Dropout(0.3))                   	 # 0.3 dropout rate → </a:t>
            </a:r>
            <a:r>
              <a:rPr lang="en-US" dirty="0" err="1" smtClean="0"/>
              <a:t>hyperparameter</a:t>
            </a:r>
            <a:endParaRPr lang="en-US" dirty="0" smtClean="0"/>
          </a:p>
          <a:p>
            <a:pPr>
              <a:lnSpc>
                <a:spcPct val="170000"/>
              </a:lnSpc>
              <a:buNone/>
            </a:pPr>
            <a:r>
              <a:rPr lang="en-US" dirty="0" err="1" smtClean="0"/>
              <a:t>model.compile</a:t>
            </a:r>
            <a:r>
              <a:rPr lang="en-US" dirty="0" smtClean="0"/>
              <a:t>(optimizer='</a:t>
            </a:r>
            <a:r>
              <a:rPr lang="en-US" dirty="0" err="1" smtClean="0"/>
              <a:t>adam</a:t>
            </a:r>
            <a:r>
              <a:rPr lang="en-US" dirty="0" smtClean="0"/>
              <a:t>',         	   # optimizer type → </a:t>
            </a:r>
            <a:r>
              <a:rPr lang="en-US" dirty="0" err="1" smtClean="0"/>
              <a:t>hyperparameter</a:t>
            </a:r>
            <a:endParaRPr lang="en-US" dirty="0" smtClean="0"/>
          </a:p>
          <a:p>
            <a:pPr>
              <a:lnSpc>
                <a:spcPct val="170000"/>
              </a:lnSpc>
              <a:buNone/>
            </a:pPr>
            <a:r>
              <a:rPr lang="en-US" dirty="0" smtClean="0"/>
              <a:t>              loss='</a:t>
            </a:r>
            <a:r>
              <a:rPr lang="en-US" dirty="0" err="1" smtClean="0"/>
              <a:t>categorical_crossentropy</a:t>
            </a:r>
            <a:r>
              <a:rPr lang="en-US" dirty="0" smtClean="0"/>
              <a:t>',</a:t>
            </a:r>
          </a:p>
          <a:p>
            <a:pPr>
              <a:lnSpc>
                <a:spcPct val="170000"/>
              </a:lnSpc>
              <a:buNone/>
            </a:pPr>
            <a:r>
              <a:rPr lang="en-US" dirty="0" smtClean="0"/>
              <a:t>              metrics=['accuracy'])</a:t>
            </a:r>
          </a:p>
          <a:p>
            <a:pPr>
              <a:lnSpc>
                <a:spcPct val="170000"/>
              </a:lnSpc>
              <a:buNone/>
            </a:pPr>
            <a:r>
              <a:rPr lang="en-US" dirty="0" smtClean="0"/>
              <a:t>model.fit(</a:t>
            </a:r>
            <a:r>
              <a:rPr lang="en-US" dirty="0" err="1" smtClean="0"/>
              <a:t>X_train</a:t>
            </a:r>
            <a:r>
              <a:rPr lang="en-US" dirty="0" smtClean="0"/>
              <a:t>, </a:t>
            </a:r>
            <a:r>
              <a:rPr lang="en-US" dirty="0" err="1" smtClean="0"/>
              <a:t>y_train</a:t>
            </a:r>
            <a:r>
              <a:rPr lang="en-US" dirty="0" smtClean="0"/>
              <a:t>, epochs=10,   	  # 10 epochs → </a:t>
            </a:r>
            <a:r>
              <a:rPr lang="en-US" dirty="0" err="1" smtClean="0"/>
              <a:t>hyperparameter</a:t>
            </a:r>
            <a:endParaRPr lang="en-US" dirty="0" smtClean="0"/>
          </a:p>
          <a:p>
            <a:pPr>
              <a:lnSpc>
                <a:spcPct val="170000"/>
              </a:lnSpc>
              <a:buNone/>
            </a:pPr>
            <a:r>
              <a:rPr lang="en-US" dirty="0" smtClean="0"/>
              <a:t>          </a:t>
            </a:r>
            <a:r>
              <a:rPr lang="en-US" dirty="0" err="1" smtClean="0"/>
              <a:t>batch_size</a:t>
            </a:r>
            <a:r>
              <a:rPr lang="en-US" dirty="0" smtClean="0"/>
              <a:t>=32)                   		# batch size → </a:t>
            </a:r>
            <a:r>
              <a:rPr lang="en-US" dirty="0" err="1" smtClean="0"/>
              <a:t>hyperparameter</a:t>
            </a:r>
            <a:endParaRPr lang="en-US" dirty="0" smtClean="0"/>
          </a:p>
          <a:p>
            <a:pPr>
              <a:lnSpc>
                <a:spcPct val="170000"/>
              </a:lnSpc>
              <a:buNone/>
            </a:pPr>
            <a:endParaRPr lang="en-US" dirty="0" smtClean="0"/>
          </a:p>
          <a:p>
            <a:pPr>
              <a:lnSpc>
                <a:spcPct val="170000"/>
              </a:lnSpc>
              <a:buNone/>
            </a:pPr>
            <a:r>
              <a:rPr lang="en-US" b="1" dirty="0" smtClean="0">
                <a:solidFill>
                  <a:srgbClr val="C00000"/>
                </a:solidFill>
              </a:rPr>
              <a:t>“128" means the number of neurons in that layer, and each neuron learns a part of the data representation.</a:t>
            </a:r>
          </a:p>
          <a:p>
            <a:pPr>
              <a:lnSpc>
                <a:spcPct val="170000"/>
              </a:lnSpc>
              <a:buNone/>
            </a:pPr>
            <a:r>
              <a:rPr lang="en-US" dirty="0" smtClean="0"/>
              <a:t>Suppose the </a:t>
            </a:r>
            <a:r>
              <a:rPr lang="en-US" b="1" dirty="0" smtClean="0">
                <a:solidFill>
                  <a:srgbClr val="0000FF"/>
                </a:solidFill>
              </a:rPr>
              <a:t>previous layer has 64 outputs </a:t>
            </a:r>
            <a:r>
              <a:rPr lang="en-US" dirty="0" smtClean="0"/>
              <a:t>(features). Then:</a:t>
            </a:r>
          </a:p>
          <a:p>
            <a:pPr>
              <a:lnSpc>
                <a:spcPct val="170000"/>
              </a:lnSpc>
              <a:buNone/>
            </a:pPr>
            <a:r>
              <a:rPr lang="en-US" dirty="0" smtClean="0"/>
              <a:t>Each of the 128 neurons will have </a:t>
            </a:r>
            <a:r>
              <a:rPr lang="en-US" b="1" dirty="0" smtClean="0">
                <a:solidFill>
                  <a:srgbClr val="0000FF"/>
                </a:solidFill>
              </a:rPr>
              <a:t>64 weights + 1 bias</a:t>
            </a:r>
            <a:r>
              <a:rPr lang="en-US" dirty="0" smtClean="0"/>
              <a:t>.</a:t>
            </a:r>
          </a:p>
          <a:p>
            <a:pPr>
              <a:lnSpc>
                <a:spcPct val="170000"/>
              </a:lnSpc>
              <a:buNone/>
            </a:pPr>
            <a:r>
              <a:rPr lang="en-US" dirty="0" smtClean="0"/>
              <a:t>So, this layer will have:</a:t>
            </a:r>
          </a:p>
          <a:p>
            <a:pPr>
              <a:lnSpc>
                <a:spcPct val="170000"/>
              </a:lnSpc>
              <a:buNone/>
            </a:pPr>
            <a:r>
              <a:rPr lang="en-US" dirty="0" smtClean="0"/>
              <a:t>(64 + 1) × 128 = 8320 parameters</a:t>
            </a:r>
          </a:p>
          <a:p>
            <a:pPr>
              <a:lnSpc>
                <a:spcPct val="170000"/>
              </a:lnSpc>
              <a:buNone/>
            </a:pPr>
            <a:r>
              <a:rPr lang="en-US" dirty="0" smtClean="0"/>
              <a:t>These are the.</a:t>
            </a:r>
            <a:r>
              <a:rPr lang="en-US" b="1" dirty="0" smtClean="0">
                <a:solidFill>
                  <a:srgbClr val="0000FF"/>
                </a:solidFill>
              </a:rPr>
              <a:t> trainable parameters. (model parameters)</a:t>
            </a:r>
            <a:endParaRPr lang="en-US" dirty="0" smtClean="0"/>
          </a:p>
          <a:p>
            <a:pPr>
              <a:lnSpc>
                <a:spcPct val="170000"/>
              </a:lnSpc>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332656"/>
            <a:ext cx="8291264" cy="5793507"/>
          </a:xfrm>
        </p:spPr>
        <p:txBody>
          <a:bodyPr>
            <a:normAutofit fontScale="77500" lnSpcReduction="20000"/>
          </a:bodyPr>
          <a:lstStyle/>
          <a:p>
            <a:r>
              <a:rPr lang="en-US" dirty="0" smtClean="0"/>
              <a:t>set the </a:t>
            </a:r>
            <a:r>
              <a:rPr lang="en-US" dirty="0" err="1" smtClean="0"/>
              <a:t>hyperparameters</a:t>
            </a:r>
            <a:r>
              <a:rPr lang="en-US" dirty="0" smtClean="0"/>
              <a:t> before training begins and the learning algorithm uses them to learn the parameters.</a:t>
            </a:r>
          </a:p>
          <a:p>
            <a:r>
              <a:rPr lang="en-US" b="1" dirty="0" smtClean="0">
                <a:solidFill>
                  <a:srgbClr val="0000FF"/>
                </a:solidFill>
              </a:rPr>
              <a:t>setting the right </a:t>
            </a:r>
            <a:r>
              <a:rPr lang="en-US" b="1" dirty="0" err="1" smtClean="0">
                <a:solidFill>
                  <a:srgbClr val="0000FF"/>
                </a:solidFill>
              </a:rPr>
              <a:t>hyperparameter</a:t>
            </a:r>
            <a:r>
              <a:rPr lang="en-US" b="1" dirty="0" smtClean="0">
                <a:solidFill>
                  <a:srgbClr val="0000FF"/>
                </a:solidFill>
              </a:rPr>
              <a:t> </a:t>
            </a:r>
            <a:r>
              <a:rPr lang="en-US" dirty="0" smtClean="0"/>
              <a:t>values is very important because it directly impacts the performance of the model that will result from them being used during model training. </a:t>
            </a:r>
          </a:p>
          <a:p>
            <a:r>
              <a:rPr lang="en-US" dirty="0" smtClean="0"/>
              <a:t>The </a:t>
            </a:r>
            <a:r>
              <a:rPr lang="en-US" b="1" dirty="0" smtClean="0">
                <a:solidFill>
                  <a:srgbClr val="0000FF"/>
                </a:solidFill>
              </a:rPr>
              <a:t>process of choosing the best </a:t>
            </a:r>
            <a:r>
              <a:rPr lang="en-US" b="1" dirty="0" err="1" smtClean="0">
                <a:solidFill>
                  <a:srgbClr val="0000FF"/>
                </a:solidFill>
              </a:rPr>
              <a:t>hyperparameters</a:t>
            </a:r>
            <a:r>
              <a:rPr lang="en-US" b="1" dirty="0" smtClean="0">
                <a:solidFill>
                  <a:srgbClr val="0000FF"/>
                </a:solidFill>
              </a:rPr>
              <a:t> </a:t>
            </a:r>
            <a:r>
              <a:rPr lang="en-US" dirty="0" smtClean="0"/>
              <a:t>for your model is called </a:t>
            </a:r>
            <a:r>
              <a:rPr lang="en-US" b="1" dirty="0" err="1" smtClean="0">
                <a:solidFill>
                  <a:srgbClr val="0000FF"/>
                </a:solidFill>
              </a:rPr>
              <a:t>hyperparameter</a:t>
            </a:r>
            <a:r>
              <a:rPr lang="en-US" b="1" dirty="0" smtClean="0">
                <a:solidFill>
                  <a:srgbClr val="0000FF"/>
                </a:solidFill>
              </a:rPr>
              <a:t> tuning</a:t>
            </a:r>
            <a:r>
              <a:rPr lang="en-US" dirty="0" smtClean="0"/>
              <a:t>.</a:t>
            </a:r>
          </a:p>
          <a:p>
            <a:pPr>
              <a:buNone/>
            </a:pPr>
            <a:r>
              <a:rPr lang="en-US" dirty="0" smtClean="0"/>
              <a:t>Or</a:t>
            </a:r>
          </a:p>
          <a:p>
            <a:r>
              <a:rPr lang="en-US" dirty="0" err="1" smtClean="0"/>
              <a:t>Hyperparameter</a:t>
            </a:r>
            <a:r>
              <a:rPr lang="en-US" dirty="0" smtClean="0"/>
              <a:t> tuning is the process of </a:t>
            </a:r>
            <a:r>
              <a:rPr lang="en-US" b="1" dirty="0" smtClean="0">
                <a:solidFill>
                  <a:srgbClr val="0000FF"/>
                </a:solidFill>
              </a:rPr>
              <a:t>finding the best combination of these settings</a:t>
            </a:r>
            <a:r>
              <a:rPr lang="en-US" dirty="0" smtClean="0"/>
              <a:t> to improve model performance.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496944" cy="6264696"/>
          </a:xfrm>
        </p:spPr>
        <p:txBody>
          <a:bodyPr>
            <a:normAutofit fontScale="62500" lnSpcReduction="20000"/>
          </a:bodyPr>
          <a:lstStyle/>
          <a:p>
            <a:pPr>
              <a:lnSpc>
                <a:spcPct val="170000"/>
              </a:lnSpc>
              <a:buNone/>
            </a:pPr>
            <a:r>
              <a:rPr lang="en-US" b="1" u="sng" dirty="0" smtClean="0">
                <a:solidFill>
                  <a:srgbClr val="C00000"/>
                </a:solidFill>
              </a:rPr>
              <a:t>(As per the reference Book content)</a:t>
            </a:r>
          </a:p>
          <a:p>
            <a:pPr>
              <a:lnSpc>
                <a:spcPct val="170000"/>
              </a:lnSpc>
              <a:buNone/>
            </a:pPr>
            <a:endParaRPr lang="en-US" dirty="0" smtClean="0"/>
          </a:p>
          <a:p>
            <a:pPr>
              <a:lnSpc>
                <a:spcPct val="170000"/>
              </a:lnSpc>
              <a:buNone/>
            </a:pPr>
            <a:r>
              <a:rPr lang="en-US" dirty="0" smtClean="0"/>
              <a:t>Layer size  : defined by the </a:t>
            </a:r>
            <a:r>
              <a:rPr lang="en-US" b="1" dirty="0" smtClean="0">
                <a:solidFill>
                  <a:srgbClr val="0000FF"/>
                </a:solidFill>
              </a:rPr>
              <a:t>number of neurons in a given layer. </a:t>
            </a:r>
            <a:r>
              <a:rPr lang="en-US" dirty="0" smtClean="0"/>
              <a:t>For the input layer, this will match up to the number of features in the input vector. For the output layer, this will either be a single output neuron or a number of neurons matching the number of classes we are trying to predict.</a:t>
            </a:r>
          </a:p>
          <a:p>
            <a:pPr>
              <a:lnSpc>
                <a:spcPct val="170000"/>
              </a:lnSpc>
              <a:buNone/>
            </a:pPr>
            <a:r>
              <a:rPr lang="en-US" dirty="0" smtClean="0"/>
              <a:t>• Magnitude (momentum, learning rate)</a:t>
            </a:r>
          </a:p>
          <a:p>
            <a:pPr>
              <a:lnSpc>
                <a:spcPct val="170000"/>
              </a:lnSpc>
              <a:buNone/>
            </a:pPr>
            <a:r>
              <a:rPr lang="en-US" dirty="0" smtClean="0"/>
              <a:t>• Regularization (dropout, drop connect, L1, L2)</a:t>
            </a:r>
          </a:p>
          <a:p>
            <a:pPr>
              <a:lnSpc>
                <a:spcPct val="170000"/>
              </a:lnSpc>
              <a:buNone/>
            </a:pPr>
            <a:r>
              <a:rPr lang="en-US" dirty="0" smtClean="0"/>
              <a:t>• Activations (and activation function families)</a:t>
            </a:r>
          </a:p>
          <a:p>
            <a:pPr>
              <a:lnSpc>
                <a:spcPct val="170000"/>
              </a:lnSpc>
              <a:buNone/>
            </a:pPr>
            <a:r>
              <a:rPr lang="en-US" dirty="0" smtClean="0"/>
              <a:t>• Weight initialization strategy</a:t>
            </a:r>
          </a:p>
          <a:p>
            <a:pPr>
              <a:lnSpc>
                <a:spcPct val="170000"/>
              </a:lnSpc>
              <a:buNone/>
            </a:pPr>
            <a:r>
              <a:rPr lang="en-US" dirty="0" smtClean="0"/>
              <a:t>• Loss functions</a:t>
            </a:r>
          </a:p>
          <a:p>
            <a:pPr>
              <a:lnSpc>
                <a:spcPct val="170000"/>
              </a:lnSpc>
              <a:buNone/>
            </a:pPr>
            <a:r>
              <a:rPr lang="en-US" dirty="0" smtClean="0"/>
              <a:t>• Settings for epochs during training (mini-batch size)</a:t>
            </a:r>
          </a:p>
          <a:p>
            <a:pPr>
              <a:lnSpc>
                <a:spcPct val="170000"/>
              </a:lnSpc>
              <a:buNone/>
            </a:pPr>
            <a:r>
              <a:rPr lang="en-US" dirty="0" smtClean="0"/>
              <a:t>• Normalization scheme for input data (</a:t>
            </a:r>
            <a:r>
              <a:rPr lang="en-US" dirty="0" err="1" smtClean="0"/>
              <a:t>vectorization</a:t>
            </a:r>
            <a:r>
              <a:rPr lang="en-US" dirty="0" smtClean="0"/>
              <a: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712968" cy="6408712"/>
          </a:xfrm>
        </p:spPr>
        <p:txBody>
          <a:bodyPr>
            <a:normAutofit fontScale="62500" lnSpcReduction="20000"/>
          </a:bodyPr>
          <a:lstStyle/>
          <a:p>
            <a:pPr>
              <a:buNone/>
            </a:pPr>
            <a:r>
              <a:rPr lang="en-US" b="1" dirty="0" smtClean="0"/>
              <a:t>1. Learning Rate (</a:t>
            </a:r>
            <a:r>
              <a:rPr lang="en-US" b="1" dirty="0" err="1" smtClean="0"/>
              <a:t>lr</a:t>
            </a:r>
            <a:r>
              <a:rPr lang="en-US" b="1" dirty="0" smtClean="0"/>
              <a:t>)</a:t>
            </a:r>
          </a:p>
          <a:p>
            <a:pPr>
              <a:buNone/>
            </a:pPr>
            <a:r>
              <a:rPr lang="en-US" dirty="0" smtClean="0"/>
              <a:t>Controls </a:t>
            </a:r>
            <a:r>
              <a:rPr lang="en-US" b="1" dirty="0" smtClean="0"/>
              <a:t>how big a step</a:t>
            </a:r>
            <a:r>
              <a:rPr lang="en-US" dirty="0" smtClean="0"/>
              <a:t> the model takes to adjust weights during training.</a:t>
            </a:r>
          </a:p>
          <a:p>
            <a:pPr>
              <a:buNone/>
            </a:pPr>
            <a:r>
              <a:rPr lang="en-US" b="1" dirty="0" smtClean="0"/>
              <a:t>Too small</a:t>
            </a:r>
            <a:r>
              <a:rPr lang="en-US" dirty="0" smtClean="0"/>
              <a:t>: Training is slow.</a:t>
            </a:r>
          </a:p>
          <a:p>
            <a:pPr>
              <a:buNone/>
            </a:pPr>
            <a:r>
              <a:rPr lang="en-US" b="1" dirty="0" smtClean="0"/>
              <a:t>Too big</a:t>
            </a:r>
            <a:r>
              <a:rPr lang="en-US" dirty="0" smtClean="0"/>
              <a:t>: Model might overshoot and never learn properly.</a:t>
            </a:r>
          </a:p>
          <a:p>
            <a:pPr>
              <a:buNone/>
            </a:pPr>
            <a:r>
              <a:rPr lang="en-US" b="1" dirty="0" smtClean="0"/>
              <a:t>Example:</a:t>
            </a:r>
          </a:p>
          <a:p>
            <a:pPr>
              <a:buNone/>
            </a:pPr>
            <a:r>
              <a:rPr lang="en-US" dirty="0" smtClean="0"/>
              <a:t>optimizer = Adam(</a:t>
            </a:r>
            <a:r>
              <a:rPr lang="en-US" dirty="0" err="1" smtClean="0"/>
              <a:t>learning_rate</a:t>
            </a:r>
            <a:r>
              <a:rPr lang="en-US" dirty="0" smtClean="0"/>
              <a:t>=0.001) </a:t>
            </a:r>
          </a:p>
          <a:p>
            <a:pPr>
              <a:buNone/>
            </a:pPr>
            <a:r>
              <a:rPr lang="en-US" dirty="0" smtClean="0"/>
              <a:t>0.001 is a common default. You can try 0.01, 0.0001, etc.</a:t>
            </a:r>
          </a:p>
          <a:p>
            <a:pPr>
              <a:buNone/>
            </a:pPr>
            <a:r>
              <a:rPr lang="en-US" b="1" dirty="0" smtClean="0"/>
              <a:t> 2. Batch Size</a:t>
            </a:r>
          </a:p>
          <a:p>
            <a:pPr>
              <a:buNone/>
            </a:pPr>
            <a:r>
              <a:rPr lang="en-US" dirty="0" smtClean="0"/>
              <a:t>The number of </a:t>
            </a:r>
            <a:r>
              <a:rPr lang="en-US" b="1" dirty="0" smtClean="0"/>
              <a:t>samples</a:t>
            </a:r>
            <a:r>
              <a:rPr lang="en-US" dirty="0" smtClean="0"/>
              <a:t> the model sees </a:t>
            </a:r>
            <a:r>
              <a:rPr lang="en-US" b="1" dirty="0" smtClean="0"/>
              <a:t>at one time</a:t>
            </a:r>
            <a:r>
              <a:rPr lang="en-US" dirty="0" smtClean="0"/>
              <a:t> before updating weights.</a:t>
            </a:r>
          </a:p>
          <a:p>
            <a:pPr>
              <a:buNone/>
            </a:pPr>
            <a:r>
              <a:rPr lang="en-US" b="1" dirty="0" smtClean="0"/>
              <a:t>Small batch size</a:t>
            </a:r>
            <a:r>
              <a:rPr lang="en-US" dirty="0" smtClean="0"/>
              <a:t> = slower training, better generalization</a:t>
            </a:r>
          </a:p>
          <a:p>
            <a:pPr>
              <a:buNone/>
            </a:pPr>
            <a:r>
              <a:rPr lang="en-US" b="1" dirty="0" smtClean="0"/>
              <a:t>Large batch size</a:t>
            </a:r>
            <a:r>
              <a:rPr lang="en-US" dirty="0" smtClean="0"/>
              <a:t> = faster training, more memory use</a:t>
            </a:r>
          </a:p>
          <a:p>
            <a:pPr>
              <a:buNone/>
            </a:pPr>
            <a:r>
              <a:rPr lang="en-US" b="1" dirty="0" smtClean="0"/>
              <a:t>Example:</a:t>
            </a:r>
          </a:p>
          <a:p>
            <a:pPr>
              <a:buNone/>
            </a:pPr>
            <a:r>
              <a:rPr lang="en-US" dirty="0" smtClean="0"/>
              <a:t>model.fit(</a:t>
            </a:r>
            <a:r>
              <a:rPr lang="en-US" dirty="0" err="1" smtClean="0"/>
              <a:t>X_train</a:t>
            </a:r>
            <a:r>
              <a:rPr lang="en-US" dirty="0" smtClean="0"/>
              <a:t>, </a:t>
            </a:r>
            <a:r>
              <a:rPr lang="en-US" dirty="0" err="1" smtClean="0"/>
              <a:t>y_train</a:t>
            </a:r>
            <a:r>
              <a:rPr lang="en-US" dirty="0" smtClean="0"/>
              <a:t>, </a:t>
            </a:r>
            <a:r>
              <a:rPr lang="en-US" dirty="0" err="1" smtClean="0"/>
              <a:t>batch_size</a:t>
            </a:r>
            <a:r>
              <a:rPr lang="en-US" dirty="0" smtClean="0"/>
              <a:t>=32) </a:t>
            </a:r>
          </a:p>
          <a:p>
            <a:pPr>
              <a:buNone/>
            </a:pPr>
            <a:r>
              <a:rPr lang="en-US" dirty="0" smtClean="0"/>
              <a:t>32 samples are used in one training step.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12968" cy="6408712"/>
          </a:xfrm>
        </p:spPr>
        <p:txBody>
          <a:bodyPr>
            <a:normAutofit fontScale="47500" lnSpcReduction="20000"/>
          </a:bodyPr>
          <a:lstStyle/>
          <a:p>
            <a:pPr>
              <a:buNone/>
            </a:pPr>
            <a:r>
              <a:rPr lang="en-US" b="1" dirty="0" smtClean="0"/>
              <a:t> 3. Epochs</a:t>
            </a:r>
          </a:p>
          <a:p>
            <a:pPr>
              <a:buNone/>
            </a:pPr>
            <a:r>
              <a:rPr lang="en-US" dirty="0" smtClean="0"/>
              <a:t>One </a:t>
            </a:r>
            <a:r>
              <a:rPr lang="en-US" b="1" dirty="0" smtClean="0"/>
              <a:t>epoch</a:t>
            </a:r>
            <a:r>
              <a:rPr lang="en-US" dirty="0" smtClean="0"/>
              <a:t> = one complete pass through the entire training dataset.</a:t>
            </a:r>
          </a:p>
          <a:p>
            <a:pPr>
              <a:buNone/>
            </a:pPr>
            <a:r>
              <a:rPr lang="en-US" dirty="0" smtClean="0"/>
              <a:t>More epochs → better learning (up to a point)</a:t>
            </a:r>
          </a:p>
          <a:p>
            <a:pPr>
              <a:buNone/>
            </a:pPr>
            <a:r>
              <a:rPr lang="en-US" dirty="0" smtClean="0"/>
              <a:t>Too many → model may </a:t>
            </a:r>
            <a:r>
              <a:rPr lang="en-US" b="1" dirty="0" err="1" smtClean="0"/>
              <a:t>overfit</a:t>
            </a:r>
            <a:endParaRPr lang="en-US" dirty="0" smtClean="0"/>
          </a:p>
          <a:p>
            <a:pPr>
              <a:buNone/>
            </a:pPr>
            <a:r>
              <a:rPr lang="en-US" b="1" dirty="0" smtClean="0"/>
              <a:t> Example:</a:t>
            </a:r>
          </a:p>
          <a:p>
            <a:pPr>
              <a:buNone/>
            </a:pPr>
            <a:r>
              <a:rPr lang="en-US" dirty="0" smtClean="0"/>
              <a:t>model.fit(</a:t>
            </a:r>
            <a:r>
              <a:rPr lang="en-US" dirty="0" err="1" smtClean="0"/>
              <a:t>X_train</a:t>
            </a:r>
            <a:r>
              <a:rPr lang="en-US" dirty="0" smtClean="0"/>
              <a:t>, </a:t>
            </a:r>
            <a:r>
              <a:rPr lang="en-US" dirty="0" err="1" smtClean="0"/>
              <a:t>y_train</a:t>
            </a:r>
            <a:r>
              <a:rPr lang="en-US" dirty="0" smtClean="0"/>
              <a:t>, epochs=20) </a:t>
            </a:r>
          </a:p>
          <a:p>
            <a:pPr>
              <a:buNone/>
            </a:pPr>
            <a:r>
              <a:rPr lang="en-US" dirty="0" smtClean="0"/>
              <a:t>Model sees the entire dataset </a:t>
            </a:r>
            <a:r>
              <a:rPr lang="en-US" b="1" dirty="0" smtClean="0"/>
              <a:t>20 times</a:t>
            </a:r>
            <a:r>
              <a:rPr lang="en-US" dirty="0" smtClean="0"/>
              <a:t> during training.</a:t>
            </a:r>
          </a:p>
          <a:p>
            <a:pPr>
              <a:buNone/>
            </a:pPr>
            <a:r>
              <a:rPr lang="en-US" b="1" dirty="0" smtClean="0"/>
              <a:t> 4. Number of Neurons (Units) in a Layer or layer size:</a:t>
            </a:r>
          </a:p>
          <a:p>
            <a:pPr>
              <a:buNone/>
            </a:pPr>
            <a:r>
              <a:rPr lang="en-US" dirty="0" smtClean="0"/>
              <a:t>Number of </a:t>
            </a:r>
            <a:r>
              <a:rPr lang="en-US" b="1" dirty="0" smtClean="0"/>
              <a:t>processing units (neurons)</a:t>
            </a:r>
            <a:r>
              <a:rPr lang="en-US" dirty="0" smtClean="0"/>
              <a:t> in a layer.</a:t>
            </a:r>
          </a:p>
          <a:p>
            <a:pPr>
              <a:buNone/>
            </a:pPr>
            <a:r>
              <a:rPr lang="en-US" b="1" dirty="0" smtClean="0"/>
              <a:t>Too few</a:t>
            </a:r>
            <a:r>
              <a:rPr lang="en-US" dirty="0" smtClean="0"/>
              <a:t> → </a:t>
            </a:r>
            <a:r>
              <a:rPr lang="en-US" dirty="0" err="1" smtClean="0"/>
              <a:t>underfitting</a:t>
            </a:r>
            <a:endParaRPr lang="en-US" dirty="0" smtClean="0"/>
          </a:p>
          <a:p>
            <a:pPr>
              <a:buNone/>
            </a:pPr>
            <a:r>
              <a:rPr lang="en-US" b="1" dirty="0" smtClean="0"/>
              <a:t>Too many</a:t>
            </a:r>
            <a:r>
              <a:rPr lang="en-US" dirty="0" smtClean="0"/>
              <a:t> → </a:t>
            </a:r>
            <a:r>
              <a:rPr lang="en-US" dirty="0" err="1" smtClean="0"/>
              <a:t>overfitting</a:t>
            </a:r>
            <a:r>
              <a:rPr lang="en-US" dirty="0" smtClean="0"/>
              <a:t> or unnecessary complexity</a:t>
            </a:r>
          </a:p>
          <a:p>
            <a:pPr>
              <a:buNone/>
            </a:pPr>
            <a:r>
              <a:rPr lang="en-US" b="1" dirty="0" smtClean="0"/>
              <a:t>Example:</a:t>
            </a:r>
          </a:p>
          <a:p>
            <a:pPr>
              <a:buNone/>
            </a:pPr>
            <a:r>
              <a:rPr lang="en-US" dirty="0" err="1" smtClean="0"/>
              <a:t>model.add</a:t>
            </a:r>
            <a:r>
              <a:rPr lang="en-US" dirty="0" smtClean="0"/>
              <a:t>(Dense(128, activation='</a:t>
            </a:r>
            <a:r>
              <a:rPr lang="en-US" dirty="0" err="1" smtClean="0"/>
              <a:t>relu</a:t>
            </a:r>
            <a:r>
              <a:rPr lang="en-US" dirty="0" smtClean="0"/>
              <a:t>')) </a:t>
            </a:r>
          </a:p>
          <a:p>
            <a:pPr>
              <a:buNone/>
            </a:pPr>
            <a:r>
              <a:rPr lang="en-US" dirty="0" smtClean="0"/>
              <a:t>Adds a layer with 128 neurons.</a:t>
            </a:r>
          </a:p>
          <a:p>
            <a:pPr>
              <a:lnSpc>
                <a:spcPct val="170000"/>
              </a:lnSpc>
              <a:buNone/>
            </a:pPr>
            <a:r>
              <a:rPr lang="en-US" dirty="0" smtClean="0"/>
              <a:t>Layer size  : defined by the number of neurons in a given layer For the input layer, this will match up to the</a:t>
            </a:r>
          </a:p>
          <a:p>
            <a:pPr>
              <a:lnSpc>
                <a:spcPct val="170000"/>
              </a:lnSpc>
              <a:buNone/>
            </a:pPr>
            <a:r>
              <a:rPr lang="en-US" dirty="0" smtClean="0"/>
              <a:t>number of features in the input vector. For the output layer, this will either be </a:t>
            </a:r>
            <a:r>
              <a:rPr lang="en-US" smtClean="0"/>
              <a:t>a single output </a:t>
            </a:r>
            <a:r>
              <a:rPr lang="en-US" dirty="0" smtClean="0"/>
              <a:t>neuron or a number of neurons matching the number of classes trying to predict.</a:t>
            </a:r>
          </a:p>
          <a:p>
            <a:pPr>
              <a:buNone/>
            </a:pPr>
            <a:endParaRPr lang="en-US"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712968" cy="6480720"/>
          </a:xfrm>
        </p:spPr>
        <p:txBody>
          <a:bodyPr>
            <a:normAutofit fontScale="70000" lnSpcReduction="20000"/>
          </a:bodyPr>
          <a:lstStyle/>
          <a:p>
            <a:pPr>
              <a:buNone/>
            </a:pPr>
            <a:r>
              <a:rPr lang="en-US" b="1" dirty="0" smtClean="0"/>
              <a:t> 5. Number of Hidden Layers</a:t>
            </a:r>
          </a:p>
          <a:p>
            <a:pPr>
              <a:buNone/>
            </a:pPr>
            <a:r>
              <a:rPr lang="en-US" dirty="0" smtClean="0"/>
              <a:t>Number of layers </a:t>
            </a:r>
            <a:r>
              <a:rPr lang="en-US" b="1" dirty="0" smtClean="0"/>
              <a:t>between input and output</a:t>
            </a:r>
            <a:r>
              <a:rPr lang="en-US" dirty="0" smtClean="0"/>
              <a:t> layers.</a:t>
            </a:r>
          </a:p>
          <a:p>
            <a:pPr>
              <a:buNone/>
            </a:pPr>
            <a:r>
              <a:rPr lang="en-US" dirty="0" smtClean="0"/>
              <a:t>More layers → model can learn </a:t>
            </a:r>
            <a:r>
              <a:rPr lang="en-US" b="1" dirty="0" smtClean="0"/>
              <a:t>more complex patterns</a:t>
            </a:r>
            <a:endParaRPr lang="en-US" dirty="0" smtClean="0"/>
          </a:p>
          <a:p>
            <a:pPr>
              <a:buNone/>
            </a:pPr>
            <a:r>
              <a:rPr lang="en-US" dirty="0" smtClean="0"/>
              <a:t>But may be slower and risk </a:t>
            </a:r>
            <a:r>
              <a:rPr lang="en-US" b="1" dirty="0" err="1" smtClean="0"/>
              <a:t>overfitting</a:t>
            </a:r>
            <a:endParaRPr lang="en-US" dirty="0" smtClean="0"/>
          </a:p>
          <a:p>
            <a:pPr>
              <a:buNone/>
            </a:pPr>
            <a:r>
              <a:rPr lang="en-US" b="1" dirty="0" smtClean="0"/>
              <a:t> Example:</a:t>
            </a:r>
          </a:p>
          <a:p>
            <a:pPr>
              <a:buNone/>
            </a:pPr>
            <a:r>
              <a:rPr lang="en-US" dirty="0" smtClean="0"/>
              <a:t>model = Sequential() </a:t>
            </a:r>
            <a:r>
              <a:rPr lang="en-US" dirty="0" err="1" smtClean="0"/>
              <a:t>model.add</a:t>
            </a:r>
            <a:r>
              <a:rPr lang="en-US" dirty="0" smtClean="0"/>
              <a:t>(Dense(64, activation='</a:t>
            </a:r>
            <a:r>
              <a:rPr lang="en-US" dirty="0" err="1" smtClean="0"/>
              <a:t>relu</a:t>
            </a:r>
            <a:r>
              <a:rPr lang="en-US" dirty="0" smtClean="0"/>
              <a:t>')) </a:t>
            </a:r>
            <a:r>
              <a:rPr lang="en-US" dirty="0" err="1" smtClean="0"/>
              <a:t>model.add</a:t>
            </a:r>
            <a:r>
              <a:rPr lang="en-US" dirty="0" smtClean="0"/>
              <a:t>(Dense(32, activation='</a:t>
            </a:r>
            <a:r>
              <a:rPr lang="en-US" dirty="0" err="1" smtClean="0"/>
              <a:t>relu</a:t>
            </a:r>
            <a:r>
              <a:rPr lang="en-US" dirty="0" smtClean="0"/>
              <a:t>')) # 2 hidden layers </a:t>
            </a:r>
          </a:p>
          <a:p>
            <a:pPr>
              <a:buNone/>
            </a:pPr>
            <a:r>
              <a:rPr lang="en-US" b="1" dirty="0" smtClean="0"/>
              <a:t>6. Activation Function</a:t>
            </a:r>
          </a:p>
          <a:p>
            <a:pPr>
              <a:buNone/>
            </a:pPr>
            <a:r>
              <a:rPr lang="en-US" dirty="0" smtClean="0"/>
              <a:t>A function that decides </a:t>
            </a:r>
            <a:r>
              <a:rPr lang="en-US" b="1" dirty="0" smtClean="0"/>
              <a:t>whether a neuron should be activated or not.</a:t>
            </a:r>
            <a:endParaRPr lang="en-US" dirty="0" smtClean="0"/>
          </a:p>
          <a:p>
            <a:pPr>
              <a:buNone/>
            </a:pPr>
            <a:r>
              <a:rPr lang="en-US" dirty="0" smtClean="0"/>
              <a:t>Helps model learn </a:t>
            </a:r>
            <a:r>
              <a:rPr lang="en-US" b="1" dirty="0" smtClean="0"/>
              <a:t>non-linear</a:t>
            </a:r>
            <a:r>
              <a:rPr lang="en-US" dirty="0" smtClean="0"/>
              <a:t> patterns.</a:t>
            </a:r>
          </a:p>
          <a:p>
            <a:pPr>
              <a:buNone/>
            </a:pPr>
            <a:r>
              <a:rPr lang="en-US" b="1" dirty="0" smtClean="0"/>
              <a:t>Common types:</a:t>
            </a:r>
          </a:p>
          <a:p>
            <a:pPr>
              <a:buNone/>
            </a:pPr>
            <a:r>
              <a:rPr lang="en-US" dirty="0" err="1" smtClean="0"/>
              <a:t>ReLU</a:t>
            </a:r>
            <a:r>
              <a:rPr lang="en-US" dirty="0" smtClean="0"/>
              <a:t>, Sigmoid, </a:t>
            </a:r>
            <a:r>
              <a:rPr lang="en-US" dirty="0" err="1" smtClean="0"/>
              <a:t>Tanh</a:t>
            </a:r>
            <a:r>
              <a:rPr lang="en-US" dirty="0" smtClean="0"/>
              <a:t>, </a:t>
            </a:r>
            <a:r>
              <a:rPr lang="en-US" dirty="0" err="1" smtClean="0"/>
              <a:t>Softmax</a:t>
            </a:r>
            <a:endParaRPr lang="en-US" dirty="0" smtClean="0"/>
          </a:p>
          <a:p>
            <a:pPr>
              <a:buNone/>
            </a:pPr>
            <a:r>
              <a:rPr lang="en-US" b="1" dirty="0" smtClean="0"/>
              <a:t>Example:</a:t>
            </a:r>
          </a:p>
          <a:p>
            <a:pPr>
              <a:buNone/>
            </a:pPr>
            <a:r>
              <a:rPr lang="en-US" dirty="0" err="1" smtClean="0"/>
              <a:t>model.add</a:t>
            </a:r>
            <a:r>
              <a:rPr lang="en-US" dirty="0" smtClean="0"/>
              <a:t>(Dense(128, activation='</a:t>
            </a:r>
            <a:r>
              <a:rPr lang="en-US" dirty="0" err="1" smtClean="0"/>
              <a:t>relu</a:t>
            </a:r>
            <a:r>
              <a:rPr lang="en-US" dirty="0" smtClean="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Regularization Techniques</a:t>
            </a: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Regularization</a:t>
            </a:r>
            <a:r>
              <a:rPr lang="en-US" dirty="0" smtClean="0"/>
              <a:t> is a technique used in deep learning (and machine learning) to </a:t>
            </a:r>
            <a:r>
              <a:rPr lang="en-US" b="1" dirty="0" smtClean="0"/>
              <a:t>prevent </a:t>
            </a:r>
            <a:r>
              <a:rPr lang="en-US" b="1" dirty="0" err="1" smtClean="0"/>
              <a:t>overfitting</a:t>
            </a:r>
            <a:r>
              <a:rPr lang="en-US" dirty="0" smtClean="0"/>
              <a:t>. </a:t>
            </a:r>
          </a:p>
          <a:p>
            <a:r>
              <a:rPr lang="en-US" dirty="0" err="1" smtClean="0"/>
              <a:t>Overfitting</a:t>
            </a:r>
            <a:r>
              <a:rPr lang="en-US" dirty="0" smtClean="0"/>
              <a:t> happens when a model learns the training data </a:t>
            </a:r>
            <a:r>
              <a:rPr lang="en-US" b="1" dirty="0" smtClean="0"/>
              <a:t>too well</a:t>
            </a:r>
            <a:r>
              <a:rPr lang="en-US" dirty="0" smtClean="0"/>
              <a:t>, including its noise and random fluctuations, and performs </a:t>
            </a:r>
            <a:r>
              <a:rPr lang="en-US" b="1" dirty="0" smtClean="0"/>
              <a:t>poorly on unseen data</a:t>
            </a:r>
            <a:r>
              <a:rPr lang="en-US" dirty="0" smtClean="0"/>
              <a:t>.</a:t>
            </a:r>
          </a:p>
          <a:p>
            <a:r>
              <a:rPr lang="en-US" dirty="0" smtClean="0"/>
              <a:t>Regularization </a:t>
            </a:r>
            <a:r>
              <a:rPr lang="en-US" b="1" dirty="0" smtClean="0"/>
              <a:t>adds a penalty to the loss function</a:t>
            </a:r>
            <a:r>
              <a:rPr lang="en-US" dirty="0" smtClean="0"/>
              <a:t> to discourage the model from learning overly complex patterns (which often means memorizing the training data).</a:t>
            </a:r>
          </a:p>
          <a:p>
            <a:pPr>
              <a:buNone/>
            </a:pPr>
            <a:endParaRPr lang="en-US" b="1" dirty="0" smtClean="0"/>
          </a:p>
          <a:p>
            <a:pPr>
              <a:buNone/>
            </a:pPr>
            <a:r>
              <a:rPr lang="en-US" b="1" dirty="0" smtClean="0"/>
              <a:t>Common Regularization Techniques:</a:t>
            </a:r>
          </a:p>
          <a:p>
            <a:pPr>
              <a:buNone/>
            </a:pPr>
            <a:r>
              <a:rPr lang="en-US" b="1" dirty="0" smtClean="0"/>
              <a:t>L1(</a:t>
            </a:r>
            <a:r>
              <a:rPr lang="en-US" dirty="0" smtClean="0"/>
              <a:t>Lasso)</a:t>
            </a:r>
            <a:r>
              <a:rPr lang="en-US" b="1" dirty="0" smtClean="0"/>
              <a:t> and L2</a:t>
            </a:r>
            <a:r>
              <a:rPr lang="en-US" dirty="0" smtClean="0"/>
              <a:t>(Ridge)</a:t>
            </a:r>
            <a:r>
              <a:rPr lang="en-US" b="1" dirty="0" smtClean="0"/>
              <a:t> Regularization (Weight Penalties), </a:t>
            </a:r>
            <a:r>
              <a:rPr lang="en-US" dirty="0" smtClean="0"/>
              <a:t>Dropout, </a:t>
            </a:r>
            <a:r>
              <a:rPr lang="en-US" b="1" dirty="0" smtClean="0"/>
              <a:t>Early Stopping, Data Augmentation</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84976" cy="6408712"/>
          </a:xfrm>
        </p:spPr>
        <p:txBody>
          <a:bodyPr numCol="1">
            <a:normAutofit fontScale="40000" lnSpcReduction="20000"/>
          </a:bodyPr>
          <a:lstStyle/>
          <a:p>
            <a:pPr>
              <a:buNone/>
            </a:pPr>
            <a:r>
              <a:rPr lang="en-US" b="1" dirty="0" smtClean="0"/>
              <a:t> 7. Dropout Rate</a:t>
            </a:r>
          </a:p>
          <a:p>
            <a:r>
              <a:rPr lang="en-US" dirty="0" smtClean="0"/>
              <a:t>Fraction of </a:t>
            </a:r>
            <a:r>
              <a:rPr lang="en-US" b="1" dirty="0" smtClean="0">
                <a:solidFill>
                  <a:srgbClr val="0000FF"/>
                </a:solidFill>
              </a:rPr>
              <a:t>neurons randomly turned off during training</a:t>
            </a:r>
          </a:p>
          <a:p>
            <a:r>
              <a:rPr lang="en-US" b="1" dirty="0" smtClean="0"/>
              <a:t>Dropout</a:t>
            </a:r>
            <a:r>
              <a:rPr lang="en-US" dirty="0" smtClean="0"/>
              <a:t> is a </a:t>
            </a:r>
            <a:r>
              <a:rPr lang="en-US" b="1" dirty="0" smtClean="0">
                <a:solidFill>
                  <a:srgbClr val="0000FF"/>
                </a:solidFill>
              </a:rPr>
              <a:t>regularization technique</a:t>
            </a:r>
            <a:r>
              <a:rPr lang="en-US" dirty="0" smtClean="0">
                <a:solidFill>
                  <a:srgbClr val="0000FF"/>
                </a:solidFill>
              </a:rPr>
              <a:t> </a:t>
            </a:r>
            <a:r>
              <a:rPr lang="en-US" dirty="0" smtClean="0"/>
              <a:t>used in deep learning to prevent </a:t>
            </a:r>
            <a:r>
              <a:rPr lang="en-US" b="1" dirty="0" err="1" smtClean="0"/>
              <a:t>overfitting</a:t>
            </a:r>
            <a:r>
              <a:rPr lang="en-US" dirty="0" smtClean="0"/>
              <a:t>.</a:t>
            </a:r>
          </a:p>
          <a:p>
            <a:r>
              <a:rPr lang="en-US" dirty="0" smtClean="0"/>
              <a:t>Prevents the model from </a:t>
            </a:r>
            <a:r>
              <a:rPr lang="en-US" b="1" dirty="0" smtClean="0"/>
              <a:t>memorizing</a:t>
            </a:r>
            <a:r>
              <a:rPr lang="en-US" dirty="0" smtClean="0"/>
              <a:t> the training data.</a:t>
            </a:r>
          </a:p>
          <a:p>
            <a:r>
              <a:rPr lang="en-US" b="1" dirty="0" smtClean="0">
                <a:solidFill>
                  <a:srgbClr val="C00000"/>
                </a:solidFill>
              </a:rPr>
              <a:t>Dropout is turned off during evaluation and prediction</a:t>
            </a:r>
          </a:p>
          <a:p>
            <a:r>
              <a:rPr lang="en-US" dirty="0" smtClean="0"/>
              <a:t>during training with </a:t>
            </a:r>
            <a:r>
              <a:rPr lang="en-US" b="1" dirty="0" smtClean="0"/>
              <a:t>dropout</a:t>
            </a:r>
            <a:r>
              <a:rPr lang="en-US" dirty="0" smtClean="0"/>
              <a:t>, it is </a:t>
            </a:r>
            <a:r>
              <a:rPr lang="en-US" b="1" dirty="0" smtClean="0"/>
              <a:t>completely possible</a:t>
            </a:r>
            <a:r>
              <a:rPr lang="en-US" dirty="0" smtClean="0"/>
              <a:t> that even a neuron that contributes a lot to correct prediction might be </a:t>
            </a:r>
            <a:r>
              <a:rPr lang="en-US" b="1" dirty="0" smtClean="0"/>
              <a:t>temporarily dropped</a:t>
            </a:r>
            <a:r>
              <a:rPr lang="en-US" dirty="0" smtClean="0"/>
              <a:t>.</a:t>
            </a:r>
          </a:p>
          <a:p>
            <a:r>
              <a:rPr lang="en-US" dirty="0" smtClean="0"/>
              <a:t>The network </a:t>
            </a:r>
            <a:r>
              <a:rPr lang="en-US" b="1" dirty="0" smtClean="0"/>
              <a:t>cannot rely too much on any one neuron</a:t>
            </a:r>
            <a:r>
              <a:rPr lang="en-US" dirty="0" smtClean="0"/>
              <a:t>.</a:t>
            </a:r>
          </a:p>
          <a:p>
            <a:r>
              <a:rPr lang="en-US" dirty="0" smtClean="0"/>
              <a:t>So, it learns </a:t>
            </a:r>
            <a:r>
              <a:rPr lang="en-US" b="1" dirty="0" smtClean="0"/>
              <a:t>redundant representations</a:t>
            </a:r>
            <a:r>
              <a:rPr lang="en-US" dirty="0" smtClean="0"/>
              <a:t> — i.e., multiple neurons learn to represent the same information in different ways.</a:t>
            </a:r>
          </a:p>
          <a:p>
            <a:r>
              <a:rPr lang="en-US" dirty="0" smtClean="0"/>
              <a:t>If an important neuron is dropped:</a:t>
            </a:r>
          </a:p>
          <a:p>
            <a:pPr>
              <a:buFont typeface="Wingdings" pitchFamily="2" charset="2"/>
              <a:buChar char="v"/>
            </a:pPr>
            <a:r>
              <a:rPr lang="en-US" dirty="0" smtClean="0"/>
              <a:t>The model may do slightly worse </a:t>
            </a:r>
            <a:r>
              <a:rPr lang="en-US" b="1" dirty="0" smtClean="0"/>
              <a:t>on that batch</a:t>
            </a:r>
            <a:r>
              <a:rPr lang="en-US" dirty="0" smtClean="0"/>
              <a:t>.</a:t>
            </a:r>
          </a:p>
          <a:p>
            <a:pPr>
              <a:buFont typeface="Wingdings" pitchFamily="2" charset="2"/>
              <a:buChar char="v"/>
            </a:pPr>
            <a:r>
              <a:rPr lang="en-US" dirty="0" smtClean="0"/>
              <a:t>But in the </a:t>
            </a:r>
            <a:r>
              <a:rPr lang="en-US" b="1" dirty="0" smtClean="0"/>
              <a:t>long run</a:t>
            </a:r>
            <a:r>
              <a:rPr lang="en-US" dirty="0" smtClean="0"/>
              <a:t>, the model becomes </a:t>
            </a:r>
            <a:r>
              <a:rPr lang="en-US" b="1" dirty="0" smtClean="0"/>
              <a:t>stronger and more general</a:t>
            </a:r>
            <a:r>
              <a:rPr lang="en-US" dirty="0" smtClean="0"/>
              <a:t>, because it:</a:t>
            </a:r>
          </a:p>
          <a:p>
            <a:pPr lvl="1"/>
            <a:r>
              <a:rPr lang="en-US" dirty="0" smtClean="0"/>
              <a:t>Doesn’t </a:t>
            </a:r>
            <a:r>
              <a:rPr lang="en-US" dirty="0" err="1" smtClean="0"/>
              <a:t>overfit</a:t>
            </a:r>
            <a:r>
              <a:rPr lang="en-US" dirty="0" smtClean="0"/>
              <a:t> to one pattern</a:t>
            </a:r>
          </a:p>
          <a:p>
            <a:pPr lvl="1"/>
            <a:r>
              <a:rPr lang="en-US" dirty="0" smtClean="0"/>
              <a:t>Learns to use </a:t>
            </a:r>
            <a:r>
              <a:rPr lang="en-US" b="1" dirty="0" smtClean="0"/>
              <a:t>multiple features</a:t>
            </a:r>
            <a:r>
              <a:rPr lang="en-US" dirty="0" smtClean="0"/>
              <a:t> for the same prediction</a:t>
            </a:r>
          </a:p>
          <a:p>
            <a:endParaRPr lang="en-US" dirty="0" smtClean="0"/>
          </a:p>
          <a:p>
            <a:pPr>
              <a:buNone/>
            </a:pPr>
            <a:r>
              <a:rPr lang="en-US" b="1" dirty="0" smtClean="0"/>
              <a:t> Example:</a:t>
            </a:r>
          </a:p>
          <a:p>
            <a:pPr>
              <a:buNone/>
            </a:pPr>
            <a:r>
              <a:rPr lang="en-US" dirty="0" err="1" smtClean="0"/>
              <a:t>model.add</a:t>
            </a:r>
            <a:r>
              <a:rPr lang="en-US" dirty="0" smtClean="0"/>
              <a:t>(Dropout(0.3)) </a:t>
            </a:r>
          </a:p>
          <a:p>
            <a:pPr>
              <a:buNone/>
            </a:pPr>
            <a:r>
              <a:rPr lang="en-US" dirty="0" smtClean="0"/>
              <a:t>Randomly turns off </a:t>
            </a:r>
            <a:r>
              <a:rPr lang="en-US" b="1" dirty="0" smtClean="0"/>
              <a:t>30%</a:t>
            </a:r>
            <a:r>
              <a:rPr lang="en-US" dirty="0" smtClean="0"/>
              <a:t> of the neurons during training.</a:t>
            </a:r>
          </a:p>
          <a:p>
            <a:pPr>
              <a:buNone/>
            </a:pPr>
            <a:endParaRPr lang="en-US" dirty="0" smtClean="0"/>
          </a:p>
          <a:p>
            <a:pPr>
              <a:buNone/>
            </a:pPr>
            <a:r>
              <a:rPr lang="en-US" sz="4000" b="1" u="sng" dirty="0" smtClean="0"/>
              <a:t>Drop connect</a:t>
            </a:r>
            <a:r>
              <a:rPr lang="en-US" dirty="0" smtClean="0"/>
              <a:t>:     </a:t>
            </a:r>
            <a:r>
              <a:rPr lang="en-US" b="1" dirty="0" smtClean="0"/>
              <a:t>Weights</a:t>
            </a:r>
            <a:r>
              <a:rPr lang="en-US" dirty="0" smtClean="0"/>
              <a:t> (individual links)</a:t>
            </a:r>
          </a:p>
          <a:p>
            <a:pPr>
              <a:buNone/>
            </a:pPr>
            <a:r>
              <a:rPr lang="en-US" dirty="0" smtClean="0"/>
              <a:t>Similar to </a:t>
            </a:r>
            <a:r>
              <a:rPr lang="en-US" b="1" dirty="0" smtClean="0"/>
              <a:t>Dropout</a:t>
            </a:r>
            <a:r>
              <a:rPr lang="en-US" dirty="0" smtClean="0"/>
              <a:t>, but </a:t>
            </a:r>
            <a:r>
              <a:rPr lang="en-US" b="1" dirty="0" smtClean="0">
                <a:solidFill>
                  <a:srgbClr val="0000FF"/>
                </a:solidFill>
              </a:rPr>
              <a:t>instead of dropping entire neurons</a:t>
            </a:r>
            <a:r>
              <a:rPr lang="en-US" dirty="0" smtClean="0"/>
              <a:t>, </a:t>
            </a:r>
            <a:r>
              <a:rPr lang="en-US" b="1" dirty="0" err="1" smtClean="0"/>
              <a:t>DropConnect</a:t>
            </a:r>
            <a:r>
              <a:rPr lang="en-US" dirty="0" smtClean="0"/>
              <a:t> </a:t>
            </a:r>
            <a:r>
              <a:rPr lang="en-US" b="1" dirty="0" smtClean="0">
                <a:solidFill>
                  <a:srgbClr val="0000FF"/>
                </a:solidFill>
              </a:rPr>
              <a:t>randomly removes individual weights </a:t>
            </a:r>
            <a:r>
              <a:rPr lang="en-US" dirty="0" smtClean="0"/>
              <a:t>during training.</a:t>
            </a:r>
          </a:p>
          <a:p>
            <a:pPr>
              <a:buNone/>
            </a:pPr>
            <a:r>
              <a:rPr lang="en-US" b="1" dirty="0" smtClean="0"/>
              <a:t> </a:t>
            </a:r>
            <a:r>
              <a:rPr lang="en-US" dirty="0" err="1" smtClean="0"/>
              <a:t>DropConnect</a:t>
            </a:r>
            <a:r>
              <a:rPr lang="en-US" dirty="0" smtClean="0"/>
              <a:t> is more advanced and less common than Dropout, but it may provide </a:t>
            </a:r>
            <a:r>
              <a:rPr lang="en-US" b="1" dirty="0" smtClean="0"/>
              <a:t>stronger regularization</a:t>
            </a:r>
            <a:r>
              <a:rPr lang="en-US" dirty="0" smtClean="0"/>
              <a: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40960" cy="6408712"/>
          </a:xfrm>
        </p:spPr>
        <p:txBody>
          <a:bodyPr>
            <a:normAutofit fontScale="47500" lnSpcReduction="20000"/>
          </a:bodyPr>
          <a:lstStyle/>
          <a:p>
            <a:pPr>
              <a:buNone/>
            </a:pPr>
            <a:r>
              <a:rPr lang="en-US" b="1" dirty="0" smtClean="0"/>
              <a:t>8. Optimizer</a:t>
            </a:r>
          </a:p>
          <a:p>
            <a:pPr>
              <a:buNone/>
            </a:pPr>
            <a:r>
              <a:rPr lang="en-US" dirty="0" smtClean="0"/>
              <a:t>Algorithm that </a:t>
            </a:r>
            <a:r>
              <a:rPr lang="en-US" b="1" dirty="0" smtClean="0">
                <a:solidFill>
                  <a:srgbClr val="0000FF"/>
                </a:solidFill>
              </a:rPr>
              <a:t>adjusts the model's weights during training to reduce error.</a:t>
            </a:r>
          </a:p>
          <a:p>
            <a:pPr>
              <a:buNone/>
            </a:pPr>
            <a:r>
              <a:rPr lang="en-US" b="1" dirty="0" smtClean="0"/>
              <a:t> Common types:</a:t>
            </a:r>
          </a:p>
          <a:p>
            <a:pPr>
              <a:buNone/>
            </a:pPr>
            <a:r>
              <a:rPr lang="en-US" b="1" dirty="0" smtClean="0"/>
              <a:t>SGD</a:t>
            </a:r>
            <a:r>
              <a:rPr lang="en-US" dirty="0" smtClean="0"/>
              <a:t> (Stochastic Gradient Descent), </a:t>
            </a:r>
            <a:r>
              <a:rPr lang="en-US" b="1" dirty="0" smtClean="0"/>
              <a:t>Adam</a:t>
            </a:r>
            <a:r>
              <a:rPr lang="en-US" dirty="0" smtClean="0"/>
              <a:t>, </a:t>
            </a:r>
            <a:r>
              <a:rPr lang="en-US" b="1" dirty="0" err="1" smtClean="0"/>
              <a:t>RMSprop</a:t>
            </a:r>
            <a:endParaRPr lang="en-US" dirty="0" smtClean="0"/>
          </a:p>
          <a:p>
            <a:pPr>
              <a:buNone/>
            </a:pPr>
            <a:r>
              <a:rPr lang="en-US" b="1" dirty="0" smtClean="0"/>
              <a:t>Example:</a:t>
            </a:r>
          </a:p>
          <a:p>
            <a:pPr>
              <a:buNone/>
            </a:pPr>
            <a:r>
              <a:rPr lang="en-US" dirty="0" err="1" smtClean="0"/>
              <a:t>model.compile</a:t>
            </a:r>
            <a:r>
              <a:rPr lang="en-US" dirty="0" smtClean="0"/>
              <a:t>(optimizer='</a:t>
            </a:r>
            <a:r>
              <a:rPr lang="en-US" dirty="0" err="1" smtClean="0"/>
              <a:t>adam</a:t>
            </a:r>
            <a:r>
              <a:rPr lang="en-US" dirty="0" smtClean="0"/>
              <a:t>', loss='</a:t>
            </a:r>
            <a:r>
              <a:rPr lang="en-US" dirty="0" err="1" smtClean="0"/>
              <a:t>categorical_crossentropy</a:t>
            </a:r>
            <a:r>
              <a:rPr lang="en-US" dirty="0" smtClean="0"/>
              <a:t>') </a:t>
            </a:r>
          </a:p>
          <a:p>
            <a:pPr>
              <a:buNone/>
            </a:pPr>
            <a:endParaRPr lang="en-US" dirty="0" smtClean="0"/>
          </a:p>
          <a:p>
            <a:pPr>
              <a:buNone/>
            </a:pPr>
            <a:r>
              <a:rPr lang="en-US" b="1" dirty="0" smtClean="0"/>
              <a:t>9. Loss Function</a:t>
            </a:r>
          </a:p>
          <a:p>
            <a:pPr>
              <a:buNone/>
            </a:pPr>
            <a:r>
              <a:rPr lang="en-US" dirty="0" smtClean="0"/>
              <a:t>A function that </a:t>
            </a:r>
            <a:r>
              <a:rPr lang="en-US" b="1" dirty="0" smtClean="0">
                <a:solidFill>
                  <a:srgbClr val="0000FF"/>
                </a:solidFill>
              </a:rPr>
              <a:t>tells how wrong the model is</a:t>
            </a:r>
            <a:r>
              <a:rPr lang="en-US" dirty="0" smtClean="0"/>
              <a:t>. The model tries to minimize this value.</a:t>
            </a:r>
          </a:p>
          <a:p>
            <a:pPr>
              <a:buNone/>
            </a:pPr>
            <a:r>
              <a:rPr lang="en-US" b="1" dirty="0" smtClean="0"/>
              <a:t> Depends on the task:</a:t>
            </a:r>
          </a:p>
          <a:p>
            <a:pPr>
              <a:buNone/>
            </a:pPr>
            <a:r>
              <a:rPr lang="en-US" b="1" dirty="0" smtClean="0"/>
              <a:t>Classification</a:t>
            </a:r>
            <a:r>
              <a:rPr lang="en-US" dirty="0" smtClean="0"/>
              <a:t>: </a:t>
            </a:r>
            <a:r>
              <a:rPr lang="en-US" dirty="0" err="1" smtClean="0"/>
              <a:t>categorical_crossentropy</a:t>
            </a:r>
            <a:r>
              <a:rPr lang="en-US" dirty="0" smtClean="0"/>
              <a:t>, </a:t>
            </a:r>
            <a:r>
              <a:rPr lang="en-US" dirty="0" err="1" smtClean="0"/>
              <a:t>binary_crossentropy</a:t>
            </a:r>
            <a:endParaRPr lang="en-US" dirty="0" smtClean="0"/>
          </a:p>
          <a:p>
            <a:pPr>
              <a:buNone/>
            </a:pPr>
            <a:r>
              <a:rPr lang="en-US" b="1" dirty="0" smtClean="0"/>
              <a:t>Regression</a:t>
            </a:r>
            <a:r>
              <a:rPr lang="en-US" dirty="0" smtClean="0"/>
              <a:t>: </a:t>
            </a:r>
            <a:r>
              <a:rPr lang="en-US" dirty="0" err="1" smtClean="0"/>
              <a:t>mean_squared_error</a:t>
            </a:r>
            <a:endParaRPr lang="en-US" dirty="0" smtClean="0"/>
          </a:p>
          <a:p>
            <a:pPr>
              <a:buNone/>
            </a:pPr>
            <a:r>
              <a:rPr lang="en-US" b="1" dirty="0" smtClean="0"/>
              <a:t> Example:</a:t>
            </a:r>
          </a:p>
          <a:p>
            <a:pPr>
              <a:buNone/>
            </a:pPr>
            <a:r>
              <a:rPr lang="en-US" dirty="0" err="1" smtClean="0"/>
              <a:t>model.compile</a:t>
            </a:r>
            <a:r>
              <a:rPr lang="en-US" dirty="0" smtClean="0"/>
              <a:t>(loss='</a:t>
            </a:r>
            <a:r>
              <a:rPr lang="en-US" dirty="0" err="1" smtClean="0"/>
              <a:t>categorical_crossentropy</a:t>
            </a:r>
            <a:r>
              <a:rPr lang="en-US" dirty="0" smtClean="0"/>
              <a:t>') </a:t>
            </a:r>
          </a:p>
          <a:p>
            <a:pPr>
              <a:buNone/>
            </a:pPr>
            <a:endParaRPr lang="en-US" dirty="0" smtClean="0"/>
          </a:p>
          <a:p>
            <a:pPr>
              <a:buNone/>
            </a:pPr>
            <a:r>
              <a:rPr lang="en-US" b="1" dirty="0" smtClean="0"/>
              <a:t> 10. Weight Initialization Method</a:t>
            </a:r>
          </a:p>
          <a:p>
            <a:pPr>
              <a:buNone/>
            </a:pPr>
            <a:r>
              <a:rPr lang="en-US" b="1" dirty="0" smtClean="0">
                <a:solidFill>
                  <a:srgbClr val="0000FF"/>
                </a:solidFill>
              </a:rPr>
              <a:t>Method to set the initial weights </a:t>
            </a:r>
            <a:r>
              <a:rPr lang="en-US" dirty="0" smtClean="0"/>
              <a:t>before training starts.</a:t>
            </a:r>
          </a:p>
          <a:p>
            <a:pPr>
              <a:buNone/>
            </a:pPr>
            <a:r>
              <a:rPr lang="en-US" dirty="0" smtClean="0"/>
              <a:t>Bad initialization → slow or failed training</a:t>
            </a:r>
          </a:p>
          <a:p>
            <a:pPr>
              <a:buNone/>
            </a:pPr>
            <a:r>
              <a:rPr lang="en-US" b="1" dirty="0" smtClean="0"/>
              <a:t>Example:</a:t>
            </a:r>
          </a:p>
          <a:p>
            <a:pPr>
              <a:buNone/>
            </a:pPr>
            <a:r>
              <a:rPr lang="en-US" dirty="0" err="1" smtClean="0"/>
              <a:t>model.add</a:t>
            </a:r>
            <a:r>
              <a:rPr lang="en-US" dirty="0" smtClean="0"/>
              <a:t>(Dense(128, </a:t>
            </a:r>
            <a:r>
              <a:rPr lang="en-US" dirty="0" err="1" smtClean="0"/>
              <a:t>kernel_initializer</a:t>
            </a:r>
            <a:r>
              <a:rPr lang="en-US" dirty="0" smtClean="0"/>
              <a:t>='</a:t>
            </a:r>
            <a:r>
              <a:rPr lang="en-US" dirty="0" err="1" smtClean="0"/>
              <a:t>he_uniform</a:t>
            </a:r>
            <a:r>
              <a:rPr lang="en-US" dirty="0" smtClean="0"/>
              <a:t>')) </a:t>
            </a:r>
          </a:p>
          <a:p>
            <a:pPr>
              <a:buNone/>
            </a:pPr>
            <a:endParaRPr lang="en-US" dirty="0" smtClean="0"/>
          </a:p>
          <a:p>
            <a:pPr>
              <a:buNone/>
            </a:pPr>
            <a:endParaRPr lang="en-US" dirty="0" smtClean="0"/>
          </a:p>
          <a:p>
            <a:endParaRPr lang="en-US" dirty="0"/>
          </a:p>
        </p:txBody>
      </p:sp>
      <p:pic>
        <p:nvPicPr>
          <p:cNvPr id="107522" name="Picture 2"/>
          <p:cNvPicPr>
            <a:picLocks noChangeAspect="1" noChangeArrowheads="1"/>
          </p:cNvPicPr>
          <p:nvPr/>
        </p:nvPicPr>
        <p:blipFill>
          <a:blip r:embed="rId2" cstate="print"/>
          <a:srcRect/>
          <a:stretch>
            <a:fillRect/>
          </a:stretch>
        </p:blipFill>
        <p:spPr bwMode="auto">
          <a:xfrm>
            <a:off x="4932040" y="3501008"/>
            <a:ext cx="3857625" cy="216024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363272" cy="5793507"/>
          </a:xfrm>
        </p:spPr>
        <p:txBody>
          <a:bodyPr>
            <a:normAutofit fontScale="70000" lnSpcReduction="20000"/>
          </a:bodyPr>
          <a:lstStyle/>
          <a:p>
            <a:pPr>
              <a:buNone/>
            </a:pPr>
            <a:r>
              <a:rPr lang="en-US" b="1" dirty="0" smtClean="0"/>
              <a:t>Momentum </a:t>
            </a:r>
          </a:p>
          <a:p>
            <a:r>
              <a:rPr lang="en-US" b="1" dirty="0" smtClean="0"/>
              <a:t>Momentum is a gradient descent optimization approach</a:t>
            </a:r>
            <a:r>
              <a:rPr lang="en-US" dirty="0" smtClean="0"/>
              <a:t> that </a:t>
            </a:r>
            <a:r>
              <a:rPr lang="en-US" b="1" dirty="0" smtClean="0">
                <a:solidFill>
                  <a:srgbClr val="0000FF"/>
                </a:solidFill>
              </a:rPr>
              <a:t>adds a percentage of the prior update vector to the current update vector </a:t>
            </a:r>
            <a:r>
              <a:rPr lang="en-US" dirty="0" smtClean="0"/>
              <a:t>to speed up the learning.</a:t>
            </a:r>
          </a:p>
          <a:p>
            <a:pPr fontAlgn="base">
              <a:buNone/>
            </a:pPr>
            <a:endParaRPr lang="en-US" b="1" dirty="0" smtClean="0"/>
          </a:p>
          <a:p>
            <a:pPr fontAlgn="base">
              <a:buNone/>
            </a:pPr>
            <a:r>
              <a:rPr lang="en-US" b="1" dirty="0" smtClean="0"/>
              <a:t>What is Momentum?</a:t>
            </a:r>
          </a:p>
          <a:p>
            <a:pPr fontAlgn="base"/>
            <a:r>
              <a:rPr lang="en-US" dirty="0" smtClean="0"/>
              <a:t>Momentum is a concept from physics where an object’s motion depends not only on the current force but also on its previous velocity.</a:t>
            </a:r>
          </a:p>
          <a:p>
            <a:r>
              <a:rPr lang="en-US" b="1" dirty="0" smtClean="0"/>
              <a:t>Momentum</a:t>
            </a:r>
            <a:r>
              <a:rPr lang="en-US" dirty="0" smtClean="0"/>
              <a:t> is a technique used to </a:t>
            </a:r>
            <a:r>
              <a:rPr lang="en-US" b="1" dirty="0" smtClean="0"/>
              <a:t>speed up the training</a:t>
            </a:r>
            <a:r>
              <a:rPr lang="en-US" dirty="0" smtClean="0"/>
              <a:t> of a neural network by helping it </a:t>
            </a:r>
            <a:r>
              <a:rPr lang="en-US" b="1" dirty="0" smtClean="0"/>
              <a:t>move faster in the right direction</a:t>
            </a:r>
            <a:r>
              <a:rPr lang="en-US" dirty="0" smtClean="0"/>
              <a:t> and </a:t>
            </a:r>
            <a:r>
              <a:rPr lang="en-US" b="1" dirty="0" smtClean="0"/>
              <a:t>avoid getting stuck</a:t>
            </a:r>
            <a:r>
              <a:rPr lang="en-US" dirty="0" smtClean="0"/>
              <a:t>.</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4680520"/>
          </a:xfrm>
        </p:spPr>
        <p:txBody>
          <a:bodyPr>
            <a:normAutofit fontScale="47500" lnSpcReduction="20000"/>
          </a:bodyPr>
          <a:lstStyle/>
          <a:p>
            <a:pPr>
              <a:buNone/>
            </a:pPr>
            <a:r>
              <a:rPr lang="en-US" b="1" dirty="0" smtClean="0"/>
              <a:t>What is Regularization?</a:t>
            </a:r>
          </a:p>
          <a:p>
            <a:pPr>
              <a:buNone/>
            </a:pPr>
            <a:endParaRPr lang="en-US" b="1" dirty="0" smtClean="0"/>
          </a:p>
          <a:p>
            <a:pPr>
              <a:buNone/>
            </a:pPr>
            <a:r>
              <a:rPr lang="en-US" dirty="0" smtClean="0"/>
              <a:t>It is a technique to </a:t>
            </a:r>
            <a:r>
              <a:rPr lang="en-US" b="1" dirty="0" smtClean="0"/>
              <a:t>keep the model simple</a:t>
            </a:r>
            <a:r>
              <a:rPr lang="en-US" dirty="0" smtClean="0"/>
              <a:t> by discouraging large weights.</a:t>
            </a:r>
          </a:p>
          <a:p>
            <a:pPr>
              <a:buNone/>
            </a:pPr>
            <a:r>
              <a:rPr lang="en-US" dirty="0" smtClean="0"/>
              <a:t>Too large weights = too complex model = may memorize training data.</a:t>
            </a:r>
          </a:p>
          <a:p>
            <a:pPr>
              <a:buNone/>
            </a:pPr>
            <a:endParaRPr lang="en-US" dirty="0" smtClean="0"/>
          </a:p>
          <a:p>
            <a:pPr>
              <a:buNone/>
            </a:pPr>
            <a:r>
              <a:rPr lang="en-US" b="1" dirty="0" smtClean="0"/>
              <a:t> L1 Regularization (Lasso):</a:t>
            </a:r>
          </a:p>
          <a:p>
            <a:pPr>
              <a:buNone/>
            </a:pPr>
            <a:r>
              <a:rPr lang="en-US" dirty="0" smtClean="0"/>
              <a:t>Adds the </a:t>
            </a:r>
            <a:r>
              <a:rPr lang="en-US" b="1" dirty="0" smtClean="0"/>
              <a:t>sum of absolute values</a:t>
            </a:r>
            <a:r>
              <a:rPr lang="en-US" dirty="0" smtClean="0"/>
              <a:t> of weights to the loss</a:t>
            </a:r>
          </a:p>
          <a:p>
            <a:pPr>
              <a:buNone/>
            </a:pPr>
            <a:r>
              <a:rPr lang="en-US" dirty="0" smtClean="0"/>
              <a:t>Encourages </a:t>
            </a:r>
            <a:r>
              <a:rPr lang="en-US" b="1" dirty="0" err="1" smtClean="0"/>
              <a:t>sparsity</a:t>
            </a:r>
            <a:r>
              <a:rPr lang="en-US" dirty="0" smtClean="0"/>
              <a:t> (many weights become exactly zero)</a:t>
            </a:r>
          </a:p>
          <a:p>
            <a:pPr>
              <a:buNone/>
            </a:pPr>
            <a:r>
              <a:rPr lang="en-US" dirty="0" smtClean="0"/>
              <a:t>Result: the model may </a:t>
            </a:r>
            <a:r>
              <a:rPr lang="en-US" b="1" dirty="0" smtClean="0"/>
              <a:t>ignore unimportant features</a:t>
            </a:r>
          </a:p>
          <a:p>
            <a:pPr>
              <a:buNone/>
            </a:pPr>
            <a:endParaRPr lang="en-US" b="1" dirty="0" smtClean="0"/>
          </a:p>
          <a:p>
            <a:pPr>
              <a:buNone/>
            </a:pPr>
            <a:endParaRPr lang="en-US" b="1" dirty="0" smtClean="0"/>
          </a:p>
          <a:p>
            <a:pPr>
              <a:buNone/>
            </a:pPr>
            <a:r>
              <a:rPr lang="en-US" b="1" dirty="0" smtClean="0"/>
              <a:t>L2 Regularization (Ridge):</a:t>
            </a:r>
          </a:p>
          <a:p>
            <a:pPr>
              <a:buNone/>
            </a:pPr>
            <a:r>
              <a:rPr lang="en-US" dirty="0" smtClean="0"/>
              <a:t>Adds the </a:t>
            </a:r>
            <a:r>
              <a:rPr lang="en-US" b="1" dirty="0" smtClean="0"/>
              <a:t>sum of squares</a:t>
            </a:r>
            <a:r>
              <a:rPr lang="en-US" dirty="0" smtClean="0"/>
              <a:t> of the weights to the loss</a:t>
            </a:r>
          </a:p>
          <a:p>
            <a:pPr>
              <a:buNone/>
            </a:pPr>
            <a:r>
              <a:rPr lang="en-US" dirty="0" smtClean="0"/>
              <a:t>Encourages </a:t>
            </a:r>
            <a:r>
              <a:rPr lang="en-US" b="1" dirty="0" smtClean="0"/>
              <a:t>small weights</a:t>
            </a:r>
            <a:r>
              <a:rPr lang="en-US" dirty="0" smtClean="0"/>
              <a:t> (not zero, but close to 0)</a:t>
            </a:r>
          </a:p>
          <a:p>
            <a:pPr>
              <a:buNone/>
            </a:pPr>
            <a:r>
              <a:rPr lang="en-US" dirty="0" smtClean="0"/>
              <a:t>Makes the model smoother and prevents extreme values</a:t>
            </a:r>
          </a:p>
          <a:p>
            <a:pPr>
              <a:buNone/>
            </a:pPr>
            <a:endParaRPr lang="en-US" dirty="0" smtClean="0"/>
          </a:p>
          <a:p>
            <a:pPr>
              <a:buNone/>
            </a:pP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932040" y="1916832"/>
            <a:ext cx="3924944" cy="1224136"/>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427984" y="4725144"/>
            <a:ext cx="4176464" cy="1224136"/>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smtClean="0"/>
              <a:t>Overfitting</a:t>
            </a:r>
            <a:r>
              <a:rPr lang="en-US" b="1" dirty="0" smtClean="0"/>
              <a:t>, </a:t>
            </a:r>
            <a:r>
              <a:rPr lang="en-US" b="1" dirty="0" err="1" smtClean="0"/>
              <a:t>underfitting</a:t>
            </a:r>
            <a:r>
              <a:rPr lang="en-US" b="1" dirty="0" smtClean="0"/>
              <a:t>, good fit</a:t>
            </a:r>
            <a:endParaRPr lang="en-US" dirty="0"/>
          </a:p>
        </p:txBody>
      </p:sp>
      <p:sp>
        <p:nvSpPr>
          <p:cNvPr id="3" name="Content Placeholder 2"/>
          <p:cNvSpPr>
            <a:spLocks noGrp="1"/>
          </p:cNvSpPr>
          <p:nvPr>
            <p:ph idx="1"/>
          </p:nvPr>
        </p:nvSpPr>
        <p:spPr>
          <a:xfrm>
            <a:off x="323528" y="1196752"/>
            <a:ext cx="8640960" cy="5472608"/>
          </a:xfrm>
        </p:spPr>
        <p:txBody>
          <a:bodyPr>
            <a:normAutofit fontScale="47500" lnSpcReduction="20000"/>
          </a:bodyPr>
          <a:lstStyle/>
          <a:p>
            <a:pPr>
              <a:buNone/>
            </a:pPr>
            <a:r>
              <a:rPr lang="en-US" b="1" dirty="0" err="1" smtClean="0"/>
              <a:t>Overfitting</a:t>
            </a:r>
            <a:endParaRPr lang="en-US" b="1" dirty="0" smtClean="0"/>
          </a:p>
          <a:p>
            <a:r>
              <a:rPr lang="en-US" b="1" dirty="0" smtClean="0">
                <a:solidFill>
                  <a:srgbClr val="0000FF"/>
                </a:solidFill>
              </a:rPr>
              <a:t>The model learns too much</a:t>
            </a:r>
            <a:r>
              <a:rPr lang="en-US" dirty="0" smtClean="0">
                <a:solidFill>
                  <a:srgbClr val="0000FF"/>
                </a:solidFill>
              </a:rPr>
              <a:t> </a:t>
            </a:r>
            <a:r>
              <a:rPr lang="en-US" dirty="0" smtClean="0"/>
              <a:t>— including </a:t>
            </a:r>
            <a:r>
              <a:rPr lang="en-US" b="1" dirty="0" smtClean="0">
                <a:solidFill>
                  <a:srgbClr val="0000FF"/>
                </a:solidFill>
              </a:rPr>
              <a:t>noise and irrelevant patterns</a:t>
            </a:r>
            <a:r>
              <a:rPr lang="en-US" dirty="0" smtClean="0">
                <a:solidFill>
                  <a:srgbClr val="0000FF"/>
                </a:solidFill>
              </a:rPr>
              <a:t> </a:t>
            </a:r>
            <a:r>
              <a:rPr lang="en-US" dirty="0" smtClean="0"/>
              <a:t>in the training data.</a:t>
            </a:r>
          </a:p>
          <a:p>
            <a:r>
              <a:rPr lang="en-US" b="1" dirty="0" smtClean="0"/>
              <a:t>Training accuracy:</a:t>
            </a:r>
            <a:r>
              <a:rPr lang="en-US" dirty="0" smtClean="0"/>
              <a:t> Very high</a:t>
            </a:r>
          </a:p>
          <a:p>
            <a:r>
              <a:rPr lang="en-US" b="1" dirty="0" smtClean="0"/>
              <a:t>Validation/Test accuracy:</a:t>
            </a:r>
            <a:r>
              <a:rPr lang="en-US" dirty="0" smtClean="0"/>
              <a:t> Poor</a:t>
            </a:r>
          </a:p>
          <a:p>
            <a:r>
              <a:rPr lang="en-US" dirty="0" smtClean="0"/>
              <a:t> The model is </a:t>
            </a:r>
            <a:r>
              <a:rPr lang="en-US" b="1" dirty="0" smtClean="0">
                <a:solidFill>
                  <a:srgbClr val="0000FF"/>
                </a:solidFill>
              </a:rPr>
              <a:t>memorizing</a:t>
            </a:r>
            <a:r>
              <a:rPr lang="en-US" dirty="0" smtClean="0"/>
              <a:t> instead of</a:t>
            </a:r>
            <a:r>
              <a:rPr lang="en-US" dirty="0" smtClean="0">
                <a:solidFill>
                  <a:srgbClr val="0000FF"/>
                </a:solidFill>
              </a:rPr>
              <a:t> </a:t>
            </a:r>
            <a:r>
              <a:rPr lang="en-US" b="1" dirty="0" smtClean="0">
                <a:solidFill>
                  <a:srgbClr val="0000FF"/>
                </a:solidFill>
              </a:rPr>
              <a:t>learning</a:t>
            </a:r>
          </a:p>
          <a:p>
            <a:endParaRPr lang="en-US" b="1" dirty="0" smtClean="0"/>
          </a:p>
          <a:p>
            <a:pPr>
              <a:buNone/>
            </a:pPr>
            <a:r>
              <a:rPr lang="en-US" b="1" dirty="0" err="1" smtClean="0"/>
              <a:t>Underfitting</a:t>
            </a:r>
            <a:endParaRPr lang="en-US" b="1" dirty="0" smtClean="0"/>
          </a:p>
          <a:p>
            <a:r>
              <a:rPr lang="en-US" b="1" dirty="0" smtClean="0">
                <a:solidFill>
                  <a:srgbClr val="0000FF"/>
                </a:solidFill>
              </a:rPr>
              <a:t>The model learns too little</a:t>
            </a:r>
            <a:r>
              <a:rPr lang="en-US" dirty="0" smtClean="0">
                <a:solidFill>
                  <a:srgbClr val="0000FF"/>
                </a:solidFill>
              </a:rPr>
              <a:t> </a:t>
            </a:r>
            <a:r>
              <a:rPr lang="en-US" dirty="0" smtClean="0"/>
              <a:t>— it </a:t>
            </a:r>
            <a:r>
              <a:rPr lang="en-US" b="1" dirty="0" smtClean="0">
                <a:solidFill>
                  <a:srgbClr val="0000FF"/>
                </a:solidFill>
              </a:rPr>
              <a:t>fails to capture</a:t>
            </a:r>
            <a:r>
              <a:rPr lang="en-US" dirty="0" smtClean="0">
                <a:solidFill>
                  <a:srgbClr val="0000FF"/>
                </a:solidFill>
              </a:rPr>
              <a:t> </a:t>
            </a:r>
            <a:r>
              <a:rPr lang="en-US" dirty="0" smtClean="0"/>
              <a:t>the underlying patterns.</a:t>
            </a:r>
          </a:p>
          <a:p>
            <a:r>
              <a:rPr lang="en-US" b="1" dirty="0" smtClean="0"/>
              <a:t>Training accuracy:</a:t>
            </a:r>
            <a:r>
              <a:rPr lang="en-US" dirty="0" smtClean="0"/>
              <a:t> Low</a:t>
            </a:r>
          </a:p>
          <a:p>
            <a:r>
              <a:rPr lang="en-US" b="1" dirty="0" smtClean="0"/>
              <a:t>Validation/Test accuracy:</a:t>
            </a:r>
            <a:r>
              <a:rPr lang="en-US" dirty="0" smtClean="0"/>
              <a:t> Low</a:t>
            </a:r>
          </a:p>
          <a:p>
            <a:r>
              <a:rPr lang="en-US" dirty="0" smtClean="0"/>
              <a:t>The model is </a:t>
            </a:r>
            <a:r>
              <a:rPr lang="en-US" b="1" dirty="0" smtClean="0">
                <a:solidFill>
                  <a:srgbClr val="0000FF"/>
                </a:solidFill>
              </a:rPr>
              <a:t>too simple </a:t>
            </a:r>
            <a:r>
              <a:rPr lang="en-US" dirty="0" smtClean="0"/>
              <a:t>or </a:t>
            </a:r>
            <a:r>
              <a:rPr lang="en-US" b="1" dirty="0" smtClean="0">
                <a:solidFill>
                  <a:srgbClr val="0000FF"/>
                </a:solidFill>
              </a:rPr>
              <a:t>not trained well enough</a:t>
            </a:r>
          </a:p>
          <a:p>
            <a:endParaRPr lang="en-US" dirty="0" smtClean="0"/>
          </a:p>
          <a:p>
            <a:pPr>
              <a:buNone/>
            </a:pPr>
            <a:r>
              <a:rPr lang="en-US" b="1" dirty="0" smtClean="0"/>
              <a:t>Good Fit</a:t>
            </a:r>
          </a:p>
          <a:p>
            <a:r>
              <a:rPr lang="en-US" b="1" dirty="0" smtClean="0">
                <a:solidFill>
                  <a:srgbClr val="0000FF"/>
                </a:solidFill>
              </a:rPr>
              <a:t>The model learns just enough</a:t>
            </a:r>
            <a:r>
              <a:rPr lang="en-US" dirty="0" smtClean="0">
                <a:solidFill>
                  <a:srgbClr val="0000FF"/>
                </a:solidFill>
              </a:rPr>
              <a:t> </a:t>
            </a:r>
            <a:r>
              <a:rPr lang="en-US" dirty="0" smtClean="0"/>
              <a:t>— it </a:t>
            </a:r>
            <a:r>
              <a:rPr lang="en-US" b="1" dirty="0" smtClean="0">
                <a:solidFill>
                  <a:srgbClr val="0000FF"/>
                </a:solidFill>
              </a:rPr>
              <a:t>generalizes well</a:t>
            </a:r>
            <a:r>
              <a:rPr lang="en-US" dirty="0" smtClean="0">
                <a:solidFill>
                  <a:srgbClr val="0000FF"/>
                </a:solidFill>
              </a:rPr>
              <a:t> </a:t>
            </a:r>
            <a:r>
              <a:rPr lang="en-US" dirty="0" smtClean="0"/>
              <a:t>to new data.</a:t>
            </a:r>
          </a:p>
          <a:p>
            <a:r>
              <a:rPr lang="en-US" b="1" dirty="0" smtClean="0"/>
              <a:t>Training accuracy:</a:t>
            </a:r>
            <a:r>
              <a:rPr lang="en-US" dirty="0" smtClean="0"/>
              <a:t> High</a:t>
            </a:r>
          </a:p>
          <a:p>
            <a:r>
              <a:rPr lang="en-US" dirty="0" smtClean="0"/>
              <a:t> </a:t>
            </a:r>
            <a:r>
              <a:rPr lang="en-US" b="1" dirty="0" smtClean="0"/>
              <a:t>Validation/Test accuracy:</a:t>
            </a:r>
            <a:r>
              <a:rPr lang="en-US" dirty="0" smtClean="0"/>
              <a:t> High</a:t>
            </a:r>
          </a:p>
          <a:p>
            <a:r>
              <a:rPr lang="en-US" dirty="0" smtClean="0"/>
              <a:t> The model </a:t>
            </a:r>
            <a:r>
              <a:rPr lang="en-US" b="1" dirty="0" smtClean="0">
                <a:solidFill>
                  <a:srgbClr val="0000FF"/>
                </a:solidFill>
              </a:rPr>
              <a:t>captures the true patterns without memorizing noise</a:t>
            </a:r>
          </a:p>
          <a:p>
            <a:endParaRPr lang="en-US" dirty="0" smtClean="0"/>
          </a:p>
          <a:p>
            <a:endParaRPr lang="en-US" dirty="0" smtClean="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157192"/>
            <a:ext cx="9144000" cy="1440160"/>
          </a:xfrm>
        </p:spPr>
        <p:txBody>
          <a:bodyPr>
            <a:noAutofit/>
          </a:bodyPr>
          <a:lstStyle/>
          <a:p>
            <a:pPr>
              <a:buNone/>
            </a:pPr>
            <a:r>
              <a:rPr lang="en-US" sz="1350" b="1" dirty="0" err="1" smtClean="0"/>
              <a:t>Overfitting</a:t>
            </a:r>
            <a:r>
              <a:rPr lang="en-US" sz="1350" dirty="0" smtClean="0"/>
              <a:t>: High training accuracy (e.g., 98%) but low validation/test accuracy (e.g., 70%).</a:t>
            </a:r>
          </a:p>
          <a:p>
            <a:pPr>
              <a:buNone/>
            </a:pPr>
            <a:r>
              <a:rPr lang="en-US" sz="1350" b="1" dirty="0" err="1" smtClean="0"/>
              <a:t>Underfitting</a:t>
            </a:r>
            <a:r>
              <a:rPr lang="en-US" sz="1350" dirty="0" smtClean="0"/>
              <a:t>: Both training and validation accuracy are low (e.g., below 70%), indicating the model is too simple or not learning.</a:t>
            </a:r>
          </a:p>
          <a:p>
            <a:pPr>
              <a:buNone/>
            </a:pPr>
            <a:r>
              <a:rPr lang="en-US" sz="1350" dirty="0" smtClean="0"/>
              <a:t>Epoch:      1    2     3      4     5       6         7      8        9   10</a:t>
            </a:r>
          </a:p>
          <a:p>
            <a:pPr>
              <a:buNone/>
            </a:pPr>
            <a:r>
              <a:rPr lang="en-US" sz="1350" dirty="0" smtClean="0"/>
              <a:t>Loss:      0.8  0.6  0.5  0.4  0.38  0.37  0.36  0.36  0.35  0.35</a:t>
            </a:r>
          </a:p>
          <a:p>
            <a:pPr>
              <a:buNone/>
            </a:pPr>
            <a:r>
              <a:rPr lang="en-US" sz="1350" dirty="0" smtClean="0"/>
              <a:t>From Epoch 1 to 5, the loss decreases clearly. From Epoch 6 onward, the loss is almost not changing — </a:t>
            </a:r>
            <a:r>
              <a:rPr lang="en-US" sz="1350" b="1" dirty="0" smtClean="0">
                <a:solidFill>
                  <a:srgbClr val="C00000"/>
                </a:solidFill>
              </a:rPr>
              <a:t>this is the plateau.</a:t>
            </a:r>
            <a:endParaRPr lang="en-US" sz="1350" b="1" dirty="0">
              <a:solidFill>
                <a:srgbClr val="C00000"/>
              </a:solidFill>
            </a:endParaRPr>
          </a:p>
        </p:txBody>
      </p:sp>
      <p:pic>
        <p:nvPicPr>
          <p:cNvPr id="1026" name="Picture 2"/>
          <p:cNvPicPr>
            <a:picLocks noChangeAspect="1" noChangeArrowheads="1"/>
          </p:cNvPicPr>
          <p:nvPr/>
        </p:nvPicPr>
        <p:blipFill>
          <a:blip r:embed="rId2" cstate="print"/>
          <a:srcRect t="6191" r="5882"/>
          <a:stretch>
            <a:fillRect/>
          </a:stretch>
        </p:blipFill>
        <p:spPr bwMode="auto">
          <a:xfrm>
            <a:off x="144016" y="332656"/>
            <a:ext cx="8964488" cy="4248472"/>
          </a:xfrm>
          <a:prstGeom prst="rect">
            <a:avLst/>
          </a:prstGeom>
          <a:noFill/>
          <a:ln w="9525">
            <a:noFill/>
            <a:miter lim="800000"/>
            <a:headEnd/>
            <a:tailEnd/>
          </a:ln>
        </p:spPr>
      </p:pic>
      <p:sp>
        <p:nvSpPr>
          <p:cNvPr id="5" name="Rectangle 4"/>
          <p:cNvSpPr/>
          <p:nvPr/>
        </p:nvSpPr>
        <p:spPr>
          <a:xfrm>
            <a:off x="0" y="2060848"/>
            <a:ext cx="9144000" cy="492443"/>
          </a:xfrm>
          <a:prstGeom prst="rect">
            <a:avLst/>
          </a:prstGeom>
        </p:spPr>
        <p:txBody>
          <a:bodyPr wrap="square">
            <a:spAutoFit/>
          </a:bodyPr>
          <a:lstStyle/>
          <a:p>
            <a:r>
              <a:rPr lang="en-US" sz="1300" b="1" dirty="0" smtClean="0">
                <a:solidFill>
                  <a:srgbClr val="0000FF"/>
                </a:solidFill>
              </a:rPr>
              <a:t>plateau" means that a value (like loss or accuracy) stops changing significantly over time (usually over epochs) and stays relatively flat</a:t>
            </a:r>
            <a:endParaRPr lang="en-US" sz="1300" b="1" dirty="0">
              <a:solidFill>
                <a:srgbClr val="0000FF"/>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dirty="0" smtClean="0"/>
              <a:t>Example </a:t>
            </a:r>
            <a:endParaRPr lang="en-US" dirty="0"/>
          </a:p>
        </p:txBody>
      </p:sp>
      <p:sp>
        <p:nvSpPr>
          <p:cNvPr id="3" name="Content Placeholder 2"/>
          <p:cNvSpPr>
            <a:spLocks noGrp="1"/>
          </p:cNvSpPr>
          <p:nvPr>
            <p:ph idx="1"/>
          </p:nvPr>
        </p:nvSpPr>
        <p:spPr>
          <a:xfrm>
            <a:off x="179512" y="908720"/>
            <a:ext cx="8856984" cy="5760640"/>
          </a:xfrm>
        </p:spPr>
        <p:txBody>
          <a:bodyPr>
            <a:normAutofit fontScale="40000" lnSpcReduction="20000"/>
          </a:bodyPr>
          <a:lstStyle/>
          <a:p>
            <a:pPr>
              <a:buNone/>
            </a:pPr>
            <a:r>
              <a:rPr lang="en-US" b="1" dirty="0" smtClean="0"/>
              <a:t>COVID Test Result</a:t>
            </a:r>
          </a:p>
          <a:p>
            <a:pPr>
              <a:buNone/>
            </a:pPr>
            <a:r>
              <a:rPr lang="en-US" b="1" dirty="0" smtClean="0"/>
              <a:t>“Yes” = Person has COVID</a:t>
            </a:r>
            <a:endParaRPr lang="en-US" dirty="0" smtClean="0"/>
          </a:p>
          <a:p>
            <a:pPr>
              <a:buNone/>
            </a:pPr>
            <a:r>
              <a:rPr lang="en-US" b="1" dirty="0" smtClean="0"/>
              <a:t>“No” = Person does NOT have COVID</a:t>
            </a:r>
          </a:p>
          <a:p>
            <a:pPr>
              <a:buNone/>
            </a:pPr>
            <a:endParaRPr lang="en-US" dirty="0" smtClean="0"/>
          </a:p>
          <a:p>
            <a:pPr>
              <a:buNone/>
            </a:pPr>
            <a:r>
              <a:rPr lang="en-US" dirty="0" smtClean="0"/>
              <a:t>understand the four parts:</a:t>
            </a:r>
          </a:p>
          <a:p>
            <a:pPr>
              <a:buNone/>
            </a:pPr>
            <a:r>
              <a:rPr lang="en-US" b="1" dirty="0" smtClean="0"/>
              <a:t>True Positive (TP):</a:t>
            </a:r>
          </a:p>
          <a:p>
            <a:pPr>
              <a:buNone/>
            </a:pPr>
            <a:r>
              <a:rPr lang="en-US" b="1" dirty="0" smtClean="0"/>
              <a:t>The test says you have COVID, and you actually do.</a:t>
            </a:r>
            <a:endParaRPr lang="en-US" dirty="0" smtClean="0"/>
          </a:p>
          <a:p>
            <a:pPr>
              <a:buNone/>
            </a:pPr>
            <a:r>
              <a:rPr lang="en-US" dirty="0" smtClean="0"/>
              <a:t> </a:t>
            </a:r>
            <a:r>
              <a:rPr lang="en-US" i="1" dirty="0" smtClean="0"/>
              <a:t>Test is correct, caught the disease.</a:t>
            </a:r>
          </a:p>
          <a:p>
            <a:pPr>
              <a:buNone/>
            </a:pPr>
            <a:endParaRPr lang="en-US" dirty="0" smtClean="0"/>
          </a:p>
          <a:p>
            <a:pPr>
              <a:buNone/>
            </a:pPr>
            <a:r>
              <a:rPr lang="en-US" b="1" dirty="0" smtClean="0"/>
              <a:t>True Negative (TN):</a:t>
            </a:r>
          </a:p>
          <a:p>
            <a:pPr>
              <a:buNone/>
            </a:pPr>
            <a:r>
              <a:rPr lang="en-US" b="1" dirty="0" smtClean="0"/>
              <a:t>The test says you don’t have COVID, and you actually don’t.</a:t>
            </a:r>
            <a:endParaRPr lang="en-US" dirty="0" smtClean="0"/>
          </a:p>
          <a:p>
            <a:pPr>
              <a:buNone/>
            </a:pPr>
            <a:r>
              <a:rPr lang="en-US" dirty="0" smtClean="0"/>
              <a:t> </a:t>
            </a:r>
            <a:r>
              <a:rPr lang="en-US" i="1" dirty="0" smtClean="0"/>
              <a:t>Test is correct, and you're healthy.</a:t>
            </a:r>
          </a:p>
          <a:p>
            <a:pPr>
              <a:buNone/>
            </a:pPr>
            <a:endParaRPr lang="en-US" dirty="0" smtClean="0"/>
          </a:p>
          <a:p>
            <a:pPr>
              <a:buNone/>
            </a:pPr>
            <a:r>
              <a:rPr lang="en-US" b="1" dirty="0" smtClean="0"/>
              <a:t>False Positive (FP):</a:t>
            </a:r>
          </a:p>
          <a:p>
            <a:pPr>
              <a:buNone/>
            </a:pPr>
            <a:r>
              <a:rPr lang="en-US" b="1" dirty="0" smtClean="0"/>
              <a:t>The test says you have COVID, but you don’t.</a:t>
            </a:r>
            <a:endParaRPr lang="en-US" dirty="0" smtClean="0"/>
          </a:p>
          <a:p>
            <a:pPr>
              <a:buNone/>
            </a:pPr>
            <a:r>
              <a:rPr lang="en-US" dirty="0" smtClean="0"/>
              <a:t> </a:t>
            </a:r>
            <a:r>
              <a:rPr lang="en-US" i="1" dirty="0" smtClean="0"/>
              <a:t>Test is wrong — causes unnecessary panic and isolation.</a:t>
            </a:r>
          </a:p>
          <a:p>
            <a:pPr>
              <a:buNone/>
            </a:pPr>
            <a:endParaRPr lang="en-US" dirty="0" smtClean="0"/>
          </a:p>
          <a:p>
            <a:pPr>
              <a:buNone/>
            </a:pPr>
            <a:r>
              <a:rPr lang="en-US" b="1" dirty="0" smtClean="0"/>
              <a:t>False Negative (FN):</a:t>
            </a:r>
          </a:p>
          <a:p>
            <a:pPr>
              <a:buNone/>
            </a:pPr>
            <a:r>
              <a:rPr lang="en-US" b="1" dirty="0" smtClean="0"/>
              <a:t>The test says you don’t have COVID, but you do.</a:t>
            </a:r>
            <a:endParaRPr lang="en-US" dirty="0" smtClean="0"/>
          </a:p>
          <a:p>
            <a:pPr>
              <a:buNone/>
            </a:pPr>
            <a:r>
              <a:rPr lang="en-US" dirty="0" smtClean="0"/>
              <a:t> </a:t>
            </a:r>
            <a:r>
              <a:rPr lang="en-US" i="1" dirty="0" smtClean="0"/>
              <a:t>Test is wrong — dangerous because you might unknowingly infect others.</a:t>
            </a:r>
            <a:endParaRPr lang="en-US" dirty="0" smtClean="0"/>
          </a:p>
          <a:p>
            <a:pPr>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Hyperparameter</a:t>
            </a:r>
            <a:r>
              <a:rPr lang="en-US" b="1" dirty="0" smtClean="0"/>
              <a:t> Tuning</a:t>
            </a:r>
            <a:endParaRPr lang="en-US" b="1" dirty="0"/>
          </a:p>
        </p:txBody>
      </p:sp>
      <p:sp>
        <p:nvSpPr>
          <p:cNvPr id="3" name="Content Placeholder 2"/>
          <p:cNvSpPr>
            <a:spLocks noGrp="1"/>
          </p:cNvSpPr>
          <p:nvPr>
            <p:ph idx="1"/>
          </p:nvPr>
        </p:nvSpPr>
        <p:spPr>
          <a:xfrm>
            <a:off x="251520" y="1340769"/>
            <a:ext cx="8435280" cy="2808312"/>
          </a:xfrm>
        </p:spPr>
        <p:txBody>
          <a:bodyPr>
            <a:normAutofit fontScale="70000" lnSpcReduction="20000"/>
          </a:bodyPr>
          <a:lstStyle/>
          <a:p>
            <a:r>
              <a:rPr lang="en-US" dirty="0" err="1" smtClean="0"/>
              <a:t>Hyperparameter</a:t>
            </a:r>
            <a:r>
              <a:rPr lang="en-US" dirty="0" smtClean="0"/>
              <a:t> tuning is the </a:t>
            </a:r>
            <a:r>
              <a:rPr lang="en-US" b="1" dirty="0" smtClean="0">
                <a:solidFill>
                  <a:srgbClr val="0000FF"/>
                </a:solidFill>
              </a:rPr>
              <a:t>process of finding the best values </a:t>
            </a:r>
            <a:r>
              <a:rPr lang="en-US" dirty="0" smtClean="0"/>
              <a:t>for the </a:t>
            </a:r>
            <a:r>
              <a:rPr lang="en-US" dirty="0" err="1" smtClean="0"/>
              <a:t>hyperparameters</a:t>
            </a:r>
            <a:r>
              <a:rPr lang="en-US" dirty="0" smtClean="0"/>
              <a:t> to </a:t>
            </a:r>
            <a:r>
              <a:rPr lang="en-US" b="1" dirty="0" smtClean="0">
                <a:solidFill>
                  <a:srgbClr val="0000FF"/>
                </a:solidFill>
              </a:rPr>
              <a:t>improve the model’s performance</a:t>
            </a:r>
            <a:r>
              <a:rPr lang="en-US" dirty="0" smtClean="0"/>
              <a:t>.</a:t>
            </a:r>
          </a:p>
          <a:p>
            <a:r>
              <a:rPr lang="en-US" b="1" dirty="0" smtClean="0"/>
              <a:t>Try different combinations</a:t>
            </a:r>
            <a:r>
              <a:rPr lang="en-US" dirty="0" smtClean="0"/>
              <a:t> (like learning rate, batch size, number of layers, etc.) and choose the one that gives </a:t>
            </a:r>
            <a:r>
              <a:rPr lang="en-US" b="1" dirty="0" smtClean="0"/>
              <a:t>the best accuracy or lowest loss</a:t>
            </a:r>
            <a:r>
              <a:rPr lang="en-US" dirty="0" smtClean="0"/>
              <a:t> on validation data.</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755576" y="3717032"/>
            <a:ext cx="8084535" cy="27363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dirty="0" smtClean="0"/>
              <a:t>Methods of </a:t>
            </a:r>
            <a:r>
              <a:rPr lang="en-US" dirty="0" err="1" smtClean="0"/>
              <a:t>hyperparameter</a:t>
            </a:r>
            <a:r>
              <a:rPr lang="en-US" dirty="0" smtClean="0"/>
              <a:t> tuning</a:t>
            </a:r>
            <a:endParaRPr lang="en-US" dirty="0"/>
          </a:p>
        </p:txBody>
      </p:sp>
      <p:sp>
        <p:nvSpPr>
          <p:cNvPr id="3" name="Content Placeholder 2"/>
          <p:cNvSpPr>
            <a:spLocks noGrp="1"/>
          </p:cNvSpPr>
          <p:nvPr>
            <p:ph idx="1"/>
          </p:nvPr>
        </p:nvSpPr>
        <p:spPr>
          <a:xfrm>
            <a:off x="179512" y="908720"/>
            <a:ext cx="8784976" cy="5472608"/>
          </a:xfrm>
        </p:spPr>
        <p:txBody>
          <a:bodyPr numCol="1">
            <a:noAutofit/>
          </a:bodyPr>
          <a:lstStyle/>
          <a:p>
            <a:pPr>
              <a:lnSpc>
                <a:spcPct val="170000"/>
              </a:lnSpc>
              <a:buNone/>
            </a:pPr>
            <a:r>
              <a:rPr lang="en-US" sz="1600" b="1" dirty="0" smtClean="0"/>
              <a:t>1. Manual Search:</a:t>
            </a:r>
          </a:p>
          <a:p>
            <a:pPr>
              <a:lnSpc>
                <a:spcPct val="170000"/>
              </a:lnSpc>
              <a:buNone/>
            </a:pPr>
            <a:r>
              <a:rPr lang="en-US" sz="1600" dirty="0" smtClean="0"/>
              <a:t>You try </a:t>
            </a:r>
            <a:r>
              <a:rPr lang="en-US" sz="1600" b="1" dirty="0" smtClean="0">
                <a:solidFill>
                  <a:srgbClr val="0000FF"/>
                </a:solidFill>
              </a:rPr>
              <a:t>different values manually </a:t>
            </a:r>
            <a:r>
              <a:rPr lang="en-US" sz="1600" dirty="0" smtClean="0"/>
              <a:t>(like in the table above).</a:t>
            </a:r>
          </a:p>
          <a:p>
            <a:pPr>
              <a:lnSpc>
                <a:spcPct val="170000"/>
              </a:lnSpc>
              <a:buNone/>
            </a:pPr>
            <a:r>
              <a:rPr lang="en-US" sz="1600" b="1" dirty="0" smtClean="0"/>
              <a:t> 2. Grid Search:</a:t>
            </a:r>
          </a:p>
          <a:p>
            <a:pPr>
              <a:lnSpc>
                <a:spcPct val="170000"/>
              </a:lnSpc>
              <a:buNone/>
            </a:pPr>
            <a:r>
              <a:rPr lang="en-US" sz="1600" dirty="0" smtClean="0"/>
              <a:t>Try </a:t>
            </a:r>
            <a:r>
              <a:rPr lang="en-US" sz="1600" b="1" dirty="0" smtClean="0"/>
              <a:t>all combinations</a:t>
            </a:r>
            <a:r>
              <a:rPr lang="en-US" sz="1600" dirty="0" smtClean="0"/>
              <a:t> of given </a:t>
            </a:r>
            <a:r>
              <a:rPr lang="en-US" sz="1600" dirty="0" err="1" smtClean="0"/>
              <a:t>hyperparameter</a:t>
            </a:r>
            <a:r>
              <a:rPr lang="en-US" sz="1600" dirty="0" smtClean="0"/>
              <a:t> values. define a </a:t>
            </a:r>
            <a:r>
              <a:rPr lang="en-US" sz="1600" b="1" dirty="0" smtClean="0"/>
              <a:t>grid (table)</a:t>
            </a:r>
            <a:r>
              <a:rPr lang="en-US" sz="1600" dirty="0" smtClean="0"/>
              <a:t> of all possible combinations of </a:t>
            </a:r>
            <a:r>
              <a:rPr lang="en-US" sz="1600" dirty="0" err="1" smtClean="0"/>
              <a:t>hyperparameter</a:t>
            </a:r>
            <a:r>
              <a:rPr lang="en-US" sz="1600" dirty="0" smtClean="0"/>
              <a:t> values, and the </a:t>
            </a:r>
            <a:r>
              <a:rPr lang="en-US" sz="1600" b="1" dirty="0" smtClean="0">
                <a:solidFill>
                  <a:srgbClr val="0000FF"/>
                </a:solidFill>
              </a:rPr>
              <a:t>model tries every combination</a:t>
            </a:r>
            <a:r>
              <a:rPr lang="en-US" sz="1600" dirty="0" smtClean="0"/>
              <a:t>.</a:t>
            </a:r>
          </a:p>
          <a:p>
            <a:pPr>
              <a:lnSpc>
                <a:spcPct val="170000"/>
              </a:lnSpc>
            </a:pPr>
            <a:r>
              <a:rPr lang="en-US" sz="1600" b="1" dirty="0" smtClean="0"/>
              <a:t>Systematic</a:t>
            </a:r>
            <a:r>
              <a:rPr lang="en-US" sz="1600" dirty="0" smtClean="0"/>
              <a:t> and thorough but Very slow and Computationally expensive</a:t>
            </a:r>
          </a:p>
          <a:p>
            <a:pPr>
              <a:lnSpc>
                <a:spcPct val="170000"/>
              </a:lnSpc>
              <a:buNone/>
            </a:pPr>
            <a:r>
              <a:rPr lang="en-US" sz="1600" u="sng" dirty="0" smtClean="0"/>
              <a:t>Example</a:t>
            </a:r>
          </a:p>
          <a:p>
            <a:pPr>
              <a:lnSpc>
                <a:spcPct val="170000"/>
              </a:lnSpc>
              <a:buNone/>
            </a:pPr>
            <a:r>
              <a:rPr lang="en-US" sz="1600" dirty="0" smtClean="0"/>
              <a:t>Learning rate: [0.1, 0.01]</a:t>
            </a:r>
          </a:p>
          <a:p>
            <a:pPr>
              <a:lnSpc>
                <a:spcPct val="170000"/>
              </a:lnSpc>
              <a:buNone/>
            </a:pPr>
            <a:r>
              <a:rPr lang="en-US" sz="1600" dirty="0" smtClean="0"/>
              <a:t>Batch size: [32, 64]</a:t>
            </a:r>
          </a:p>
          <a:p>
            <a:pPr>
              <a:lnSpc>
                <a:spcPct val="170000"/>
              </a:lnSpc>
              <a:buNone/>
            </a:pPr>
            <a:r>
              <a:rPr lang="en-US" sz="1600" dirty="0" smtClean="0"/>
              <a:t>Grid search will try:</a:t>
            </a:r>
          </a:p>
          <a:p>
            <a:pPr>
              <a:lnSpc>
                <a:spcPct val="170000"/>
              </a:lnSpc>
              <a:buNone/>
            </a:pPr>
            <a:r>
              <a:rPr lang="en-US" sz="1600" dirty="0" err="1" smtClean="0"/>
              <a:t>lr</a:t>
            </a:r>
            <a:r>
              <a:rPr lang="en-US" sz="1600" dirty="0" smtClean="0"/>
              <a:t> = 0.1, batch = 32</a:t>
            </a:r>
          </a:p>
          <a:p>
            <a:pPr>
              <a:lnSpc>
                <a:spcPct val="170000"/>
              </a:lnSpc>
              <a:buNone/>
            </a:pPr>
            <a:r>
              <a:rPr lang="en-US" sz="1600" dirty="0" err="1" smtClean="0"/>
              <a:t>lr</a:t>
            </a:r>
            <a:r>
              <a:rPr lang="en-US" sz="1600" dirty="0" smtClean="0"/>
              <a:t> = 0.1, batch = 64</a:t>
            </a:r>
          </a:p>
          <a:p>
            <a:pPr>
              <a:lnSpc>
                <a:spcPct val="170000"/>
              </a:lnSpc>
              <a:buNone/>
            </a:pPr>
            <a:r>
              <a:rPr lang="en-US" sz="1600" dirty="0" err="1" smtClean="0"/>
              <a:t>lr</a:t>
            </a:r>
            <a:r>
              <a:rPr lang="en-US" sz="1600" dirty="0" smtClean="0"/>
              <a:t> = 0.01, batch = 32</a:t>
            </a:r>
          </a:p>
          <a:p>
            <a:pPr>
              <a:lnSpc>
                <a:spcPct val="170000"/>
              </a:lnSpc>
              <a:buNone/>
            </a:pPr>
            <a:r>
              <a:rPr lang="en-US" sz="1600" dirty="0" err="1" smtClean="0"/>
              <a:t>lr</a:t>
            </a:r>
            <a:r>
              <a:rPr lang="en-US" sz="1600" dirty="0" smtClean="0"/>
              <a:t> = 0.01, batch = 64</a:t>
            </a:r>
          </a:p>
          <a:p>
            <a:pPr>
              <a:lnSpc>
                <a:spcPct val="170000"/>
              </a:lnSpc>
              <a:buNone/>
            </a:pP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0"/>
            <a:ext cx="8712968" cy="6858000"/>
          </a:xfrm>
        </p:spPr>
        <p:txBody>
          <a:bodyPr>
            <a:noAutofit/>
          </a:bodyPr>
          <a:lstStyle/>
          <a:p>
            <a:pPr>
              <a:lnSpc>
                <a:spcPct val="170000"/>
              </a:lnSpc>
              <a:buNone/>
            </a:pPr>
            <a:r>
              <a:rPr lang="en-US" sz="1400" b="1" dirty="0" smtClean="0"/>
              <a:t>3. Random Search:</a:t>
            </a:r>
          </a:p>
          <a:p>
            <a:pPr>
              <a:lnSpc>
                <a:spcPct val="170000"/>
              </a:lnSpc>
              <a:buNone/>
            </a:pPr>
            <a:r>
              <a:rPr lang="en-US" sz="1400" dirty="0" smtClean="0"/>
              <a:t>Instead of trying all combinations, it </a:t>
            </a:r>
            <a:r>
              <a:rPr lang="en-US" sz="1400" b="1" dirty="0" smtClean="0">
                <a:solidFill>
                  <a:srgbClr val="0000FF"/>
                </a:solidFill>
              </a:rPr>
              <a:t>randomly selects a few combinations </a:t>
            </a:r>
            <a:r>
              <a:rPr lang="en-US" sz="1400" dirty="0" smtClean="0"/>
              <a:t>to try..</a:t>
            </a:r>
          </a:p>
          <a:p>
            <a:pPr>
              <a:lnSpc>
                <a:spcPct val="170000"/>
              </a:lnSpc>
            </a:pPr>
            <a:r>
              <a:rPr lang="en-US" sz="1400" b="1" dirty="0" smtClean="0"/>
              <a:t>Faster</a:t>
            </a:r>
            <a:r>
              <a:rPr lang="en-US" sz="1400" dirty="0" smtClean="0"/>
              <a:t> than grid search but </a:t>
            </a:r>
            <a:r>
              <a:rPr lang="en-US" sz="1400" b="1" dirty="0" smtClean="0"/>
              <a:t>May miss the best combination </a:t>
            </a:r>
            <a:r>
              <a:rPr lang="en-US" sz="1400" dirty="0" smtClean="0"/>
              <a:t>and</a:t>
            </a:r>
            <a:r>
              <a:rPr lang="en-US" sz="1400" b="1" dirty="0" smtClean="0"/>
              <a:t> </a:t>
            </a:r>
            <a:r>
              <a:rPr lang="en-US" sz="1400" dirty="0" smtClean="0"/>
              <a:t>Results can vary each time</a:t>
            </a:r>
          </a:p>
          <a:p>
            <a:pPr>
              <a:lnSpc>
                <a:spcPct val="170000"/>
              </a:lnSpc>
              <a:buNone/>
            </a:pPr>
            <a:r>
              <a:rPr lang="en-US" sz="1400" u="sng" dirty="0" smtClean="0"/>
              <a:t>Example</a:t>
            </a:r>
          </a:p>
          <a:p>
            <a:pPr>
              <a:lnSpc>
                <a:spcPct val="170000"/>
              </a:lnSpc>
              <a:buNone/>
            </a:pPr>
            <a:r>
              <a:rPr lang="en-US" sz="1400" dirty="0" smtClean="0"/>
              <a:t>Learning rate: [0.1, 0.01, 0.001, 0.0001]</a:t>
            </a:r>
          </a:p>
          <a:p>
            <a:pPr>
              <a:lnSpc>
                <a:spcPct val="170000"/>
              </a:lnSpc>
              <a:buNone/>
            </a:pPr>
            <a:r>
              <a:rPr lang="en-US" sz="1400" dirty="0" smtClean="0"/>
              <a:t>Batch size: [16, 32, 64, 128]</a:t>
            </a:r>
          </a:p>
          <a:p>
            <a:pPr>
              <a:lnSpc>
                <a:spcPct val="170000"/>
              </a:lnSpc>
              <a:buNone/>
            </a:pPr>
            <a:r>
              <a:rPr lang="en-US" sz="1400" b="1" dirty="0" smtClean="0">
                <a:solidFill>
                  <a:srgbClr val="0000FF"/>
                </a:solidFill>
              </a:rPr>
              <a:t>Instead of trying 16 combinations</a:t>
            </a:r>
            <a:r>
              <a:rPr lang="en-US" sz="1400" dirty="0" smtClean="0"/>
              <a:t>, Random Search might try </a:t>
            </a:r>
            <a:r>
              <a:rPr lang="en-US" sz="1400" b="1" dirty="0" smtClean="0">
                <a:solidFill>
                  <a:srgbClr val="C00000"/>
                </a:solidFill>
              </a:rPr>
              <a:t>just 5 random ones.</a:t>
            </a:r>
          </a:p>
          <a:p>
            <a:pPr>
              <a:lnSpc>
                <a:spcPct val="170000"/>
              </a:lnSpc>
              <a:buNone/>
            </a:pPr>
            <a:r>
              <a:rPr lang="en-US" sz="1400" b="1" dirty="0" smtClean="0"/>
              <a:t> 4. Automated Tuning Tools:</a:t>
            </a:r>
          </a:p>
          <a:p>
            <a:pPr>
              <a:lnSpc>
                <a:spcPct val="170000"/>
              </a:lnSpc>
              <a:buNone/>
            </a:pPr>
            <a:r>
              <a:rPr lang="en-US" sz="1400" dirty="0" smtClean="0"/>
              <a:t>Instead of random trial and error, this method </a:t>
            </a:r>
            <a:r>
              <a:rPr lang="en-US" sz="1400" b="1" dirty="0" smtClean="0">
                <a:solidFill>
                  <a:srgbClr val="0000FF"/>
                </a:solidFill>
              </a:rPr>
              <a:t>learns from past trials </a:t>
            </a:r>
            <a:r>
              <a:rPr lang="en-US" sz="1400" dirty="0" smtClean="0"/>
              <a:t>and intelligently selects the next set of </a:t>
            </a:r>
            <a:r>
              <a:rPr lang="en-US" sz="1400" dirty="0" err="1" smtClean="0"/>
              <a:t>hyperparameters</a:t>
            </a:r>
            <a:r>
              <a:rPr lang="en-US" sz="1400" dirty="0" smtClean="0"/>
              <a:t> to try. Tools like: </a:t>
            </a:r>
            <a:r>
              <a:rPr lang="en-US" sz="1400" b="1" dirty="0" err="1" smtClean="0"/>
              <a:t>Keras</a:t>
            </a:r>
            <a:r>
              <a:rPr lang="en-US" sz="1400" b="1" dirty="0" smtClean="0"/>
              <a:t> Tuner, </a:t>
            </a:r>
            <a:r>
              <a:rPr lang="en-US" sz="1400" b="1" dirty="0" err="1" smtClean="0"/>
              <a:t>Optuna</a:t>
            </a:r>
            <a:r>
              <a:rPr lang="en-US" sz="1400" b="1" dirty="0" smtClean="0"/>
              <a:t>, Ray Tune, </a:t>
            </a:r>
            <a:r>
              <a:rPr lang="en-US" sz="1400" b="1" dirty="0" err="1" smtClean="0"/>
              <a:t>Hyperopt</a:t>
            </a:r>
            <a:endParaRPr lang="en-US" sz="1400" dirty="0" smtClean="0"/>
          </a:p>
          <a:p>
            <a:pPr>
              <a:buNone/>
            </a:pPr>
            <a:r>
              <a:rPr lang="en-US" sz="1400" dirty="0" smtClean="0"/>
              <a:t>These methods:</a:t>
            </a:r>
          </a:p>
          <a:p>
            <a:r>
              <a:rPr lang="en-US" sz="1400" b="1" dirty="0" smtClean="0"/>
              <a:t>Keep track</a:t>
            </a:r>
            <a:r>
              <a:rPr lang="en-US" sz="1400" dirty="0" smtClean="0"/>
              <a:t> of what </a:t>
            </a:r>
            <a:r>
              <a:rPr lang="en-US" sz="1400" dirty="0" err="1" smtClean="0"/>
              <a:t>hyperparameters</a:t>
            </a:r>
            <a:r>
              <a:rPr lang="en-US" sz="1400" dirty="0" smtClean="0"/>
              <a:t> they have tried already.</a:t>
            </a:r>
          </a:p>
          <a:p>
            <a:r>
              <a:rPr lang="en-US" sz="1400" b="1" dirty="0" smtClean="0"/>
              <a:t>Analyze the results</a:t>
            </a:r>
            <a:r>
              <a:rPr lang="en-US" sz="1400" dirty="0" smtClean="0"/>
              <a:t> (accuracy, loss) from each trial.</a:t>
            </a:r>
          </a:p>
          <a:p>
            <a:r>
              <a:rPr lang="en-US" sz="1400" dirty="0" smtClean="0"/>
              <a:t>Use that knowledge to </a:t>
            </a:r>
            <a:r>
              <a:rPr lang="en-US" sz="1400" b="1" dirty="0" smtClean="0"/>
              <a:t>guess better values</a:t>
            </a:r>
            <a:r>
              <a:rPr lang="en-US" sz="1400" dirty="0" smtClean="0"/>
              <a:t> next time.</a:t>
            </a:r>
          </a:p>
          <a:p>
            <a:pPr>
              <a:buNone/>
            </a:pPr>
            <a:r>
              <a:rPr lang="en-US" sz="1400" b="1" dirty="0" smtClean="0"/>
              <a:t>Example: </a:t>
            </a:r>
            <a:r>
              <a:rPr lang="en-US" sz="1400" dirty="0" smtClean="0"/>
              <a:t>Let’s say you're tuning the </a:t>
            </a:r>
            <a:r>
              <a:rPr lang="en-US" sz="1400" b="1" dirty="0" smtClean="0"/>
              <a:t>learning rate</a:t>
            </a:r>
            <a:r>
              <a:rPr lang="en-US" sz="1400" dirty="0" smtClean="0"/>
              <a:t> and </a:t>
            </a:r>
            <a:r>
              <a:rPr lang="en-US" sz="1400" b="1" dirty="0" smtClean="0"/>
              <a:t>number of units in a layer</a:t>
            </a:r>
            <a:r>
              <a:rPr lang="en-US" sz="1400" dirty="0" smtClean="0"/>
              <a:t>.</a:t>
            </a:r>
          </a:p>
          <a:p>
            <a:r>
              <a:rPr lang="en-US" sz="1400" b="1" dirty="0" smtClean="0"/>
              <a:t>Trial 1:</a:t>
            </a:r>
            <a:r>
              <a:rPr lang="en-US" sz="1400" dirty="0" smtClean="0"/>
              <a:t> Tries learning rate = 0.01 → accuracy = 75%</a:t>
            </a:r>
          </a:p>
          <a:p>
            <a:r>
              <a:rPr lang="en-US" sz="1400" b="1" dirty="0" smtClean="0"/>
              <a:t>Trial 2:</a:t>
            </a:r>
            <a:r>
              <a:rPr lang="en-US" sz="1400" dirty="0" smtClean="0"/>
              <a:t> Tries learning rate = 0.001 → accuracy = 85%</a:t>
            </a:r>
          </a:p>
          <a:p>
            <a:r>
              <a:rPr lang="en-US" sz="1400" dirty="0" smtClean="0"/>
              <a:t>The tuner </a:t>
            </a:r>
            <a:r>
              <a:rPr lang="en-US" sz="1400" b="1" dirty="0" smtClean="0"/>
              <a:t>learns that 0.001 is better than 0.01</a:t>
            </a:r>
            <a:r>
              <a:rPr lang="en-US" sz="1400" dirty="0" smtClean="0"/>
              <a:t>, so it tries values </a:t>
            </a:r>
            <a:r>
              <a:rPr lang="en-US" sz="1400" b="1" dirty="0" smtClean="0"/>
              <a:t>near 0.001</a:t>
            </a:r>
            <a:r>
              <a:rPr lang="en-US" sz="1400" dirty="0" smtClean="0"/>
              <a:t> next time (like 0.0005 or 0.002)</a:t>
            </a:r>
          </a:p>
          <a:p>
            <a:pPr>
              <a:buNone/>
            </a:pPr>
            <a:r>
              <a:rPr lang="en-US" sz="1400" dirty="0" smtClean="0"/>
              <a:t> </a:t>
            </a:r>
            <a:r>
              <a:rPr lang="en-US" sz="1400" b="1" dirty="0" smtClean="0"/>
              <a:t>So, it’s not guessing blindly — it’s learning from experience.</a:t>
            </a:r>
            <a:endParaRPr lang="en-US" sz="1400" dirty="0" smtClean="0"/>
          </a:p>
          <a:p>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Gridsearch</a:t>
            </a:r>
            <a:endParaRPr lang="en-US" dirty="0"/>
          </a:p>
        </p:txBody>
      </p:sp>
      <p:sp>
        <p:nvSpPr>
          <p:cNvPr id="3" name="Content Placeholder 2"/>
          <p:cNvSpPr>
            <a:spLocks noGrp="1"/>
          </p:cNvSpPr>
          <p:nvPr>
            <p:ph idx="1"/>
          </p:nvPr>
        </p:nvSpPr>
        <p:spPr/>
        <p:txBody>
          <a:bodyPr>
            <a:normAutofit fontScale="40000" lnSpcReduction="20000"/>
          </a:bodyPr>
          <a:lstStyle/>
          <a:p>
            <a:pPr>
              <a:buNone/>
            </a:pPr>
            <a:r>
              <a:rPr lang="en-US" dirty="0" smtClean="0"/>
              <a:t>from </a:t>
            </a:r>
            <a:r>
              <a:rPr lang="en-US" dirty="0" err="1" smtClean="0"/>
              <a:t>sklearn.model_selection</a:t>
            </a:r>
            <a:r>
              <a:rPr lang="en-US" dirty="0" smtClean="0"/>
              <a:t> import </a:t>
            </a:r>
            <a:r>
              <a:rPr lang="en-US" dirty="0" err="1" smtClean="0"/>
              <a:t>GridSearchCV</a:t>
            </a:r>
            <a:endParaRPr lang="en-US" dirty="0" smtClean="0"/>
          </a:p>
          <a:p>
            <a:pPr>
              <a:buNone/>
            </a:pPr>
            <a:r>
              <a:rPr lang="en-US" dirty="0" smtClean="0"/>
              <a:t>from </a:t>
            </a:r>
            <a:r>
              <a:rPr lang="en-US" dirty="0" err="1" smtClean="0"/>
              <a:t>sklearn.neural_network</a:t>
            </a:r>
            <a:r>
              <a:rPr lang="en-US" dirty="0" smtClean="0"/>
              <a:t> import </a:t>
            </a:r>
            <a:r>
              <a:rPr lang="en-US" dirty="0" err="1" smtClean="0"/>
              <a:t>MLPClassifier</a:t>
            </a:r>
            <a:endParaRPr lang="en-US" dirty="0" smtClean="0"/>
          </a:p>
          <a:p>
            <a:pPr>
              <a:buNone/>
            </a:pPr>
            <a:endParaRPr lang="en-US" dirty="0" smtClean="0"/>
          </a:p>
          <a:p>
            <a:pPr>
              <a:buNone/>
            </a:pPr>
            <a:r>
              <a:rPr lang="en-US" b="1" dirty="0" err="1" smtClean="0">
                <a:solidFill>
                  <a:srgbClr val="0000FF"/>
                </a:solidFill>
              </a:rPr>
              <a:t>param_grid</a:t>
            </a:r>
            <a:r>
              <a:rPr lang="en-US" b="1" dirty="0" smtClean="0">
                <a:solidFill>
                  <a:srgbClr val="0000FF"/>
                </a:solidFill>
              </a:rPr>
              <a:t> = {</a:t>
            </a:r>
          </a:p>
          <a:p>
            <a:pPr>
              <a:buNone/>
            </a:pPr>
            <a:r>
              <a:rPr lang="en-US" b="1" dirty="0" smtClean="0">
                <a:solidFill>
                  <a:srgbClr val="0000FF"/>
                </a:solidFill>
              </a:rPr>
              <a:t>    '</a:t>
            </a:r>
            <a:r>
              <a:rPr lang="en-US" b="1" dirty="0" err="1" smtClean="0">
                <a:solidFill>
                  <a:srgbClr val="0000FF"/>
                </a:solidFill>
              </a:rPr>
              <a:t>learning_rate_init</a:t>
            </a:r>
            <a:r>
              <a:rPr lang="en-US" b="1" dirty="0" smtClean="0">
                <a:solidFill>
                  <a:srgbClr val="0000FF"/>
                </a:solidFill>
              </a:rPr>
              <a:t>': [0.1, 0.01],</a:t>
            </a:r>
          </a:p>
          <a:p>
            <a:pPr>
              <a:buNone/>
            </a:pPr>
            <a:r>
              <a:rPr lang="en-US" b="1" dirty="0" smtClean="0">
                <a:solidFill>
                  <a:srgbClr val="0000FF"/>
                </a:solidFill>
              </a:rPr>
              <a:t>    '</a:t>
            </a:r>
            <a:r>
              <a:rPr lang="en-US" b="1" dirty="0" err="1" smtClean="0">
                <a:solidFill>
                  <a:srgbClr val="0000FF"/>
                </a:solidFill>
              </a:rPr>
              <a:t>batch_size</a:t>
            </a:r>
            <a:r>
              <a:rPr lang="en-US" b="1" dirty="0" smtClean="0">
                <a:solidFill>
                  <a:srgbClr val="0000FF"/>
                </a:solidFill>
              </a:rPr>
              <a:t>': [32, 64]</a:t>
            </a:r>
          </a:p>
          <a:p>
            <a:pPr>
              <a:buNone/>
            </a:pPr>
            <a:r>
              <a:rPr lang="en-US" b="1" dirty="0" smtClean="0">
                <a:solidFill>
                  <a:srgbClr val="0000FF"/>
                </a:solidFill>
              </a:rPr>
              <a:t>}</a:t>
            </a:r>
          </a:p>
          <a:p>
            <a:pPr>
              <a:buNone/>
            </a:pPr>
            <a:endParaRPr lang="en-US" dirty="0" smtClean="0"/>
          </a:p>
          <a:p>
            <a:pPr>
              <a:buNone/>
            </a:pPr>
            <a:r>
              <a:rPr lang="en-US" dirty="0" smtClean="0"/>
              <a:t>grid = </a:t>
            </a:r>
            <a:r>
              <a:rPr lang="en-US" b="1" dirty="0" err="1" smtClean="0">
                <a:solidFill>
                  <a:srgbClr val="0000FF"/>
                </a:solidFill>
              </a:rPr>
              <a:t>GridSearchCV</a:t>
            </a:r>
            <a:r>
              <a:rPr lang="en-US" b="1" dirty="0" smtClean="0">
                <a:solidFill>
                  <a:srgbClr val="0000FF"/>
                </a:solidFill>
              </a:rPr>
              <a:t>(</a:t>
            </a:r>
            <a:r>
              <a:rPr lang="en-US" b="1" dirty="0" err="1" smtClean="0">
                <a:solidFill>
                  <a:srgbClr val="0000FF"/>
                </a:solidFill>
              </a:rPr>
              <a:t>MLPClassifier</a:t>
            </a:r>
            <a:r>
              <a:rPr lang="en-US" b="1" dirty="0" smtClean="0">
                <a:solidFill>
                  <a:srgbClr val="0000FF"/>
                </a:solidFill>
              </a:rPr>
              <a:t>(), </a:t>
            </a:r>
            <a:r>
              <a:rPr lang="en-US" b="1" dirty="0" err="1" smtClean="0">
                <a:solidFill>
                  <a:srgbClr val="0000FF"/>
                </a:solidFill>
              </a:rPr>
              <a:t>param_grid</a:t>
            </a:r>
            <a:r>
              <a:rPr lang="en-US" b="1" dirty="0" smtClean="0">
                <a:solidFill>
                  <a:srgbClr val="0000FF"/>
                </a:solidFill>
              </a:rPr>
              <a:t>, </a:t>
            </a:r>
            <a:r>
              <a:rPr lang="en-US" b="1" dirty="0" err="1" smtClean="0">
                <a:solidFill>
                  <a:srgbClr val="0000FF"/>
                </a:solidFill>
              </a:rPr>
              <a:t>cv</a:t>
            </a:r>
            <a:r>
              <a:rPr lang="en-US" b="1" dirty="0" smtClean="0">
                <a:solidFill>
                  <a:srgbClr val="0000FF"/>
                </a:solidFill>
              </a:rPr>
              <a:t>=3)</a:t>
            </a:r>
          </a:p>
          <a:p>
            <a:pPr>
              <a:buNone/>
            </a:pPr>
            <a:r>
              <a:rPr lang="en-US" dirty="0" smtClean="0"/>
              <a:t>grid.fit(</a:t>
            </a:r>
            <a:r>
              <a:rPr lang="en-US" dirty="0" err="1" smtClean="0"/>
              <a:t>X_train</a:t>
            </a:r>
            <a:r>
              <a:rPr lang="en-US" dirty="0" smtClean="0"/>
              <a:t>, </a:t>
            </a:r>
            <a:r>
              <a:rPr lang="en-US" dirty="0" err="1" smtClean="0"/>
              <a:t>y_train</a:t>
            </a:r>
            <a:r>
              <a:rPr lang="en-US" dirty="0" smtClean="0"/>
              <a:t>)</a:t>
            </a:r>
          </a:p>
          <a:p>
            <a:pPr>
              <a:buNone/>
            </a:pPr>
            <a:r>
              <a:rPr lang="en-US" dirty="0" smtClean="0"/>
              <a:t>print(</a:t>
            </a:r>
            <a:r>
              <a:rPr lang="en-US" dirty="0" err="1" smtClean="0"/>
              <a:t>grid.best_params</a:t>
            </a:r>
            <a:r>
              <a:rPr lang="en-US" dirty="0" smtClean="0"/>
              <a:t>_)</a:t>
            </a:r>
          </a:p>
          <a:p>
            <a:pPr>
              <a:buNone/>
            </a:pPr>
            <a:endParaRPr lang="en-US" dirty="0" smtClean="0"/>
          </a:p>
          <a:p>
            <a:r>
              <a:rPr lang="en-US" dirty="0" smtClean="0"/>
              <a:t>Grid search will try:</a:t>
            </a:r>
          </a:p>
          <a:p>
            <a:r>
              <a:rPr lang="en-US" dirty="0" err="1" smtClean="0"/>
              <a:t>lr</a:t>
            </a:r>
            <a:r>
              <a:rPr lang="en-US" dirty="0" smtClean="0"/>
              <a:t> = 0.1, batch = 32</a:t>
            </a:r>
          </a:p>
          <a:p>
            <a:r>
              <a:rPr lang="en-US" dirty="0" err="1" smtClean="0"/>
              <a:t>lr</a:t>
            </a:r>
            <a:r>
              <a:rPr lang="en-US" dirty="0" smtClean="0"/>
              <a:t> = 0.1, batch = 64</a:t>
            </a:r>
          </a:p>
          <a:p>
            <a:r>
              <a:rPr lang="en-US" dirty="0" err="1" smtClean="0"/>
              <a:t>lr</a:t>
            </a:r>
            <a:r>
              <a:rPr lang="en-US" dirty="0" smtClean="0"/>
              <a:t> = 0.01, batch = 32</a:t>
            </a:r>
          </a:p>
          <a:p>
            <a:r>
              <a:rPr lang="en-US" dirty="0" err="1" smtClean="0"/>
              <a:t>lr</a:t>
            </a:r>
            <a:r>
              <a:rPr lang="en-US" dirty="0" smtClean="0"/>
              <a:t> = 0.01, batch = 64</a:t>
            </a:r>
          </a:p>
          <a:p>
            <a:pPr>
              <a:buNone/>
            </a:pPr>
            <a:endParaRPr lang="en-US" dirty="0" smtClean="0"/>
          </a:p>
          <a:p>
            <a:pPr>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search</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dirty="0" smtClean="0"/>
              <a:t>from </a:t>
            </a:r>
            <a:r>
              <a:rPr lang="en-US" dirty="0" err="1" smtClean="0"/>
              <a:t>sklearn.model_selection</a:t>
            </a:r>
            <a:r>
              <a:rPr lang="en-US" dirty="0" smtClean="0"/>
              <a:t> import </a:t>
            </a:r>
            <a:r>
              <a:rPr lang="en-US" dirty="0" err="1" smtClean="0"/>
              <a:t>RandomizedSearchCV</a:t>
            </a:r>
            <a:endParaRPr lang="en-US" dirty="0" smtClean="0"/>
          </a:p>
          <a:p>
            <a:pPr>
              <a:buNone/>
            </a:pPr>
            <a:r>
              <a:rPr lang="en-US" dirty="0" smtClean="0"/>
              <a:t>from </a:t>
            </a:r>
            <a:r>
              <a:rPr lang="en-US" dirty="0" err="1" smtClean="0"/>
              <a:t>sklearn.neural_network</a:t>
            </a:r>
            <a:r>
              <a:rPr lang="en-US" dirty="0" smtClean="0"/>
              <a:t> import </a:t>
            </a:r>
            <a:r>
              <a:rPr lang="en-US" dirty="0" err="1" smtClean="0"/>
              <a:t>MLPClassifier</a:t>
            </a:r>
            <a:endParaRPr lang="en-US" dirty="0" smtClean="0"/>
          </a:p>
          <a:p>
            <a:pPr>
              <a:buNone/>
            </a:pPr>
            <a:r>
              <a:rPr lang="en-US" dirty="0" smtClean="0"/>
              <a:t>from </a:t>
            </a:r>
            <a:r>
              <a:rPr lang="en-US" dirty="0" err="1" smtClean="0"/>
              <a:t>scipy.stats</a:t>
            </a:r>
            <a:r>
              <a:rPr lang="en-US" dirty="0" smtClean="0"/>
              <a:t> import uniform</a:t>
            </a:r>
          </a:p>
          <a:p>
            <a:pPr>
              <a:buNone/>
            </a:pPr>
            <a:endParaRPr lang="en-US" dirty="0" smtClean="0"/>
          </a:p>
          <a:p>
            <a:pPr>
              <a:buNone/>
            </a:pPr>
            <a:r>
              <a:rPr lang="en-US" dirty="0" err="1" smtClean="0"/>
              <a:t>param_dist</a:t>
            </a:r>
            <a:r>
              <a:rPr lang="en-US" dirty="0" smtClean="0"/>
              <a:t> = {</a:t>
            </a:r>
          </a:p>
          <a:p>
            <a:pPr>
              <a:buNone/>
            </a:pPr>
            <a:r>
              <a:rPr lang="en-US" dirty="0" smtClean="0"/>
              <a:t>    '</a:t>
            </a:r>
            <a:r>
              <a:rPr lang="en-US" dirty="0" err="1" smtClean="0"/>
              <a:t>learning_rate_init</a:t>
            </a:r>
            <a:r>
              <a:rPr lang="en-US" dirty="0" smtClean="0"/>
              <a:t>': uniform(0.0001, 0.01),</a:t>
            </a:r>
          </a:p>
          <a:p>
            <a:pPr>
              <a:buNone/>
            </a:pPr>
            <a:r>
              <a:rPr lang="en-US" dirty="0" smtClean="0"/>
              <a:t>    '</a:t>
            </a:r>
            <a:r>
              <a:rPr lang="en-US" dirty="0" err="1" smtClean="0"/>
              <a:t>batch_size</a:t>
            </a:r>
            <a:r>
              <a:rPr lang="en-US" dirty="0" smtClean="0"/>
              <a:t>': [32, 64, 128]</a:t>
            </a:r>
          </a:p>
          <a:p>
            <a:pPr>
              <a:buNone/>
            </a:pPr>
            <a:r>
              <a:rPr lang="en-US" dirty="0" smtClean="0"/>
              <a:t>}</a:t>
            </a:r>
          </a:p>
          <a:p>
            <a:pPr>
              <a:buNone/>
            </a:pPr>
            <a:endParaRPr lang="en-US" dirty="0" smtClean="0"/>
          </a:p>
          <a:p>
            <a:pPr>
              <a:buNone/>
            </a:pPr>
            <a:r>
              <a:rPr lang="en-US" dirty="0" err="1" smtClean="0"/>
              <a:t>rand_search</a:t>
            </a:r>
            <a:r>
              <a:rPr lang="en-US" dirty="0" smtClean="0"/>
              <a:t> = </a:t>
            </a:r>
            <a:r>
              <a:rPr lang="en-US" dirty="0" err="1" smtClean="0"/>
              <a:t>RandomizedSearchCV</a:t>
            </a:r>
            <a:r>
              <a:rPr lang="en-US" dirty="0" smtClean="0"/>
              <a:t>(</a:t>
            </a:r>
            <a:r>
              <a:rPr lang="en-US" dirty="0" err="1" smtClean="0"/>
              <a:t>MLPClassifier</a:t>
            </a:r>
            <a:r>
              <a:rPr lang="en-US" dirty="0" smtClean="0"/>
              <a:t>(), </a:t>
            </a:r>
            <a:r>
              <a:rPr lang="en-US" dirty="0" err="1" smtClean="0"/>
              <a:t>param_dist</a:t>
            </a:r>
            <a:r>
              <a:rPr lang="en-US" dirty="0" smtClean="0"/>
              <a:t>, </a:t>
            </a:r>
            <a:r>
              <a:rPr lang="en-US" dirty="0" err="1" smtClean="0"/>
              <a:t>n_iter</a:t>
            </a:r>
            <a:r>
              <a:rPr lang="en-US" dirty="0" smtClean="0"/>
              <a:t>=5)</a:t>
            </a:r>
          </a:p>
          <a:p>
            <a:pPr>
              <a:buNone/>
            </a:pPr>
            <a:r>
              <a:rPr lang="en-US" dirty="0" smtClean="0"/>
              <a:t>rand_search.fit(</a:t>
            </a:r>
            <a:r>
              <a:rPr lang="en-US" dirty="0" err="1" smtClean="0"/>
              <a:t>X_train</a:t>
            </a:r>
            <a:r>
              <a:rPr lang="en-US" dirty="0" smtClean="0"/>
              <a:t>, </a:t>
            </a:r>
            <a:r>
              <a:rPr lang="en-US" dirty="0" err="1" smtClean="0"/>
              <a:t>y_train</a:t>
            </a:r>
            <a:r>
              <a:rPr lang="en-US" dirty="0" smtClean="0"/>
              <a:t>)</a:t>
            </a:r>
          </a:p>
          <a:p>
            <a:pPr>
              <a:buNone/>
            </a:pPr>
            <a:r>
              <a:rPr lang="en-US" dirty="0" smtClean="0"/>
              <a:t>print(</a:t>
            </a:r>
            <a:r>
              <a:rPr lang="en-US" dirty="0" err="1" smtClean="0"/>
              <a:t>rand_search.best_params</a:t>
            </a:r>
            <a:r>
              <a:rPr lang="en-US" dirty="0" smtClean="0"/>
              <a:t>_)</a:t>
            </a:r>
          </a:p>
          <a:p>
            <a:pPr>
              <a:buNone/>
            </a:pPr>
            <a:endParaRPr lang="en-US" dirty="0" smtClean="0"/>
          </a:p>
          <a:p>
            <a:pPr>
              <a:buNone/>
            </a:pPr>
            <a:endParaRPr lang="en-US" dirty="0" smtClean="0"/>
          </a:p>
          <a:p>
            <a:pPr>
              <a:buNone/>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b="1" dirty="0" smtClean="0"/>
              <a:t>Automated Tuning Tools</a:t>
            </a:r>
            <a:endParaRPr lang="en-US" dirty="0"/>
          </a:p>
        </p:txBody>
      </p:sp>
      <p:sp>
        <p:nvSpPr>
          <p:cNvPr id="3" name="Content Placeholder 2"/>
          <p:cNvSpPr>
            <a:spLocks noGrp="1"/>
          </p:cNvSpPr>
          <p:nvPr>
            <p:ph idx="1"/>
          </p:nvPr>
        </p:nvSpPr>
        <p:spPr>
          <a:xfrm>
            <a:off x="251520" y="1052736"/>
            <a:ext cx="8712968" cy="5616624"/>
          </a:xfrm>
        </p:spPr>
        <p:txBody>
          <a:bodyPr>
            <a:normAutofit fontScale="40000" lnSpcReduction="20000"/>
          </a:bodyPr>
          <a:lstStyle/>
          <a:p>
            <a:pPr>
              <a:buNone/>
            </a:pPr>
            <a:r>
              <a:rPr lang="en-US" dirty="0" smtClean="0"/>
              <a:t>from </a:t>
            </a:r>
            <a:r>
              <a:rPr lang="en-US" b="1" dirty="0" err="1" smtClean="0">
                <a:solidFill>
                  <a:srgbClr val="0000FF"/>
                </a:solidFill>
              </a:rPr>
              <a:t>keras_tuner</a:t>
            </a:r>
            <a:r>
              <a:rPr lang="en-US" b="1" dirty="0" smtClean="0">
                <a:solidFill>
                  <a:srgbClr val="0000FF"/>
                </a:solidFill>
              </a:rPr>
              <a:t> import </a:t>
            </a:r>
            <a:r>
              <a:rPr lang="en-US" b="1" dirty="0" err="1" smtClean="0">
                <a:solidFill>
                  <a:srgbClr val="0000FF"/>
                </a:solidFill>
              </a:rPr>
              <a:t>RandomSearch</a:t>
            </a:r>
            <a:endParaRPr lang="en-US" b="1" dirty="0" smtClean="0">
              <a:solidFill>
                <a:srgbClr val="0000FF"/>
              </a:solidFill>
            </a:endParaRPr>
          </a:p>
          <a:p>
            <a:pPr>
              <a:buNone/>
            </a:pPr>
            <a:endParaRPr lang="en-US" dirty="0" smtClean="0"/>
          </a:p>
          <a:p>
            <a:pPr>
              <a:buNone/>
            </a:pPr>
            <a:r>
              <a:rPr lang="en-US" dirty="0" smtClean="0"/>
              <a:t>def </a:t>
            </a:r>
            <a:r>
              <a:rPr lang="en-US" dirty="0" err="1" smtClean="0"/>
              <a:t>build_model</a:t>
            </a:r>
            <a:r>
              <a:rPr lang="en-US" dirty="0" smtClean="0"/>
              <a:t>(hp):</a:t>
            </a:r>
          </a:p>
          <a:p>
            <a:pPr>
              <a:buNone/>
            </a:pPr>
            <a:r>
              <a:rPr lang="en-US" dirty="0" smtClean="0"/>
              <a:t>    model = Sequential()</a:t>
            </a:r>
          </a:p>
          <a:p>
            <a:pPr>
              <a:buNone/>
            </a:pPr>
            <a:r>
              <a:rPr lang="en-US" dirty="0" smtClean="0"/>
              <a:t>    </a:t>
            </a:r>
            <a:r>
              <a:rPr lang="en-US" dirty="0" err="1" smtClean="0"/>
              <a:t>model.add</a:t>
            </a:r>
            <a:r>
              <a:rPr lang="en-US" dirty="0" smtClean="0"/>
              <a:t>(Dense(</a:t>
            </a:r>
            <a:r>
              <a:rPr lang="en-US" b="1" dirty="0" smtClean="0">
                <a:solidFill>
                  <a:srgbClr val="0000FF"/>
                </a:solidFill>
              </a:rPr>
              <a:t>units=</a:t>
            </a:r>
            <a:r>
              <a:rPr lang="en-US" b="1" dirty="0" err="1" smtClean="0">
                <a:solidFill>
                  <a:srgbClr val="0000FF"/>
                </a:solidFill>
              </a:rPr>
              <a:t>hp.Int</a:t>
            </a:r>
            <a:r>
              <a:rPr lang="en-US" b="1" dirty="0" smtClean="0">
                <a:solidFill>
                  <a:srgbClr val="0000FF"/>
                </a:solidFill>
              </a:rPr>
              <a:t>('units', 32, 128, step=32), </a:t>
            </a:r>
            <a:r>
              <a:rPr lang="en-US" dirty="0" smtClean="0"/>
              <a:t>activation='</a:t>
            </a:r>
            <a:r>
              <a:rPr lang="en-US" dirty="0" err="1" smtClean="0"/>
              <a:t>relu</a:t>
            </a:r>
            <a:r>
              <a:rPr lang="en-US" dirty="0" smtClean="0"/>
              <a:t>'))</a:t>
            </a:r>
          </a:p>
          <a:p>
            <a:pPr>
              <a:buNone/>
            </a:pPr>
            <a:r>
              <a:rPr lang="en-US" dirty="0" smtClean="0"/>
              <a:t>    </a:t>
            </a:r>
            <a:r>
              <a:rPr lang="en-US" dirty="0" err="1" smtClean="0"/>
              <a:t>model.add</a:t>
            </a:r>
            <a:r>
              <a:rPr lang="en-US" dirty="0" smtClean="0"/>
              <a:t>(Dense(10, activation='</a:t>
            </a:r>
            <a:r>
              <a:rPr lang="en-US" dirty="0" err="1" smtClean="0"/>
              <a:t>softmax</a:t>
            </a:r>
            <a:r>
              <a:rPr lang="en-US" dirty="0" smtClean="0"/>
              <a:t>'))</a:t>
            </a:r>
          </a:p>
          <a:p>
            <a:pPr>
              <a:buNone/>
            </a:pPr>
            <a:r>
              <a:rPr lang="en-US" dirty="0" smtClean="0"/>
              <a:t>    </a:t>
            </a:r>
            <a:r>
              <a:rPr lang="en-US" dirty="0" err="1" smtClean="0"/>
              <a:t>model.compile</a:t>
            </a:r>
            <a:r>
              <a:rPr lang="en-US" dirty="0" smtClean="0"/>
              <a:t>(optimizer='</a:t>
            </a:r>
            <a:r>
              <a:rPr lang="en-US" dirty="0" err="1" smtClean="0"/>
              <a:t>adam</a:t>
            </a:r>
            <a:r>
              <a:rPr lang="en-US" dirty="0" smtClean="0"/>
              <a:t>',</a:t>
            </a:r>
          </a:p>
          <a:p>
            <a:pPr>
              <a:buNone/>
            </a:pPr>
            <a:r>
              <a:rPr lang="en-US" dirty="0" smtClean="0"/>
              <a:t>                  loss='</a:t>
            </a:r>
            <a:r>
              <a:rPr lang="en-US" dirty="0" err="1" smtClean="0"/>
              <a:t>sparse_categorical_crossentropy</a:t>
            </a:r>
            <a:r>
              <a:rPr lang="en-US" dirty="0" smtClean="0"/>
              <a:t>',</a:t>
            </a:r>
          </a:p>
          <a:p>
            <a:pPr>
              <a:buNone/>
            </a:pPr>
            <a:r>
              <a:rPr lang="en-US" dirty="0" smtClean="0"/>
              <a:t>                  metrics=['accuracy'])</a:t>
            </a:r>
          </a:p>
          <a:p>
            <a:pPr>
              <a:buNone/>
            </a:pPr>
            <a:r>
              <a:rPr lang="en-US" dirty="0" smtClean="0"/>
              <a:t>    return model</a:t>
            </a:r>
          </a:p>
          <a:p>
            <a:pPr>
              <a:buNone/>
            </a:pPr>
            <a:endParaRPr lang="en-US" dirty="0" smtClean="0"/>
          </a:p>
          <a:p>
            <a:pPr>
              <a:buNone/>
            </a:pPr>
            <a:r>
              <a:rPr lang="en-US" dirty="0" smtClean="0"/>
              <a:t>tuner = </a:t>
            </a:r>
            <a:r>
              <a:rPr lang="en-US" dirty="0" err="1" smtClean="0"/>
              <a:t>RandomSearch</a:t>
            </a:r>
            <a:r>
              <a:rPr lang="en-US" dirty="0" smtClean="0"/>
              <a:t>(</a:t>
            </a:r>
            <a:r>
              <a:rPr lang="en-US" dirty="0" err="1" smtClean="0"/>
              <a:t>build_model</a:t>
            </a:r>
            <a:r>
              <a:rPr lang="en-US" dirty="0" smtClean="0"/>
              <a:t>,</a:t>
            </a:r>
          </a:p>
          <a:p>
            <a:pPr>
              <a:buNone/>
            </a:pPr>
            <a:r>
              <a:rPr lang="en-US" dirty="0" smtClean="0"/>
              <a:t>                     objective='</a:t>
            </a:r>
            <a:r>
              <a:rPr lang="en-US" dirty="0" err="1" smtClean="0"/>
              <a:t>val_accuracy</a:t>
            </a:r>
            <a:r>
              <a:rPr lang="en-US" dirty="0" smtClean="0"/>
              <a:t>',</a:t>
            </a:r>
          </a:p>
          <a:p>
            <a:pPr>
              <a:buNone/>
            </a:pPr>
            <a:r>
              <a:rPr lang="en-US" dirty="0" smtClean="0"/>
              <a:t>                     </a:t>
            </a:r>
            <a:r>
              <a:rPr lang="en-US" dirty="0" err="1" smtClean="0"/>
              <a:t>max_trials</a:t>
            </a:r>
            <a:r>
              <a:rPr lang="en-US" dirty="0" smtClean="0"/>
              <a:t>=5)</a:t>
            </a:r>
          </a:p>
          <a:p>
            <a:pPr>
              <a:buNone/>
            </a:pPr>
            <a:endParaRPr lang="en-US" dirty="0" smtClean="0"/>
          </a:p>
          <a:p>
            <a:pPr>
              <a:buNone/>
            </a:pPr>
            <a:r>
              <a:rPr lang="en-US" dirty="0" err="1" smtClean="0"/>
              <a:t>tuner.search</a:t>
            </a:r>
            <a:r>
              <a:rPr lang="en-US" dirty="0" smtClean="0"/>
              <a:t>(</a:t>
            </a:r>
            <a:r>
              <a:rPr lang="en-US" dirty="0" err="1" smtClean="0"/>
              <a:t>X_train</a:t>
            </a:r>
            <a:r>
              <a:rPr lang="en-US" dirty="0" smtClean="0"/>
              <a:t>, </a:t>
            </a:r>
            <a:r>
              <a:rPr lang="en-US" dirty="0" err="1" smtClean="0"/>
              <a:t>y_train</a:t>
            </a:r>
            <a:r>
              <a:rPr lang="en-US" dirty="0" smtClean="0"/>
              <a:t>, epochs=10, </a:t>
            </a:r>
            <a:r>
              <a:rPr lang="en-US" dirty="0" err="1" smtClean="0"/>
              <a:t>validation_split</a:t>
            </a:r>
            <a:r>
              <a:rPr lang="en-US" dirty="0" smtClean="0"/>
              <a:t>=0.2)</a:t>
            </a:r>
          </a:p>
          <a:p>
            <a:pPr>
              <a:buNone/>
            </a:pPr>
            <a:endParaRPr lang="en-US" dirty="0" smtClean="0"/>
          </a:p>
          <a:p>
            <a:r>
              <a:rPr lang="en-US" b="1" dirty="0" smtClean="0"/>
              <a:t>Efficient and smarter</a:t>
            </a:r>
            <a:r>
              <a:rPr lang="en-US" dirty="0" smtClean="0"/>
              <a:t> than Grid/Random, Finds good solutions with </a:t>
            </a:r>
            <a:r>
              <a:rPr lang="en-US" b="1" dirty="0" smtClean="0"/>
              <a:t>fewer trials  But </a:t>
            </a:r>
            <a:r>
              <a:rPr lang="en-US" dirty="0" smtClean="0"/>
              <a:t>More </a:t>
            </a:r>
            <a:r>
              <a:rPr lang="en-US" b="1" dirty="0" smtClean="0"/>
              <a:t>complex and </a:t>
            </a:r>
            <a:r>
              <a:rPr lang="en-US" dirty="0" smtClean="0"/>
              <a:t>May need more setup and packages</a:t>
            </a:r>
          </a:p>
          <a:p>
            <a:r>
              <a:rPr lang="en-US" dirty="0" smtClean="0"/>
              <a:t>Here, </a:t>
            </a:r>
            <a:r>
              <a:rPr lang="en-US" dirty="0" err="1" smtClean="0"/>
              <a:t>hp.Int</a:t>
            </a:r>
            <a:r>
              <a:rPr lang="en-US" dirty="0" smtClean="0"/>
              <a:t>('units', 32, 128, step=32) → tuner will try units = </a:t>
            </a:r>
            <a:r>
              <a:rPr lang="en-US" b="1" dirty="0" smtClean="0"/>
              <a:t>32, 64, 96, 128</a:t>
            </a:r>
            <a:r>
              <a:rPr lang="en-US" dirty="0" smtClean="0"/>
              <a:t>.</a:t>
            </a:r>
          </a:p>
          <a:p>
            <a:pPr>
              <a:buNone/>
            </a:pPr>
            <a:endParaRPr lang="en-US" dirty="0" smtClean="0"/>
          </a:p>
          <a:p>
            <a:pPr>
              <a:buNone/>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hyperparameter</a:t>
            </a:r>
            <a:endParaRPr lang="en-US" dirty="0"/>
          </a:p>
        </p:txBody>
      </p:sp>
      <p:sp>
        <p:nvSpPr>
          <p:cNvPr id="3" name="Content Placeholder 2"/>
          <p:cNvSpPr>
            <a:spLocks noGrp="1"/>
          </p:cNvSpPr>
          <p:nvPr>
            <p:ph idx="1"/>
          </p:nvPr>
        </p:nvSpPr>
        <p:spPr/>
        <p:txBody>
          <a:bodyPr>
            <a:normAutofit fontScale="47500" lnSpcReduction="20000"/>
          </a:bodyPr>
          <a:lstStyle/>
          <a:p>
            <a:pPr>
              <a:buNone/>
            </a:pPr>
            <a:r>
              <a:rPr lang="en-US" b="1" dirty="0" smtClean="0"/>
              <a:t>Question:</a:t>
            </a:r>
            <a:r>
              <a:rPr lang="en-US" dirty="0" smtClean="0"/>
              <a:t/>
            </a:r>
            <a:br>
              <a:rPr lang="en-US" dirty="0" smtClean="0"/>
            </a:br>
            <a:r>
              <a:rPr lang="en-US" dirty="0" smtClean="0"/>
              <a:t>A student trains two neural network models on the same dataset.</a:t>
            </a:r>
          </a:p>
          <a:p>
            <a:pPr>
              <a:buNone/>
            </a:pPr>
            <a:r>
              <a:rPr lang="en-US" dirty="0" smtClean="0"/>
              <a:t>Model A uses a learning rate of </a:t>
            </a:r>
            <a:r>
              <a:rPr lang="en-US" b="1" dirty="0" smtClean="0"/>
              <a:t>0.01</a:t>
            </a:r>
            <a:r>
              <a:rPr lang="en-US" dirty="0" smtClean="0"/>
              <a:t> and trains for </a:t>
            </a:r>
            <a:r>
              <a:rPr lang="en-US" b="1" dirty="0" smtClean="0"/>
              <a:t>10 epochs</a:t>
            </a:r>
            <a:r>
              <a:rPr lang="en-US" dirty="0" smtClean="0"/>
              <a:t>.</a:t>
            </a:r>
          </a:p>
          <a:p>
            <a:pPr>
              <a:buNone/>
            </a:pPr>
            <a:r>
              <a:rPr lang="en-US" dirty="0" smtClean="0"/>
              <a:t>Model B uses a learning rate of </a:t>
            </a:r>
            <a:r>
              <a:rPr lang="en-US" b="1" dirty="0" smtClean="0"/>
              <a:t>0.5</a:t>
            </a:r>
            <a:r>
              <a:rPr lang="en-US" dirty="0" smtClean="0"/>
              <a:t> and trains for </a:t>
            </a:r>
            <a:r>
              <a:rPr lang="en-US" b="1" dirty="0" smtClean="0"/>
              <a:t>100 epochs</a:t>
            </a:r>
            <a:r>
              <a:rPr lang="en-US" dirty="0" smtClean="0"/>
              <a:t>.</a:t>
            </a:r>
            <a:br>
              <a:rPr lang="en-US" dirty="0" smtClean="0"/>
            </a:br>
            <a:r>
              <a:rPr lang="en-US" dirty="0" smtClean="0"/>
              <a:t>Model B gives poor accuracy and unstable results, while </a:t>
            </a:r>
            <a:r>
              <a:rPr lang="en-US" b="1" dirty="0" smtClean="0">
                <a:solidFill>
                  <a:srgbClr val="0000FF"/>
                </a:solidFill>
              </a:rPr>
              <a:t>Model A performs better and converges smoothly.</a:t>
            </a:r>
          </a:p>
          <a:p>
            <a:pPr>
              <a:buNone/>
            </a:pPr>
            <a:r>
              <a:rPr lang="en-US" b="1" dirty="0" smtClean="0"/>
              <a:t>Q: Based on the above situation, what might be the reason for Model B’s poor performance? Briefly explain.</a:t>
            </a:r>
            <a:endParaRPr lang="en-US" dirty="0" smtClean="0"/>
          </a:p>
          <a:p>
            <a:pPr>
              <a:buNone/>
            </a:pPr>
            <a:r>
              <a:rPr lang="en-US" b="1" dirty="0" smtClean="0"/>
              <a:t> </a:t>
            </a:r>
          </a:p>
          <a:p>
            <a:pPr>
              <a:buNone/>
            </a:pPr>
            <a:r>
              <a:rPr lang="en-US" dirty="0" smtClean="0"/>
              <a:t>Model B likely has </a:t>
            </a:r>
            <a:r>
              <a:rPr lang="en-US" dirty="0" smtClean="0">
                <a:solidFill>
                  <a:srgbClr val="C00000"/>
                </a:solidFill>
              </a:rPr>
              <a:t>a </a:t>
            </a:r>
            <a:r>
              <a:rPr lang="en-US" b="1" dirty="0" smtClean="0">
                <a:solidFill>
                  <a:srgbClr val="C00000"/>
                </a:solidFill>
              </a:rPr>
              <a:t>poor choice of </a:t>
            </a:r>
            <a:r>
              <a:rPr lang="en-US" b="1" dirty="0" err="1" smtClean="0">
                <a:solidFill>
                  <a:srgbClr val="C00000"/>
                </a:solidFill>
              </a:rPr>
              <a:t>hyperparameters</a:t>
            </a:r>
            <a:r>
              <a:rPr lang="en-US" dirty="0" smtClean="0"/>
              <a:t>. A high learning rate (0.5) may cause the model to </a:t>
            </a:r>
            <a:r>
              <a:rPr lang="en-US" b="1" dirty="0" smtClean="0">
                <a:solidFill>
                  <a:srgbClr val="0000FF"/>
                </a:solidFill>
              </a:rPr>
              <a:t>overshoot optimal weights</a:t>
            </a:r>
            <a:r>
              <a:rPr lang="en-US" dirty="0" smtClean="0"/>
              <a:t>, and </a:t>
            </a:r>
            <a:r>
              <a:rPr lang="en-US" b="1" dirty="0" smtClean="0">
                <a:solidFill>
                  <a:srgbClr val="0000FF"/>
                </a:solidFill>
              </a:rPr>
              <a:t>too many epochs can lead to </a:t>
            </a:r>
            <a:r>
              <a:rPr lang="en-US" b="1" dirty="0" err="1" smtClean="0">
                <a:solidFill>
                  <a:srgbClr val="0000FF"/>
                </a:solidFill>
              </a:rPr>
              <a:t>overfitting</a:t>
            </a:r>
            <a:r>
              <a:rPr lang="en-US" dirty="0" smtClean="0"/>
              <a:t>.</a:t>
            </a:r>
            <a:br>
              <a:rPr lang="en-US" dirty="0" smtClean="0"/>
            </a:br>
            <a:r>
              <a:rPr lang="en-US" dirty="0" smtClean="0"/>
              <a:t>Proper </a:t>
            </a:r>
            <a:r>
              <a:rPr lang="en-US" b="1" dirty="0" smtClean="0"/>
              <a:t>tuning of </a:t>
            </a:r>
            <a:r>
              <a:rPr lang="en-US" b="1" dirty="0" err="1" smtClean="0"/>
              <a:t>hyperparameters</a:t>
            </a:r>
            <a:r>
              <a:rPr lang="en-US" dirty="0" smtClean="0"/>
              <a:t> like learning rate and epochs is important for stable and accurate learning.</a:t>
            </a:r>
          </a:p>
          <a:p>
            <a:pPr>
              <a:buNone/>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712968" cy="6480720"/>
          </a:xfrm>
        </p:spPr>
        <p:txBody>
          <a:bodyPr>
            <a:normAutofit fontScale="40000" lnSpcReduction="20000"/>
          </a:bodyPr>
          <a:lstStyle/>
          <a:p>
            <a:pPr>
              <a:buNone/>
            </a:pPr>
            <a:r>
              <a:rPr lang="en-US" b="1" dirty="0" smtClean="0"/>
              <a:t>Scenario-Based</a:t>
            </a:r>
          </a:p>
          <a:p>
            <a:pPr>
              <a:buNone/>
            </a:pPr>
            <a:r>
              <a:rPr lang="en-US" dirty="0" smtClean="0"/>
              <a:t>Two students are building neural networks for the same task.</a:t>
            </a:r>
          </a:p>
          <a:p>
            <a:pPr>
              <a:buNone/>
            </a:pPr>
            <a:r>
              <a:rPr lang="en-US" dirty="0" smtClean="0"/>
              <a:t>One student chooses </a:t>
            </a:r>
            <a:r>
              <a:rPr lang="en-US" b="1" dirty="0" smtClean="0"/>
              <a:t>3 hidden layers with </a:t>
            </a:r>
            <a:r>
              <a:rPr lang="en-US" b="1" dirty="0" err="1" smtClean="0"/>
              <a:t>ReLU</a:t>
            </a:r>
            <a:r>
              <a:rPr lang="en-US" dirty="0" smtClean="0"/>
              <a:t>.</a:t>
            </a:r>
          </a:p>
          <a:p>
            <a:pPr>
              <a:buNone/>
            </a:pPr>
            <a:r>
              <a:rPr lang="en-US" dirty="0" smtClean="0"/>
              <a:t>The other chooses </a:t>
            </a:r>
            <a:r>
              <a:rPr lang="en-US" b="1" dirty="0" smtClean="0"/>
              <a:t>2 hidden layers with sigmoid activation</a:t>
            </a:r>
            <a:r>
              <a:rPr lang="en-US" dirty="0" smtClean="0"/>
              <a:t>.</a:t>
            </a:r>
          </a:p>
          <a:p>
            <a:pPr>
              <a:buNone/>
            </a:pPr>
            <a:r>
              <a:rPr lang="en-US" dirty="0" smtClean="0"/>
              <a:t>They wonder why their models behave differently even though the dataset is the same.</a:t>
            </a:r>
          </a:p>
          <a:p>
            <a:pPr>
              <a:buNone/>
            </a:pPr>
            <a:r>
              <a:rPr lang="en-US" b="1" dirty="0" smtClean="0"/>
              <a:t>Q: What kind of settings have they changed — and what are such settings called in machine learning?</a:t>
            </a:r>
            <a:endParaRPr lang="en-US" dirty="0" smtClean="0"/>
          </a:p>
          <a:p>
            <a:pPr>
              <a:buNone/>
            </a:pPr>
            <a:r>
              <a:rPr lang="en-US" dirty="0" smtClean="0"/>
              <a:t/>
            </a:r>
            <a:br>
              <a:rPr lang="en-US" dirty="0" smtClean="0"/>
            </a:br>
            <a:r>
              <a:rPr lang="en-US" dirty="0" smtClean="0"/>
              <a:t>They changed the </a:t>
            </a:r>
            <a:r>
              <a:rPr lang="en-US" b="1" dirty="0" err="1" smtClean="0"/>
              <a:t>hyperparameters</a:t>
            </a:r>
            <a:r>
              <a:rPr lang="en-US" dirty="0" smtClean="0"/>
              <a:t> (layer count and activation function), which are set before training and define the model's architecture and learning behavior.</a:t>
            </a:r>
          </a:p>
          <a:p>
            <a:pPr>
              <a:buNone/>
            </a:pPr>
            <a:r>
              <a:rPr lang="en-US" b="1" dirty="0" smtClean="0"/>
              <a:t>Multiple Model Designs</a:t>
            </a:r>
          </a:p>
          <a:p>
            <a:pPr>
              <a:buNone/>
            </a:pPr>
            <a:r>
              <a:rPr lang="en-US" dirty="0" smtClean="0"/>
              <a:t>A data scientist designs two deep learning models with the following differences:</a:t>
            </a:r>
          </a:p>
          <a:p>
            <a:pPr>
              <a:buNone/>
            </a:pPr>
            <a:r>
              <a:rPr lang="en-US" dirty="0" smtClean="0"/>
              <a:t>Model X: </a:t>
            </a:r>
            <a:r>
              <a:rPr lang="en-US" dirty="0" err="1" smtClean="0"/>
              <a:t>ReLU</a:t>
            </a:r>
            <a:r>
              <a:rPr lang="en-US" dirty="0" smtClean="0"/>
              <a:t> activation, deeper architecture</a:t>
            </a:r>
          </a:p>
          <a:p>
            <a:pPr>
              <a:buNone/>
            </a:pPr>
            <a:r>
              <a:rPr lang="en-US" dirty="0" smtClean="0"/>
              <a:t>Model Y: Sigmoid activation, fewer layers</a:t>
            </a:r>
          </a:p>
          <a:p>
            <a:pPr>
              <a:buNone/>
            </a:pPr>
            <a:r>
              <a:rPr lang="en-US" b="1" dirty="0" smtClean="0"/>
              <a:t>Q: Are these differences related to </a:t>
            </a:r>
            <a:r>
              <a:rPr lang="en-US" b="1" dirty="0" err="1" smtClean="0"/>
              <a:t>hyperparameters</a:t>
            </a:r>
            <a:r>
              <a:rPr lang="en-US" b="1" dirty="0" smtClean="0"/>
              <a:t> or parameters learned during training? Explain briefly.</a:t>
            </a:r>
            <a:endParaRPr lang="en-US" dirty="0" smtClean="0"/>
          </a:p>
          <a:p>
            <a:pPr>
              <a:buNone/>
            </a:pPr>
            <a:r>
              <a:rPr lang="en-US" dirty="0" smtClean="0"/>
              <a:t/>
            </a:r>
            <a:br>
              <a:rPr lang="en-US" dirty="0" smtClean="0"/>
            </a:br>
            <a:r>
              <a:rPr lang="en-US" dirty="0" smtClean="0"/>
              <a:t>These are </a:t>
            </a:r>
            <a:r>
              <a:rPr lang="en-US" b="1" dirty="0" err="1" smtClean="0"/>
              <a:t>hyperparameter</a:t>
            </a:r>
            <a:r>
              <a:rPr lang="en-US" b="1" dirty="0" smtClean="0"/>
              <a:t> choices</a:t>
            </a:r>
            <a:r>
              <a:rPr lang="en-US" dirty="0" smtClean="0"/>
              <a:t> made before training. They define how the model is built and trained, not values learned from data.</a:t>
            </a:r>
          </a:p>
          <a:p>
            <a:pPr>
              <a:buNone/>
            </a:pPr>
            <a:r>
              <a:rPr lang="en-US" b="1" dirty="0" smtClean="0"/>
              <a:t>Student Conversation</a:t>
            </a:r>
          </a:p>
          <a:p>
            <a:pPr>
              <a:buNone/>
            </a:pPr>
            <a:r>
              <a:rPr lang="en-US" dirty="0" smtClean="0"/>
              <a:t>Student A: “I trained my model with 3 hidden layers using </a:t>
            </a:r>
            <a:r>
              <a:rPr lang="en-US" dirty="0" err="1" smtClean="0"/>
              <a:t>ReLU</a:t>
            </a:r>
            <a:r>
              <a:rPr lang="en-US" dirty="0" smtClean="0"/>
              <a:t>.”</a:t>
            </a:r>
            <a:br>
              <a:rPr lang="en-US" dirty="0" smtClean="0"/>
            </a:br>
            <a:r>
              <a:rPr lang="en-US" dirty="0" smtClean="0"/>
              <a:t>Student B: “I used only 2 layers and sigmoid. Our results are different!”</a:t>
            </a:r>
          </a:p>
          <a:p>
            <a:pPr>
              <a:buNone/>
            </a:pPr>
            <a:r>
              <a:rPr lang="en-US" b="1" dirty="0" smtClean="0"/>
              <a:t>Q: What type of configuration did they change? Are these adjusted during or before training?</a:t>
            </a:r>
            <a:endParaRPr lang="en-US" dirty="0" smtClean="0"/>
          </a:p>
          <a:p>
            <a:pPr>
              <a:buNone/>
            </a:pPr>
            <a:r>
              <a:rPr lang="en-US" dirty="0" smtClean="0"/>
              <a:t/>
            </a:r>
            <a:br>
              <a:rPr lang="en-US" dirty="0" smtClean="0"/>
            </a:br>
            <a:r>
              <a:rPr lang="en-US" dirty="0" smtClean="0"/>
              <a:t>They changed </a:t>
            </a:r>
            <a:r>
              <a:rPr lang="en-US" b="1" dirty="0" err="1" smtClean="0"/>
              <a:t>hyperparameters</a:t>
            </a:r>
            <a:r>
              <a:rPr lang="en-US" dirty="0" smtClean="0"/>
              <a:t> (layer count and activation function), which are set </a:t>
            </a:r>
            <a:r>
              <a:rPr lang="en-US" b="1" dirty="0" smtClean="0"/>
              <a:t>before</a:t>
            </a:r>
            <a:r>
              <a:rPr lang="en-US" dirty="0" smtClean="0"/>
              <a:t> training.</a:t>
            </a:r>
          </a:p>
          <a:p>
            <a:pPr>
              <a:buNone/>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srcRect t="7780"/>
          <a:stretch>
            <a:fillRect/>
          </a:stretch>
        </p:blipFill>
        <p:spPr bwMode="auto">
          <a:xfrm>
            <a:off x="467544" y="260648"/>
            <a:ext cx="7848872" cy="612068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US" dirty="0" smtClean="0"/>
              <a:t>Activation Function - </a:t>
            </a:r>
            <a:r>
              <a:rPr lang="en-US" dirty="0" err="1" smtClean="0"/>
              <a:t>ReLU</a:t>
            </a:r>
            <a:r>
              <a:rPr lang="en-US" dirty="0" smtClean="0"/>
              <a:t> </a:t>
            </a:r>
            <a:endParaRPr lang="en-US" dirty="0"/>
          </a:p>
        </p:txBody>
      </p:sp>
      <p:sp>
        <p:nvSpPr>
          <p:cNvPr id="3" name="Content Placeholder 2"/>
          <p:cNvSpPr>
            <a:spLocks noGrp="1"/>
          </p:cNvSpPr>
          <p:nvPr>
            <p:ph idx="1"/>
          </p:nvPr>
        </p:nvSpPr>
        <p:spPr>
          <a:xfrm>
            <a:off x="395536" y="1052736"/>
            <a:ext cx="8568952" cy="5616624"/>
          </a:xfrm>
        </p:spPr>
        <p:txBody>
          <a:bodyPr>
            <a:noAutofit/>
          </a:bodyPr>
          <a:lstStyle/>
          <a:p>
            <a:pPr>
              <a:buNone/>
            </a:pPr>
            <a:r>
              <a:rPr lang="en-US" sz="1250" dirty="0" smtClean="0"/>
              <a:t>A neural network layer uses the activation function A(x)=max(0,x)</a:t>
            </a:r>
            <a:br>
              <a:rPr lang="en-US" sz="1250" dirty="0" smtClean="0"/>
            </a:br>
            <a:r>
              <a:rPr lang="en-US" sz="1250" dirty="0" smtClean="0"/>
              <a:t>When the input values are:</a:t>
            </a:r>
          </a:p>
          <a:p>
            <a:pPr>
              <a:buNone/>
            </a:pPr>
            <a:r>
              <a:rPr lang="en-US" sz="1250" dirty="0" smtClean="0"/>
              <a:t>x1=−3→ Output: 0</a:t>
            </a:r>
          </a:p>
          <a:p>
            <a:pPr>
              <a:buNone/>
            </a:pPr>
            <a:r>
              <a:rPr lang="en-US" sz="1250" dirty="0" smtClean="0"/>
              <a:t>x2=2.5→ Output: 2.5</a:t>
            </a:r>
          </a:p>
          <a:p>
            <a:pPr>
              <a:buNone/>
            </a:pPr>
            <a:r>
              <a:rPr lang="en-US" sz="1250" b="1" dirty="0" smtClean="0"/>
              <a:t>Q: Why does the output behave differently for x1​ and x2​?</a:t>
            </a:r>
            <a:r>
              <a:rPr lang="en-US" sz="1250" dirty="0" smtClean="0"/>
              <a:t/>
            </a:r>
            <a:br>
              <a:rPr lang="en-US" sz="1250" dirty="0" smtClean="0"/>
            </a:br>
            <a:r>
              <a:rPr lang="en-US" sz="1250" dirty="0" smtClean="0"/>
              <a:t>Because the activation function is </a:t>
            </a:r>
            <a:r>
              <a:rPr lang="en-US" sz="1250" dirty="0" err="1" smtClean="0"/>
              <a:t>ReLU</a:t>
            </a:r>
            <a:r>
              <a:rPr lang="en-US" sz="1250" dirty="0" smtClean="0"/>
              <a:t>, it outputs </a:t>
            </a:r>
            <a:r>
              <a:rPr lang="en-US" sz="1250" b="1" dirty="0" smtClean="0"/>
              <a:t>0 for any negative input</a:t>
            </a:r>
            <a:r>
              <a:rPr lang="en-US" sz="1250" dirty="0" smtClean="0"/>
              <a:t> and </a:t>
            </a:r>
            <a:r>
              <a:rPr lang="en-US" sz="1250" b="1" dirty="0" smtClean="0"/>
              <a:t>passes positive inputs as-is</a:t>
            </a:r>
            <a:r>
              <a:rPr lang="en-US" sz="1250" dirty="0" smtClean="0"/>
              <a:t>. Hence, x1=−3 gives 0, and x2=2.5  gives 2.5.</a:t>
            </a:r>
          </a:p>
          <a:p>
            <a:pPr>
              <a:buNone/>
            </a:pPr>
            <a:r>
              <a:rPr lang="en-US" sz="1250" b="1" dirty="0" smtClean="0"/>
              <a:t>Question 2:</a:t>
            </a:r>
          </a:p>
          <a:p>
            <a:pPr>
              <a:buNone/>
            </a:pPr>
            <a:r>
              <a:rPr lang="en-US" sz="1250" dirty="0" smtClean="0"/>
              <a:t>For the activation function shown in the diagram, an input of x=−7 gives an output of 0.</a:t>
            </a:r>
            <a:br>
              <a:rPr lang="en-US" sz="1250" dirty="0" smtClean="0"/>
            </a:br>
            <a:r>
              <a:rPr lang="en-US" sz="1250" b="1" dirty="0" smtClean="0"/>
              <a:t>Q: What type of values will always result in 0 output for this function?</a:t>
            </a:r>
            <a:endParaRPr lang="en-US" sz="1250" dirty="0" smtClean="0"/>
          </a:p>
          <a:p>
            <a:pPr>
              <a:buNone/>
            </a:pPr>
            <a:r>
              <a:rPr lang="en-US" sz="1250" dirty="0" smtClean="0"/>
              <a:t>Any input value that is </a:t>
            </a:r>
            <a:r>
              <a:rPr lang="en-US" sz="1250" b="1" dirty="0" smtClean="0"/>
              <a:t>less than or equal to 0</a:t>
            </a:r>
            <a:r>
              <a:rPr lang="en-US" sz="1250" dirty="0" smtClean="0"/>
              <a:t> will result in an output of 0 because the function takes the maximum between 0 and the input.</a:t>
            </a:r>
          </a:p>
          <a:p>
            <a:pPr>
              <a:buNone/>
            </a:pPr>
            <a:r>
              <a:rPr lang="en-US" sz="1250" b="1" dirty="0" smtClean="0"/>
              <a:t> Question 3:</a:t>
            </a:r>
          </a:p>
          <a:p>
            <a:pPr>
              <a:buNone/>
            </a:pPr>
            <a:r>
              <a:rPr lang="en-US" sz="1250" dirty="0" smtClean="0"/>
              <a:t>In a neural network, an activation layer shows these outputs:</a:t>
            </a:r>
          </a:p>
          <a:p>
            <a:pPr>
              <a:buNone/>
            </a:pPr>
            <a:r>
              <a:rPr lang="en-US" sz="1250" dirty="0" smtClean="0"/>
              <a:t>Input: −5, Output: 0</a:t>
            </a:r>
          </a:p>
          <a:p>
            <a:pPr>
              <a:buNone/>
            </a:pPr>
            <a:r>
              <a:rPr lang="en-US" sz="1250" dirty="0" smtClean="0"/>
              <a:t>Input: 0, Output: 0</a:t>
            </a:r>
          </a:p>
          <a:p>
            <a:pPr>
              <a:buNone/>
            </a:pPr>
            <a:r>
              <a:rPr lang="en-US" sz="1250" dirty="0" smtClean="0"/>
              <a:t>Input: 3.1, Output: 3.1</a:t>
            </a:r>
          </a:p>
          <a:p>
            <a:pPr>
              <a:buNone/>
            </a:pPr>
            <a:r>
              <a:rPr lang="en-US" sz="1250" b="1" dirty="0" smtClean="0"/>
              <a:t>Q: What kind of function is likely used here and how does it treat negative values?</a:t>
            </a:r>
            <a:endParaRPr lang="en-US" sz="1250" dirty="0" smtClean="0"/>
          </a:p>
          <a:p>
            <a:pPr>
              <a:buNone/>
            </a:pPr>
            <a:r>
              <a:rPr lang="en-US" sz="1250" dirty="0" smtClean="0"/>
              <a:t>The function is likely </a:t>
            </a:r>
            <a:r>
              <a:rPr lang="en-US" sz="1250" dirty="0" err="1" smtClean="0"/>
              <a:t>ReLU</a:t>
            </a:r>
            <a:r>
              <a:rPr lang="en-US" sz="1250" dirty="0" smtClean="0"/>
              <a:t>, which </a:t>
            </a:r>
            <a:r>
              <a:rPr lang="en-US" sz="1250" b="1" dirty="0" smtClean="0"/>
              <a:t>removes negative values by converting them to 0</a:t>
            </a:r>
            <a:r>
              <a:rPr lang="en-US" sz="1250" dirty="0" smtClean="0"/>
              <a:t> while keeping positive values unchanged.</a:t>
            </a:r>
          </a:p>
          <a:p>
            <a:pPr>
              <a:buNone/>
            </a:pP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US" dirty="0" err="1" smtClean="0"/>
              <a:t>Overfitting</a:t>
            </a:r>
            <a:r>
              <a:rPr lang="en-US" dirty="0" smtClean="0"/>
              <a:t> and </a:t>
            </a:r>
            <a:r>
              <a:rPr lang="en-US" dirty="0" err="1" smtClean="0"/>
              <a:t>underfitting</a:t>
            </a:r>
            <a:endParaRPr lang="en-US" dirty="0"/>
          </a:p>
        </p:txBody>
      </p:sp>
      <p:sp>
        <p:nvSpPr>
          <p:cNvPr id="3" name="Content Placeholder 2"/>
          <p:cNvSpPr>
            <a:spLocks noGrp="1"/>
          </p:cNvSpPr>
          <p:nvPr>
            <p:ph idx="1"/>
          </p:nvPr>
        </p:nvSpPr>
        <p:spPr>
          <a:xfrm>
            <a:off x="251520" y="908720"/>
            <a:ext cx="8640960" cy="5688632"/>
          </a:xfrm>
        </p:spPr>
        <p:txBody>
          <a:bodyPr numCol="2">
            <a:noAutofit/>
          </a:bodyPr>
          <a:lstStyle/>
          <a:p>
            <a:pPr>
              <a:buNone/>
            </a:pPr>
            <a:r>
              <a:rPr lang="en-US" sz="1200" dirty="0" smtClean="0"/>
              <a:t>A student trains two different neural network models to classify handwritten digits:</a:t>
            </a:r>
          </a:p>
          <a:p>
            <a:pPr>
              <a:buNone/>
            </a:pPr>
            <a:r>
              <a:rPr lang="en-US" sz="1200" b="1" dirty="0" smtClean="0"/>
              <a:t>Model A</a:t>
            </a:r>
            <a:r>
              <a:rPr lang="en-US" sz="1200" dirty="0" smtClean="0"/>
              <a:t> performs very well on the training set (98% accuracy) but gives only 60% accuracy on the test set.</a:t>
            </a:r>
          </a:p>
          <a:p>
            <a:pPr>
              <a:buNone/>
            </a:pPr>
            <a:r>
              <a:rPr lang="en-US" sz="1200" b="1" dirty="0" smtClean="0"/>
              <a:t>Model B</a:t>
            </a:r>
            <a:r>
              <a:rPr lang="en-US" sz="1200" dirty="0" smtClean="0"/>
              <a:t> performs poorly on both training (65%) and test sets (63%).</a:t>
            </a:r>
          </a:p>
          <a:p>
            <a:pPr>
              <a:buNone/>
            </a:pPr>
            <a:r>
              <a:rPr lang="en-US" sz="1200" b="1" dirty="0" smtClean="0"/>
              <a:t>Q: Identify which model is </a:t>
            </a:r>
            <a:r>
              <a:rPr lang="en-US" sz="1200" b="1" dirty="0" err="1" smtClean="0"/>
              <a:t>overfitting</a:t>
            </a:r>
            <a:r>
              <a:rPr lang="en-US" sz="1200" b="1" dirty="0" smtClean="0"/>
              <a:t> and which is </a:t>
            </a:r>
            <a:r>
              <a:rPr lang="en-US" sz="1200" b="1" dirty="0" err="1" smtClean="0"/>
              <a:t>underfitting</a:t>
            </a:r>
            <a:r>
              <a:rPr lang="en-US" sz="1200" b="1" dirty="0" smtClean="0"/>
              <a:t>. Justify your answer briefly.</a:t>
            </a:r>
            <a:endParaRPr lang="en-US" sz="1200" dirty="0" smtClean="0"/>
          </a:p>
          <a:p>
            <a:pPr>
              <a:buNone/>
            </a:pPr>
            <a:r>
              <a:rPr lang="en-US" sz="1200" b="1" dirty="0" smtClean="0"/>
              <a:t>	Model A</a:t>
            </a:r>
            <a:r>
              <a:rPr lang="en-US" sz="1200" dirty="0" smtClean="0"/>
              <a:t> is </a:t>
            </a:r>
            <a:r>
              <a:rPr lang="en-US" sz="1200" b="1" dirty="0" err="1" smtClean="0"/>
              <a:t>overfitting</a:t>
            </a:r>
            <a:r>
              <a:rPr lang="en-US" sz="1200" dirty="0" smtClean="0"/>
              <a:t> because it learns the training data very well but </a:t>
            </a:r>
            <a:r>
              <a:rPr lang="en-US" sz="1200" b="1" dirty="0" smtClean="0"/>
              <a:t>fails to generalize</a:t>
            </a:r>
            <a:r>
              <a:rPr lang="en-US" sz="1200" dirty="0" smtClean="0"/>
              <a:t> to unseen data.</a:t>
            </a:r>
          </a:p>
          <a:p>
            <a:pPr>
              <a:buNone/>
            </a:pPr>
            <a:r>
              <a:rPr lang="en-US" sz="1200" b="1" dirty="0" smtClean="0"/>
              <a:t>	Model B</a:t>
            </a:r>
            <a:r>
              <a:rPr lang="en-US" sz="1200" dirty="0" smtClean="0"/>
              <a:t> is </a:t>
            </a:r>
            <a:r>
              <a:rPr lang="en-US" sz="1200" b="1" dirty="0" err="1" smtClean="0"/>
              <a:t>underfitting</a:t>
            </a:r>
            <a:r>
              <a:rPr lang="en-US" sz="1200" dirty="0" smtClean="0"/>
              <a:t> because it performs </a:t>
            </a:r>
            <a:r>
              <a:rPr lang="en-US" sz="1200" b="1" dirty="0" smtClean="0"/>
              <a:t>poorly on both training and test sets</a:t>
            </a:r>
            <a:r>
              <a:rPr lang="en-US" sz="1200" dirty="0" smtClean="0"/>
              <a:t>, indicating it hasn’t learned the data well.</a:t>
            </a:r>
          </a:p>
          <a:p>
            <a:pPr>
              <a:buNone/>
            </a:pPr>
            <a:r>
              <a:rPr lang="en-US" sz="1200" b="1" dirty="0" smtClean="0"/>
              <a:t>Question 3:  </a:t>
            </a:r>
            <a:r>
              <a:rPr lang="en-US" sz="1200" dirty="0" smtClean="0"/>
              <a:t>You trained a shallow neural network on a complex image dataset, and it achieves the result of Training Accuracy: </a:t>
            </a:r>
            <a:r>
              <a:rPr lang="en-US" sz="1200" b="1" dirty="0" smtClean="0"/>
              <a:t>58% and </a:t>
            </a:r>
            <a:r>
              <a:rPr lang="en-US" sz="1200" dirty="0" smtClean="0"/>
              <a:t>Test Accuracy: </a:t>
            </a:r>
            <a:r>
              <a:rPr lang="en-US" sz="1200" b="1" dirty="0" smtClean="0"/>
              <a:t>57%</a:t>
            </a:r>
            <a:endParaRPr lang="en-US" sz="1200" dirty="0" smtClean="0"/>
          </a:p>
          <a:p>
            <a:pPr>
              <a:buNone/>
            </a:pPr>
            <a:r>
              <a:rPr lang="en-US" sz="1200" b="1" dirty="0" smtClean="0"/>
              <a:t>Q: What is the issue here, and how can it be improved?</a:t>
            </a:r>
            <a:r>
              <a:rPr lang="en-US" sz="1200" dirty="0" smtClean="0"/>
              <a:t/>
            </a:r>
            <a:br>
              <a:rPr lang="en-US" sz="1200" dirty="0" smtClean="0"/>
            </a:br>
            <a:r>
              <a:rPr lang="en-US" sz="1200" dirty="0" smtClean="0"/>
              <a:t>This is </a:t>
            </a:r>
            <a:r>
              <a:rPr lang="en-US" sz="1200" b="1" dirty="0" err="1" smtClean="0"/>
              <a:t>underfitting</a:t>
            </a:r>
            <a:r>
              <a:rPr lang="en-US" sz="1200" dirty="0" smtClean="0"/>
              <a:t> — the model is too simple for the data. Use a </a:t>
            </a:r>
            <a:r>
              <a:rPr lang="en-US" sz="1200" b="1" dirty="0" smtClean="0"/>
              <a:t>deeper network</a:t>
            </a:r>
            <a:r>
              <a:rPr lang="en-US" sz="1200" dirty="0" smtClean="0"/>
              <a:t> or </a:t>
            </a:r>
            <a:r>
              <a:rPr lang="en-US" sz="1200" b="1" dirty="0" smtClean="0"/>
              <a:t>train longer</a:t>
            </a:r>
            <a:r>
              <a:rPr lang="en-US" sz="1200" dirty="0" smtClean="0"/>
              <a:t> to improve learning.</a:t>
            </a:r>
          </a:p>
          <a:p>
            <a:pPr>
              <a:buNone/>
            </a:pPr>
            <a:r>
              <a:rPr lang="en-US" sz="1200" b="1" dirty="0" smtClean="0"/>
              <a:t> Question 4: </a:t>
            </a:r>
            <a:r>
              <a:rPr lang="en-US" sz="1200" dirty="0" err="1" smtClean="0"/>
              <a:t>Afer</a:t>
            </a:r>
            <a:r>
              <a:rPr lang="en-US" sz="1200" dirty="0" smtClean="0"/>
              <a:t> adding more layers to your network, you notice the training accuracy increases, but the validation accuracy drops.</a:t>
            </a:r>
          </a:p>
          <a:p>
            <a:pPr>
              <a:buNone/>
            </a:pPr>
            <a:r>
              <a:rPr lang="en-US" sz="1200" b="1" dirty="0" smtClean="0"/>
              <a:t>Q: What is likely happening in the model?</a:t>
            </a:r>
            <a:r>
              <a:rPr lang="en-US" sz="1200" dirty="0" smtClean="0"/>
              <a:t/>
            </a:r>
            <a:br>
              <a:rPr lang="en-US" sz="1200" dirty="0" smtClean="0"/>
            </a:br>
            <a:r>
              <a:rPr lang="en-US" sz="1200" dirty="0" smtClean="0"/>
              <a:t>The model is likely </a:t>
            </a:r>
            <a:r>
              <a:rPr lang="en-US" sz="1200" b="1" dirty="0" err="1" smtClean="0"/>
              <a:t>overfitting</a:t>
            </a:r>
            <a:r>
              <a:rPr lang="en-US" sz="1200" dirty="0" smtClean="0"/>
              <a:t> due to increased complexity, capturing noise from the training data.</a:t>
            </a:r>
          </a:p>
          <a:p>
            <a:pPr>
              <a:buNone/>
            </a:pPr>
            <a:r>
              <a:rPr lang="en-US" sz="1200" b="1" dirty="0" smtClean="0"/>
              <a:t> Question 5:</a:t>
            </a:r>
          </a:p>
          <a:p>
            <a:pPr>
              <a:buNone/>
            </a:pPr>
            <a:r>
              <a:rPr lang="en-US" sz="1200" dirty="0" smtClean="0"/>
              <a:t>A model is trained on a large dataset but shows almost equal and low accuracy on both training and test sets.</a:t>
            </a:r>
          </a:p>
          <a:p>
            <a:pPr>
              <a:buNone/>
            </a:pPr>
            <a:r>
              <a:rPr lang="en-US" sz="1200" b="1" dirty="0" smtClean="0"/>
              <a:t>Q: Is this </a:t>
            </a:r>
            <a:r>
              <a:rPr lang="en-US" sz="1200" b="1" dirty="0" err="1" smtClean="0"/>
              <a:t>overfitting</a:t>
            </a:r>
            <a:r>
              <a:rPr lang="en-US" sz="1200" b="1" dirty="0" smtClean="0"/>
              <a:t> or </a:t>
            </a:r>
            <a:r>
              <a:rPr lang="en-US" sz="1200" b="1" dirty="0" err="1" smtClean="0"/>
              <a:t>underfitting</a:t>
            </a:r>
            <a:r>
              <a:rPr lang="en-US" sz="1200" b="1" dirty="0" smtClean="0"/>
              <a:t>? Suggest a simple solution.</a:t>
            </a:r>
            <a:r>
              <a:rPr lang="en-US" sz="1200" dirty="0" smtClean="0"/>
              <a:t/>
            </a:r>
            <a:br>
              <a:rPr lang="en-US" sz="1200" dirty="0" smtClean="0"/>
            </a:br>
            <a:r>
              <a:rPr lang="en-US" sz="1200" dirty="0" smtClean="0"/>
              <a:t>This is </a:t>
            </a:r>
            <a:r>
              <a:rPr lang="en-US" sz="1200" b="1" dirty="0" err="1" smtClean="0"/>
              <a:t>underfitting</a:t>
            </a:r>
            <a:r>
              <a:rPr lang="en-US" sz="1200" dirty="0" smtClean="0"/>
              <a:t>. The model may need to be </a:t>
            </a:r>
            <a:r>
              <a:rPr lang="en-US" sz="1200" b="1" dirty="0" smtClean="0"/>
              <a:t>more complex</a:t>
            </a:r>
            <a:r>
              <a:rPr lang="en-US" sz="1200" dirty="0" smtClean="0"/>
              <a:t> or trained </a:t>
            </a:r>
            <a:r>
              <a:rPr lang="en-US" sz="1200" b="1" dirty="0" smtClean="0"/>
              <a:t>for more epochs</a:t>
            </a:r>
            <a:r>
              <a:rPr lang="en-US" sz="1200" dirty="0" smtClean="0"/>
              <a:t> to capture patterns.</a:t>
            </a:r>
          </a:p>
          <a:p>
            <a:pPr>
              <a:buNone/>
            </a:pPr>
            <a:r>
              <a:rPr lang="en-US" sz="1200" b="1" dirty="0" smtClean="0"/>
              <a:t> Question 6:</a:t>
            </a:r>
          </a:p>
          <a:p>
            <a:pPr>
              <a:buNone/>
            </a:pPr>
            <a:r>
              <a:rPr lang="en-US" sz="1200" dirty="0" smtClean="0"/>
              <a:t>A student says, “I want my model to perform well only on training data.” What potential issue might arise from this approach?</a:t>
            </a:r>
            <a:br>
              <a:rPr lang="en-US" sz="1200" dirty="0" smtClean="0"/>
            </a:br>
            <a:endParaRPr lang="en-US" sz="1200" dirty="0" smtClean="0"/>
          </a:p>
          <a:p>
            <a:pPr>
              <a:buNone/>
            </a:pPr>
            <a:r>
              <a:rPr lang="en-US" sz="1200" dirty="0" smtClean="0"/>
              <a:t>	The model may </a:t>
            </a:r>
            <a:r>
              <a:rPr lang="en-US" sz="1200" b="1" dirty="0" err="1" smtClean="0"/>
              <a:t>overfit</a:t>
            </a:r>
            <a:r>
              <a:rPr lang="en-US" sz="1200" dirty="0" smtClean="0"/>
              <a:t>, meaning it will fail to </a:t>
            </a:r>
            <a:r>
              <a:rPr lang="en-US" sz="1200" b="1" dirty="0" smtClean="0"/>
              <a:t>generalize</a:t>
            </a:r>
            <a:r>
              <a:rPr lang="en-US" sz="1200" dirty="0" smtClean="0"/>
              <a:t> and perform poorly on new or unseen data.</a:t>
            </a:r>
          </a:p>
          <a:p>
            <a:pPr>
              <a:buNone/>
            </a:pP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r>
              <a:rPr lang="en-US" dirty="0" smtClean="0"/>
              <a:t>Loss function </a:t>
            </a:r>
            <a:endParaRPr lang="en-US" dirty="0"/>
          </a:p>
        </p:txBody>
      </p:sp>
      <p:sp>
        <p:nvSpPr>
          <p:cNvPr id="3" name="Content Placeholder 2"/>
          <p:cNvSpPr>
            <a:spLocks noGrp="1"/>
          </p:cNvSpPr>
          <p:nvPr>
            <p:ph idx="1"/>
          </p:nvPr>
        </p:nvSpPr>
        <p:spPr>
          <a:xfrm>
            <a:off x="359024" y="620688"/>
            <a:ext cx="8784976" cy="5832648"/>
          </a:xfrm>
        </p:spPr>
        <p:txBody>
          <a:bodyPr numCol="1">
            <a:noAutofit/>
          </a:bodyPr>
          <a:lstStyle/>
          <a:p>
            <a:pPr>
              <a:buNone/>
            </a:pPr>
            <a:r>
              <a:rPr lang="en-US" sz="1400" dirty="0" smtClean="0"/>
              <a:t>A student trains a neural network for binary classification. After each epoch, the student observes that the predicted outputs are very close to the true labels, and the value of the loss keeps decreasing slowly. Another student asks, </a:t>
            </a:r>
            <a:r>
              <a:rPr lang="en-US" sz="1400" b="1" i="1" dirty="0" smtClean="0">
                <a:solidFill>
                  <a:srgbClr val="0000FF"/>
                </a:solidFill>
              </a:rPr>
              <a:t>“Why do we calculate the loss if the accuracy is already high?”</a:t>
            </a:r>
            <a:endParaRPr lang="en-US" sz="1400" b="1" dirty="0" smtClean="0">
              <a:solidFill>
                <a:srgbClr val="0000FF"/>
              </a:solidFill>
            </a:endParaRPr>
          </a:p>
          <a:p>
            <a:pPr>
              <a:buNone/>
            </a:pPr>
            <a:r>
              <a:rPr lang="en-US" sz="1400" dirty="0" smtClean="0"/>
              <a:t>As the student, explain </a:t>
            </a:r>
            <a:r>
              <a:rPr lang="en-US" sz="1400" b="1" dirty="0" smtClean="0"/>
              <a:t>what the loss function represents</a:t>
            </a:r>
            <a:r>
              <a:rPr lang="en-US" sz="1400" dirty="0" smtClean="0"/>
              <a:t> and </a:t>
            </a:r>
            <a:r>
              <a:rPr lang="en-US" sz="1400" b="1" dirty="0" smtClean="0"/>
              <a:t>why it is still important during training</a:t>
            </a:r>
            <a:r>
              <a:rPr lang="en-US" sz="1400" dirty="0" smtClean="0"/>
              <a:t>, even when accuracy seems good.</a:t>
            </a:r>
          </a:p>
          <a:p>
            <a:pPr>
              <a:buNone/>
            </a:pPr>
            <a:r>
              <a:rPr lang="en-US" sz="1400" b="1" dirty="0" smtClean="0"/>
              <a:t> </a:t>
            </a:r>
            <a:r>
              <a:rPr lang="en-US" sz="1400" dirty="0" smtClean="0"/>
              <a:t>The </a:t>
            </a:r>
            <a:r>
              <a:rPr lang="en-US" sz="1400" b="1" dirty="0" smtClean="0"/>
              <a:t>loss function measures how far the model’s predictions are from the actual values</a:t>
            </a:r>
            <a:r>
              <a:rPr lang="en-US" sz="1400" dirty="0" smtClean="0"/>
              <a:t> in numerical terms. Even if accuracy is high, a </a:t>
            </a:r>
            <a:r>
              <a:rPr lang="en-US" sz="1400" b="1" dirty="0" smtClean="0"/>
              <a:t>lower loss means the predictions are more confident and precise</a:t>
            </a:r>
            <a:r>
              <a:rPr lang="en-US" sz="1400" dirty="0" smtClean="0"/>
              <a:t>, helping the model learn better during training.</a:t>
            </a:r>
          </a:p>
          <a:p>
            <a:pPr>
              <a:buNone/>
            </a:pPr>
            <a:r>
              <a:rPr lang="en-US" sz="1400" b="1" dirty="0" smtClean="0"/>
              <a:t>Question:</a:t>
            </a:r>
            <a:r>
              <a:rPr lang="en-US" sz="1400" dirty="0" smtClean="0"/>
              <a:t/>
            </a:r>
            <a:br>
              <a:rPr lang="en-US" sz="1400" dirty="0" smtClean="0"/>
            </a:br>
            <a:r>
              <a:rPr lang="en-US" sz="1400" dirty="0" smtClean="0"/>
              <a:t>During training, a model's accuracy improves slightly, but the loss value decreases significantly.</a:t>
            </a:r>
            <a:br>
              <a:rPr lang="en-US" sz="1400" dirty="0" smtClean="0"/>
            </a:br>
            <a:r>
              <a:rPr lang="en-US" sz="1400" dirty="0" smtClean="0"/>
              <a:t>Another student asks: "If accuracy is already good, why do we still look at the loss?"</a:t>
            </a:r>
          </a:p>
          <a:p>
            <a:pPr>
              <a:buNone/>
            </a:pPr>
            <a:r>
              <a:rPr lang="en-US" sz="1400" b="1" dirty="0" smtClean="0"/>
              <a:t>Q: Based on this situation, explain why the loss function is important, even when the accuracy is high.</a:t>
            </a:r>
            <a:endParaRPr lang="en-US" sz="1400" dirty="0" smtClean="0"/>
          </a:p>
          <a:p>
            <a:pPr>
              <a:buNone/>
            </a:pPr>
            <a:r>
              <a:rPr lang="en-US" sz="1400" dirty="0" smtClean="0"/>
              <a:t>The </a:t>
            </a:r>
            <a:r>
              <a:rPr lang="en-US" sz="1400" b="1" dirty="0" smtClean="0"/>
              <a:t>loss function gives a detailed view of how confident and close the predictions are to the actual values</a:t>
            </a:r>
            <a:r>
              <a:rPr lang="en-US" sz="1400" dirty="0" smtClean="0"/>
              <a:t>. Even if accuracy is high, a lower loss means the model is making </a:t>
            </a:r>
            <a:r>
              <a:rPr lang="en-US" sz="1400" b="1" dirty="0" smtClean="0"/>
              <a:t>more precise predictions</a:t>
            </a:r>
            <a:r>
              <a:rPr lang="en-US" sz="1400" dirty="0" smtClean="0"/>
              <a:t>, which helps in better training and generalization.</a:t>
            </a:r>
          </a:p>
          <a:p>
            <a:pPr>
              <a:buNone/>
            </a:pPr>
            <a:r>
              <a:rPr lang="en-US" sz="1400" dirty="0" smtClean="0"/>
              <a:t>A student says, "My model correctly predicted 8 out of 10 test samples. So, do I still need to look at the loss?"</a:t>
            </a:r>
          </a:p>
          <a:p>
            <a:pPr>
              <a:buNone/>
            </a:pPr>
            <a:r>
              <a:rPr lang="en-US" sz="1400" b="1" dirty="0" smtClean="0"/>
              <a:t>Q: How would you explain the role of the loss function in this case?</a:t>
            </a:r>
            <a:endParaRPr lang="en-US" sz="1400" dirty="0" smtClean="0"/>
          </a:p>
          <a:p>
            <a:pPr>
              <a:buNone/>
            </a:pPr>
            <a:r>
              <a:rPr lang="en-US" sz="1400" dirty="0" smtClean="0"/>
              <a:t>Yes, because the </a:t>
            </a:r>
            <a:r>
              <a:rPr lang="en-US" sz="1400" b="1" dirty="0" smtClean="0"/>
              <a:t>loss function tells how close or confident the predictions are</a:t>
            </a:r>
            <a:r>
              <a:rPr lang="en-US" sz="1400" dirty="0" smtClean="0"/>
              <a:t>, not just whether they're right or wrong. It helps improve the model's learning even when accuracy seems good.</a:t>
            </a:r>
          </a:p>
          <a:p>
            <a:pPr>
              <a:buNone/>
            </a:pPr>
            <a:r>
              <a:rPr lang="en-US" sz="1400" b="1" dirty="0" smtClean="0"/>
              <a:t> </a:t>
            </a:r>
            <a:endParaRPr lang="en-US" sz="1400" dirty="0" smtClean="0"/>
          </a:p>
          <a:p>
            <a:pPr>
              <a:buNone/>
            </a:pP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88640"/>
            <a:ext cx="8712968" cy="6408712"/>
          </a:xfrm>
        </p:spPr>
        <p:txBody>
          <a:bodyPr>
            <a:noAutofit/>
          </a:bodyPr>
          <a:lstStyle/>
          <a:p>
            <a:pPr>
              <a:buNone/>
            </a:pPr>
            <a:r>
              <a:rPr lang="en-US" sz="1300" b="1" dirty="0" smtClean="0">
                <a:solidFill>
                  <a:srgbClr val="0000FF"/>
                </a:solidFill>
              </a:rPr>
              <a:t>Question 3: Prediction confidence</a:t>
            </a:r>
          </a:p>
          <a:p>
            <a:pPr>
              <a:buNone/>
            </a:pPr>
            <a:r>
              <a:rPr lang="en-US" sz="1300" dirty="0" smtClean="0">
                <a:solidFill>
                  <a:srgbClr val="0000FF"/>
                </a:solidFill>
              </a:rPr>
              <a:t>Two models predict binary labels for the same input:</a:t>
            </a:r>
          </a:p>
          <a:p>
            <a:pPr>
              <a:buNone/>
            </a:pPr>
            <a:r>
              <a:rPr lang="en-US" sz="1300" dirty="0" smtClean="0">
                <a:solidFill>
                  <a:srgbClr val="0000FF"/>
                </a:solidFill>
              </a:rPr>
              <a:t>Model A predicts: [0.9, 0.8, 0.1, 0.05]</a:t>
            </a:r>
          </a:p>
          <a:p>
            <a:pPr>
              <a:buNone/>
            </a:pPr>
            <a:r>
              <a:rPr lang="en-US" sz="1300" dirty="0" smtClean="0">
                <a:solidFill>
                  <a:srgbClr val="0000FF"/>
                </a:solidFill>
              </a:rPr>
              <a:t>Model B predicts: [0.6, 0.6, 0.4, 0.3]</a:t>
            </a:r>
            <a:br>
              <a:rPr lang="en-US" sz="1300" dirty="0" smtClean="0">
                <a:solidFill>
                  <a:srgbClr val="0000FF"/>
                </a:solidFill>
              </a:rPr>
            </a:br>
            <a:r>
              <a:rPr lang="en-US" sz="1300" dirty="0" smtClean="0">
                <a:solidFill>
                  <a:srgbClr val="0000FF"/>
                </a:solidFill>
              </a:rPr>
              <a:t>Both give the </a:t>
            </a:r>
            <a:r>
              <a:rPr lang="en-US" sz="1300" b="1" dirty="0" smtClean="0">
                <a:solidFill>
                  <a:srgbClr val="0000FF"/>
                </a:solidFill>
              </a:rPr>
              <a:t>same accuracy</a:t>
            </a:r>
            <a:r>
              <a:rPr lang="en-US" sz="1300" dirty="0" smtClean="0">
                <a:solidFill>
                  <a:srgbClr val="0000FF"/>
                </a:solidFill>
              </a:rPr>
              <a:t> when </a:t>
            </a:r>
            <a:r>
              <a:rPr lang="en-US" sz="1300" dirty="0" err="1" smtClean="0">
                <a:solidFill>
                  <a:srgbClr val="0000FF"/>
                </a:solidFill>
              </a:rPr>
              <a:t>thresholded</a:t>
            </a:r>
            <a:r>
              <a:rPr lang="en-US" sz="1300" dirty="0" smtClean="0">
                <a:solidFill>
                  <a:srgbClr val="0000FF"/>
                </a:solidFill>
              </a:rPr>
              <a:t> at 0.5</a:t>
            </a:r>
            <a:r>
              <a:rPr lang="en-US" sz="1300" dirty="0" smtClean="0">
                <a:solidFill>
                  <a:srgbClr val="C00000"/>
                </a:solidFill>
              </a:rPr>
              <a:t>.  </a:t>
            </a:r>
            <a:r>
              <a:rPr lang="en-US" sz="1300" b="1" dirty="0" smtClean="0">
                <a:solidFill>
                  <a:srgbClr val="C00000"/>
                </a:solidFill>
              </a:rPr>
              <a:t>Q: Which model has a better loss, and why?</a:t>
            </a:r>
            <a:endParaRPr lang="en-US" sz="1300" dirty="0" smtClean="0">
              <a:solidFill>
                <a:srgbClr val="C00000"/>
              </a:solidFill>
            </a:endParaRPr>
          </a:p>
          <a:p>
            <a:pPr>
              <a:buNone/>
            </a:pPr>
            <a:r>
              <a:rPr lang="en-US" sz="1300" dirty="0" smtClean="0">
                <a:solidFill>
                  <a:srgbClr val="C00000"/>
                </a:solidFill>
              </a:rPr>
              <a:t>Model A has a </a:t>
            </a:r>
            <a:r>
              <a:rPr lang="en-US" sz="1300" b="1" dirty="0" smtClean="0">
                <a:solidFill>
                  <a:srgbClr val="C00000"/>
                </a:solidFill>
              </a:rPr>
              <a:t>better (lower) loss</a:t>
            </a:r>
            <a:r>
              <a:rPr lang="en-US" sz="1300" dirty="0" smtClean="0">
                <a:solidFill>
                  <a:srgbClr val="C00000"/>
                </a:solidFill>
              </a:rPr>
              <a:t> because it is </a:t>
            </a:r>
            <a:r>
              <a:rPr lang="en-US" sz="1300" b="1" dirty="0" smtClean="0">
                <a:solidFill>
                  <a:srgbClr val="C00000"/>
                </a:solidFill>
              </a:rPr>
              <a:t>more confident</a:t>
            </a:r>
            <a:r>
              <a:rPr lang="en-US" sz="1300" dirty="0" smtClean="0">
                <a:solidFill>
                  <a:srgbClr val="C00000"/>
                </a:solidFill>
              </a:rPr>
              <a:t> and closer to the true labels. Loss measures how sure the predictions are, not just correct labels.</a:t>
            </a:r>
          </a:p>
          <a:p>
            <a:pPr>
              <a:buNone/>
            </a:pPr>
            <a:r>
              <a:rPr lang="en-US" sz="1300" b="1" dirty="0" smtClean="0"/>
              <a:t> Question 4: Role of loss during training</a:t>
            </a:r>
          </a:p>
          <a:p>
            <a:pPr>
              <a:buNone/>
            </a:pPr>
            <a:r>
              <a:rPr lang="en-US" sz="1300" dirty="0" smtClean="0"/>
              <a:t>After 50 epochs, the training accuracy plateaus but the loss still decreases. </a:t>
            </a:r>
            <a:r>
              <a:rPr lang="en-US" sz="1300" b="1" dirty="0" smtClean="0"/>
              <a:t>Q: What does this indicate about the model's learning?</a:t>
            </a:r>
            <a:endParaRPr lang="en-US" sz="1300" dirty="0" smtClean="0"/>
          </a:p>
          <a:p>
            <a:pPr>
              <a:buNone/>
            </a:pPr>
            <a:r>
              <a:rPr lang="en-US" sz="1300" dirty="0" smtClean="0"/>
              <a:t>It means the model is </a:t>
            </a:r>
            <a:r>
              <a:rPr lang="en-US" sz="1300" b="1" dirty="0" smtClean="0"/>
              <a:t>still improving in prediction precision</a:t>
            </a:r>
            <a:r>
              <a:rPr lang="en-US" sz="1300" dirty="0" smtClean="0"/>
              <a:t>, even if accuracy is unchanged. Loss is sensitive to small prediction errors, so it reflects </a:t>
            </a:r>
            <a:r>
              <a:rPr lang="en-US" sz="1300" b="1" dirty="0" smtClean="0"/>
              <a:t>fine-tuning</a:t>
            </a:r>
            <a:r>
              <a:rPr lang="en-US" sz="1300" dirty="0" smtClean="0"/>
              <a:t> of the model.</a:t>
            </a:r>
          </a:p>
          <a:p>
            <a:pPr>
              <a:buNone/>
            </a:pPr>
            <a:r>
              <a:rPr lang="en-US" sz="1300" b="1" dirty="0" smtClean="0"/>
              <a:t> Question 5: Regression context</a:t>
            </a:r>
          </a:p>
          <a:p>
            <a:pPr>
              <a:buNone/>
            </a:pPr>
            <a:r>
              <a:rPr lang="en-US" sz="1300" dirty="0" smtClean="0"/>
              <a:t>In a regression model, the predicted values are close to the target but not exact. </a:t>
            </a:r>
            <a:r>
              <a:rPr lang="en-US" sz="1300" b="1" dirty="0" smtClean="0"/>
              <a:t>Q:Why is loss function (like MSE) important in regression problems?</a:t>
            </a:r>
            <a:endParaRPr lang="en-US" sz="1300" dirty="0" smtClean="0"/>
          </a:p>
          <a:p>
            <a:pPr>
              <a:buNone/>
            </a:pPr>
            <a:r>
              <a:rPr lang="en-US" sz="1300" dirty="0" smtClean="0"/>
              <a:t>Loss functions like </a:t>
            </a:r>
            <a:r>
              <a:rPr lang="en-US" sz="1300" b="1" dirty="0" smtClean="0"/>
              <a:t>MSE measure how far predicted values are from actual targets</a:t>
            </a:r>
            <a:r>
              <a:rPr lang="en-US" sz="1300" dirty="0" smtClean="0"/>
              <a:t>, helping the model learn to minimize those differences. Accuracy alone doesn’t apply to regression.</a:t>
            </a:r>
          </a:p>
          <a:p>
            <a:pPr>
              <a:buNone/>
            </a:pPr>
            <a:r>
              <a:rPr lang="en-US" sz="1300" b="1" dirty="0" smtClean="0"/>
              <a:t> Question 6: Comparing models</a:t>
            </a:r>
          </a:p>
          <a:p>
            <a:pPr>
              <a:buNone/>
            </a:pPr>
            <a:r>
              <a:rPr lang="en-US" sz="1300" dirty="0" smtClean="0"/>
              <a:t>Two students use different loss functions for the same classification task: one uses </a:t>
            </a:r>
            <a:r>
              <a:rPr lang="en-US" sz="1300" b="1" dirty="0" smtClean="0"/>
              <a:t>cross-entropy</a:t>
            </a:r>
            <a:r>
              <a:rPr lang="en-US" sz="1300" dirty="0" smtClean="0"/>
              <a:t>, the other uses </a:t>
            </a:r>
            <a:r>
              <a:rPr lang="en-US" sz="1300" b="1" dirty="0" smtClean="0"/>
              <a:t>mean squared error (MSE)</a:t>
            </a:r>
            <a:r>
              <a:rPr lang="en-US" sz="1300" dirty="0" smtClean="0"/>
              <a:t>. </a:t>
            </a:r>
            <a:r>
              <a:rPr lang="en-US" sz="1300" b="1" dirty="0" smtClean="0"/>
              <a:t>Q: Why might their models learn differently even with the same dataset?</a:t>
            </a:r>
            <a:endParaRPr lang="en-US" sz="1300" dirty="0" smtClean="0"/>
          </a:p>
          <a:p>
            <a:pPr>
              <a:buNone/>
            </a:pPr>
            <a:r>
              <a:rPr lang="en-US" sz="1300" dirty="0" smtClean="0"/>
              <a:t>Different loss functions guide the model in </a:t>
            </a:r>
            <a:r>
              <a:rPr lang="en-US" sz="1300" b="1" dirty="0" smtClean="0"/>
              <a:t>different ways</a:t>
            </a:r>
            <a:r>
              <a:rPr lang="en-US" sz="1300" dirty="0" smtClean="0"/>
              <a:t>. Cross-entropy is better for classification as it handles probabilities, while MSE is suited for regression. The choice affects learning behavior.</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t>Question 3: with a simple loss function — the Mean Squared Error (MSE) — to compare Model A and Model B step-by-step.</a:t>
            </a:r>
            <a:endParaRPr lang="en-US" sz="2800" b="1" dirty="0"/>
          </a:p>
        </p:txBody>
      </p:sp>
      <p:sp>
        <p:nvSpPr>
          <p:cNvPr id="3" name="Content Placeholder 2"/>
          <p:cNvSpPr>
            <a:spLocks noGrp="1"/>
          </p:cNvSpPr>
          <p:nvPr>
            <p:ph idx="1"/>
          </p:nvPr>
        </p:nvSpPr>
        <p:spPr/>
        <p:txBody>
          <a:bodyPr>
            <a:normAutofit fontScale="47500" lnSpcReduction="20000"/>
          </a:bodyPr>
          <a:lstStyle/>
          <a:p>
            <a:pPr>
              <a:buNone/>
            </a:pPr>
            <a:r>
              <a:rPr lang="en-US" b="1" dirty="0" smtClean="0"/>
              <a:t>Assume the True Labels:</a:t>
            </a:r>
          </a:p>
          <a:p>
            <a:pPr>
              <a:buNone/>
            </a:pPr>
            <a:r>
              <a:rPr lang="en-US" dirty="0" smtClean="0"/>
              <a:t>For simplicity, assume the correct binary labels for the 4 samples are:</a:t>
            </a:r>
          </a:p>
          <a:p>
            <a:pPr>
              <a:buNone/>
            </a:pPr>
            <a:r>
              <a:rPr lang="en-US" dirty="0" smtClean="0"/>
              <a:t>True Labels=[1,1,0,0]</a:t>
            </a:r>
          </a:p>
          <a:p>
            <a:pPr>
              <a:buNone/>
            </a:pPr>
            <a:r>
              <a:rPr lang="en-US" b="1" dirty="0" smtClean="0"/>
              <a:t> Model Predictions:</a:t>
            </a:r>
          </a:p>
          <a:p>
            <a:pPr>
              <a:buNone/>
            </a:pPr>
            <a:r>
              <a:rPr lang="en-US" b="1" dirty="0" smtClean="0"/>
              <a:t>Model A</a:t>
            </a:r>
            <a:r>
              <a:rPr lang="en-US" dirty="0" smtClean="0"/>
              <a:t> predicts: [0.9, 0.8, 0.1, 0.05] </a:t>
            </a:r>
          </a:p>
          <a:p>
            <a:pPr>
              <a:buNone/>
            </a:pPr>
            <a:r>
              <a:rPr lang="en-US" b="1" dirty="0" smtClean="0"/>
              <a:t>Model B</a:t>
            </a:r>
            <a:r>
              <a:rPr lang="en-US" dirty="0" smtClean="0"/>
              <a:t> predicts: [0.6, 0.6, 0.4, 0.3] </a:t>
            </a:r>
          </a:p>
          <a:p>
            <a:pPr>
              <a:buNone/>
            </a:pPr>
            <a:r>
              <a:rPr lang="en-US" dirty="0" smtClean="0"/>
              <a:t>Both models </a:t>
            </a:r>
            <a:r>
              <a:rPr lang="en-US" b="1" dirty="0" smtClean="0"/>
              <a:t>give correct classifications</a:t>
            </a:r>
            <a:r>
              <a:rPr lang="en-US" dirty="0" smtClean="0"/>
              <a:t> when </a:t>
            </a:r>
            <a:r>
              <a:rPr lang="en-US" dirty="0" err="1" smtClean="0"/>
              <a:t>thresholded</a:t>
            </a:r>
            <a:r>
              <a:rPr lang="en-US" dirty="0" smtClean="0"/>
              <a:t> at 0.5:</a:t>
            </a:r>
          </a:p>
          <a:p>
            <a:pPr>
              <a:buNone/>
            </a:pPr>
            <a:r>
              <a:rPr lang="en-US" dirty="0" smtClean="0"/>
              <a:t>If predicted ≥ 0.5 → class 1</a:t>
            </a:r>
          </a:p>
          <a:p>
            <a:pPr>
              <a:buNone/>
            </a:pPr>
            <a:r>
              <a:rPr lang="en-US" dirty="0" smtClean="0"/>
              <a:t>If predicted &lt; 0.5 → class 0</a:t>
            </a:r>
          </a:p>
          <a:p>
            <a:pPr>
              <a:buNone/>
            </a:pPr>
            <a:r>
              <a:rPr lang="en-US" dirty="0" smtClean="0"/>
              <a:t>So:</a:t>
            </a:r>
          </a:p>
          <a:p>
            <a:pPr>
              <a:buNone/>
            </a:pPr>
            <a:r>
              <a:rPr lang="en-US" dirty="0" smtClean="0"/>
              <a:t>Model A predicts [1, 1, 0, 0]</a:t>
            </a:r>
          </a:p>
          <a:p>
            <a:pPr>
              <a:buNone/>
            </a:pPr>
            <a:r>
              <a:rPr lang="en-US" dirty="0" smtClean="0"/>
              <a:t>Model B predicts [1, 1, 0, 0]</a:t>
            </a:r>
          </a:p>
          <a:p>
            <a:pPr>
              <a:buNone/>
            </a:pPr>
            <a:r>
              <a:rPr lang="en-US" b="1" dirty="0" smtClean="0"/>
              <a:t>Same accuracy = 100%</a:t>
            </a:r>
            <a:endParaRPr lang="en-US" dirty="0" smtClean="0"/>
          </a:p>
          <a:p>
            <a:pPr>
              <a:buNone/>
            </a:pPr>
            <a:endParaRPr lang="en-US" dirty="0"/>
          </a:p>
        </p:txBody>
      </p:sp>
      <p:sp>
        <p:nvSpPr>
          <p:cNvPr id="5" name="Rectangle 4"/>
          <p:cNvSpPr/>
          <p:nvPr/>
        </p:nvSpPr>
        <p:spPr>
          <a:xfrm>
            <a:off x="6444208" y="3501008"/>
            <a:ext cx="1513941" cy="369332"/>
          </a:xfrm>
          <a:prstGeom prst="rect">
            <a:avLst/>
          </a:prstGeom>
        </p:spPr>
        <p:txBody>
          <a:bodyPr wrap="none">
            <a:spAutoFit/>
          </a:bodyPr>
          <a:lstStyle/>
          <a:p>
            <a:r>
              <a:rPr lang="en-US" b="1" u="sng" dirty="0" smtClean="0"/>
              <a:t>MSE Formula:</a:t>
            </a:r>
            <a:endParaRPr lang="en-US" b="1" u="sng" dirty="0"/>
          </a:p>
        </p:txBody>
      </p:sp>
      <p:pic>
        <p:nvPicPr>
          <p:cNvPr id="1028" name="Picture 4"/>
          <p:cNvPicPr>
            <a:picLocks noChangeAspect="1" noChangeArrowheads="1"/>
          </p:cNvPicPr>
          <p:nvPr/>
        </p:nvPicPr>
        <p:blipFill>
          <a:blip r:embed="rId2" cstate="print"/>
          <a:srcRect/>
          <a:stretch>
            <a:fillRect/>
          </a:stretch>
        </p:blipFill>
        <p:spPr bwMode="auto">
          <a:xfrm>
            <a:off x="5868144" y="4005064"/>
            <a:ext cx="2790825" cy="229552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3" y="146279"/>
          <a:ext cx="5472606" cy="1986577"/>
        </p:xfrm>
        <a:graphic>
          <a:graphicData uri="http://schemas.openxmlformats.org/drawingml/2006/table">
            <a:tbl>
              <a:tblPr firstRow="1" bandRow="1">
                <a:tableStyleId>{1FECB4D8-DB02-4DC6-A0A2-4F2EBAE1DC90}</a:tableStyleId>
              </a:tblPr>
              <a:tblGrid>
                <a:gridCol w="912101"/>
                <a:gridCol w="972908"/>
                <a:gridCol w="1412586"/>
                <a:gridCol w="2175011"/>
              </a:tblGrid>
              <a:tr h="355170">
                <a:tc>
                  <a:txBody>
                    <a:bodyPr/>
                    <a:lstStyle/>
                    <a:p>
                      <a:r>
                        <a:rPr lang="en-US" dirty="0"/>
                        <a:t>Sample</a:t>
                      </a:r>
                    </a:p>
                  </a:txBody>
                  <a:tcPr anchor="ctr"/>
                </a:tc>
                <a:tc>
                  <a:txBody>
                    <a:bodyPr/>
                    <a:lstStyle/>
                    <a:p>
                      <a:r>
                        <a:rPr lang="en-US" dirty="0"/>
                        <a:t>True (y)</a:t>
                      </a:r>
                    </a:p>
                  </a:txBody>
                  <a:tcPr anchor="ctr"/>
                </a:tc>
                <a:tc>
                  <a:txBody>
                    <a:bodyPr/>
                    <a:lstStyle/>
                    <a:p>
                      <a:r>
                        <a:rPr lang="cy-GB"/>
                        <a:t>Predicted (ŷ)</a:t>
                      </a:r>
                    </a:p>
                  </a:txBody>
                  <a:tcPr anchor="ctr"/>
                </a:tc>
                <a:tc>
                  <a:txBody>
                    <a:bodyPr/>
                    <a:lstStyle/>
                    <a:p>
                      <a:r>
                        <a:rPr lang="cy-GB" dirty="0"/>
                        <a:t>(y - ŷ)²</a:t>
                      </a:r>
                    </a:p>
                  </a:txBody>
                  <a:tcPr anchor="ctr"/>
                </a:tc>
              </a:tr>
              <a:tr h="355170">
                <a:tc>
                  <a:txBody>
                    <a:bodyPr/>
                    <a:lstStyle/>
                    <a:p>
                      <a:r>
                        <a:rPr lang="en-US"/>
                        <a:t>1</a:t>
                      </a:r>
                    </a:p>
                  </a:txBody>
                  <a:tcPr anchor="ctr"/>
                </a:tc>
                <a:tc>
                  <a:txBody>
                    <a:bodyPr/>
                    <a:lstStyle/>
                    <a:p>
                      <a:r>
                        <a:rPr lang="en-US"/>
                        <a:t>1</a:t>
                      </a:r>
                    </a:p>
                  </a:txBody>
                  <a:tcPr anchor="ctr"/>
                </a:tc>
                <a:tc>
                  <a:txBody>
                    <a:bodyPr/>
                    <a:lstStyle/>
                    <a:p>
                      <a:r>
                        <a:rPr lang="en-US" dirty="0"/>
                        <a:t>0.9</a:t>
                      </a:r>
                    </a:p>
                  </a:txBody>
                  <a:tcPr anchor="ctr"/>
                </a:tc>
                <a:tc>
                  <a:txBody>
                    <a:bodyPr/>
                    <a:lstStyle/>
                    <a:p>
                      <a:r>
                        <a:rPr lang="en-US" dirty="0"/>
                        <a:t>(1 - 0.9)² = 0.01</a:t>
                      </a:r>
                    </a:p>
                  </a:txBody>
                  <a:tcPr anchor="ctr"/>
                </a:tc>
              </a:tr>
              <a:tr h="355170">
                <a:tc>
                  <a:txBody>
                    <a:bodyPr/>
                    <a:lstStyle/>
                    <a:p>
                      <a:r>
                        <a:rPr lang="en-US"/>
                        <a:t>2</a:t>
                      </a:r>
                    </a:p>
                  </a:txBody>
                  <a:tcPr anchor="ctr"/>
                </a:tc>
                <a:tc>
                  <a:txBody>
                    <a:bodyPr/>
                    <a:lstStyle/>
                    <a:p>
                      <a:r>
                        <a:rPr lang="en-US"/>
                        <a:t>1</a:t>
                      </a:r>
                    </a:p>
                  </a:txBody>
                  <a:tcPr anchor="ctr"/>
                </a:tc>
                <a:tc>
                  <a:txBody>
                    <a:bodyPr/>
                    <a:lstStyle/>
                    <a:p>
                      <a:r>
                        <a:rPr lang="en-US"/>
                        <a:t>0.8</a:t>
                      </a:r>
                    </a:p>
                  </a:txBody>
                  <a:tcPr anchor="ctr"/>
                </a:tc>
                <a:tc>
                  <a:txBody>
                    <a:bodyPr/>
                    <a:lstStyle/>
                    <a:p>
                      <a:r>
                        <a:rPr lang="en-US" dirty="0"/>
                        <a:t>(1 - 0.8)² = 0.04</a:t>
                      </a:r>
                    </a:p>
                  </a:txBody>
                  <a:tcPr anchor="ctr"/>
                </a:tc>
              </a:tr>
              <a:tr h="355170">
                <a:tc>
                  <a:txBody>
                    <a:bodyPr/>
                    <a:lstStyle/>
                    <a:p>
                      <a:r>
                        <a:rPr lang="en-US"/>
                        <a:t>3</a:t>
                      </a:r>
                    </a:p>
                  </a:txBody>
                  <a:tcPr anchor="ctr"/>
                </a:tc>
                <a:tc>
                  <a:txBody>
                    <a:bodyPr/>
                    <a:lstStyle/>
                    <a:p>
                      <a:r>
                        <a:rPr lang="en-US"/>
                        <a:t>0</a:t>
                      </a:r>
                    </a:p>
                  </a:txBody>
                  <a:tcPr anchor="ctr"/>
                </a:tc>
                <a:tc>
                  <a:txBody>
                    <a:bodyPr/>
                    <a:lstStyle/>
                    <a:p>
                      <a:r>
                        <a:rPr lang="en-US"/>
                        <a:t>0.1</a:t>
                      </a:r>
                    </a:p>
                  </a:txBody>
                  <a:tcPr anchor="ctr"/>
                </a:tc>
                <a:tc>
                  <a:txBody>
                    <a:bodyPr/>
                    <a:lstStyle/>
                    <a:p>
                      <a:r>
                        <a:rPr lang="en-US" dirty="0"/>
                        <a:t>(0 - 0.1)² = 0.01</a:t>
                      </a:r>
                    </a:p>
                  </a:txBody>
                  <a:tcPr anchor="ctr"/>
                </a:tc>
              </a:tr>
              <a:tr h="523537">
                <a:tc>
                  <a:txBody>
                    <a:bodyPr/>
                    <a:lstStyle/>
                    <a:p>
                      <a:r>
                        <a:rPr lang="en-US" dirty="0"/>
                        <a:t>4</a:t>
                      </a:r>
                    </a:p>
                  </a:txBody>
                  <a:tcPr anchor="ctr"/>
                </a:tc>
                <a:tc>
                  <a:txBody>
                    <a:bodyPr/>
                    <a:lstStyle/>
                    <a:p>
                      <a:r>
                        <a:rPr lang="en-US" dirty="0"/>
                        <a:t>0</a:t>
                      </a:r>
                    </a:p>
                  </a:txBody>
                  <a:tcPr anchor="ctr"/>
                </a:tc>
                <a:tc>
                  <a:txBody>
                    <a:bodyPr/>
                    <a:lstStyle/>
                    <a:p>
                      <a:r>
                        <a:rPr lang="en-US" dirty="0"/>
                        <a:t>0.05</a:t>
                      </a:r>
                    </a:p>
                  </a:txBody>
                  <a:tcPr anchor="ctr"/>
                </a:tc>
                <a:tc>
                  <a:txBody>
                    <a:bodyPr/>
                    <a:lstStyle/>
                    <a:p>
                      <a:r>
                        <a:rPr lang="en-US" dirty="0"/>
                        <a:t>(0 - 0.05)² = </a:t>
                      </a:r>
                      <a:r>
                        <a:rPr lang="en-US" dirty="0" smtClean="0"/>
                        <a:t>0.0025</a:t>
                      </a:r>
                      <a:endParaRPr lang="en-US" dirty="0"/>
                    </a:p>
                  </a:txBody>
                  <a:tcPr anchor="ctr"/>
                </a:tc>
              </a:tr>
            </a:tbl>
          </a:graphicData>
        </a:graphic>
      </p:graphicFrame>
      <p:sp>
        <p:nvSpPr>
          <p:cNvPr id="5" name="Rectangle 4"/>
          <p:cNvSpPr/>
          <p:nvPr/>
        </p:nvSpPr>
        <p:spPr>
          <a:xfrm>
            <a:off x="5724128" y="201414"/>
            <a:ext cx="3419872" cy="923330"/>
          </a:xfrm>
          <a:prstGeom prst="rect">
            <a:avLst/>
          </a:prstGeom>
        </p:spPr>
        <p:txBody>
          <a:bodyPr wrap="square">
            <a:spAutoFit/>
          </a:bodyPr>
          <a:lstStyle/>
          <a:p>
            <a:r>
              <a:rPr lang="en-US" b="1" dirty="0" smtClean="0"/>
              <a:t>MSE</a:t>
            </a:r>
            <a:r>
              <a:rPr lang="en-US" b="1" baseline="-25000" dirty="0" smtClean="0"/>
              <a:t>A </a:t>
            </a:r>
            <a:r>
              <a:rPr lang="en-US" b="1" dirty="0" smtClean="0"/>
              <a:t>=(0.01+0.04+0.01+0.0025​)/4</a:t>
            </a:r>
          </a:p>
          <a:p>
            <a:r>
              <a:rPr lang="en-US" b="1" dirty="0" smtClean="0"/>
              <a:t>	 =0.0625​/4</a:t>
            </a:r>
          </a:p>
          <a:p>
            <a:r>
              <a:rPr lang="en-US" b="1" dirty="0" smtClean="0"/>
              <a:t>	</a:t>
            </a:r>
            <a:r>
              <a:rPr lang="en-US" b="1" dirty="0" smtClean="0">
                <a:solidFill>
                  <a:srgbClr val="C00000"/>
                </a:solidFill>
              </a:rPr>
              <a:t>=0.015625 </a:t>
            </a:r>
            <a:endParaRPr lang="en-US" b="1" dirty="0">
              <a:solidFill>
                <a:srgbClr val="C00000"/>
              </a:solidFill>
            </a:endParaRPr>
          </a:p>
        </p:txBody>
      </p:sp>
      <p:graphicFrame>
        <p:nvGraphicFramePr>
          <p:cNvPr id="6" name="Table 5"/>
          <p:cNvGraphicFramePr>
            <a:graphicFrameLocks noGrp="1"/>
          </p:cNvGraphicFramePr>
          <p:nvPr/>
        </p:nvGraphicFramePr>
        <p:xfrm>
          <a:off x="179512" y="2132856"/>
          <a:ext cx="5544614" cy="1828800"/>
        </p:xfrm>
        <a:graphic>
          <a:graphicData uri="http://schemas.openxmlformats.org/drawingml/2006/table">
            <a:tbl>
              <a:tblPr firstRow="1" bandRow="1">
                <a:tableStyleId>{F5AB1C69-6EDB-4FF4-983F-18BD219EF322}</a:tableStyleId>
              </a:tblPr>
              <a:tblGrid>
                <a:gridCol w="1008111"/>
                <a:gridCol w="936104"/>
                <a:gridCol w="1440160"/>
                <a:gridCol w="2160239"/>
              </a:tblGrid>
              <a:tr h="331237">
                <a:tc>
                  <a:txBody>
                    <a:bodyPr/>
                    <a:lstStyle/>
                    <a:p>
                      <a:r>
                        <a:rPr lang="en-US" dirty="0"/>
                        <a:t>Sample</a:t>
                      </a:r>
                    </a:p>
                  </a:txBody>
                  <a:tcPr anchor="ctr"/>
                </a:tc>
                <a:tc>
                  <a:txBody>
                    <a:bodyPr/>
                    <a:lstStyle/>
                    <a:p>
                      <a:r>
                        <a:rPr lang="en-US" dirty="0"/>
                        <a:t>True (y)</a:t>
                      </a:r>
                    </a:p>
                  </a:txBody>
                  <a:tcPr anchor="ctr"/>
                </a:tc>
                <a:tc>
                  <a:txBody>
                    <a:bodyPr/>
                    <a:lstStyle/>
                    <a:p>
                      <a:r>
                        <a:rPr lang="cy-GB" dirty="0"/>
                        <a:t>Predicted (ŷ)</a:t>
                      </a:r>
                    </a:p>
                  </a:txBody>
                  <a:tcPr anchor="ctr"/>
                </a:tc>
                <a:tc>
                  <a:txBody>
                    <a:bodyPr/>
                    <a:lstStyle/>
                    <a:p>
                      <a:r>
                        <a:rPr lang="cy-GB"/>
                        <a:t>(y - ŷ)²</a:t>
                      </a:r>
                    </a:p>
                  </a:txBody>
                  <a:tcPr anchor="ctr"/>
                </a:tc>
              </a:tr>
              <a:tr h="331237">
                <a:tc>
                  <a:txBody>
                    <a:bodyPr/>
                    <a:lstStyle/>
                    <a:p>
                      <a:r>
                        <a:rPr lang="en-US"/>
                        <a:t>1</a:t>
                      </a:r>
                    </a:p>
                  </a:txBody>
                  <a:tcPr anchor="ctr"/>
                </a:tc>
                <a:tc>
                  <a:txBody>
                    <a:bodyPr/>
                    <a:lstStyle/>
                    <a:p>
                      <a:r>
                        <a:rPr lang="en-US" dirty="0"/>
                        <a:t>1</a:t>
                      </a:r>
                    </a:p>
                  </a:txBody>
                  <a:tcPr anchor="ctr"/>
                </a:tc>
                <a:tc>
                  <a:txBody>
                    <a:bodyPr/>
                    <a:lstStyle/>
                    <a:p>
                      <a:r>
                        <a:rPr lang="en-US" dirty="0"/>
                        <a:t>0.6</a:t>
                      </a:r>
                    </a:p>
                  </a:txBody>
                  <a:tcPr anchor="ctr"/>
                </a:tc>
                <a:tc>
                  <a:txBody>
                    <a:bodyPr/>
                    <a:lstStyle/>
                    <a:p>
                      <a:r>
                        <a:rPr lang="en-US"/>
                        <a:t>(1 - 0.6)² = 0.16</a:t>
                      </a:r>
                    </a:p>
                  </a:txBody>
                  <a:tcPr anchor="ctr"/>
                </a:tc>
              </a:tr>
              <a:tr h="331237">
                <a:tc>
                  <a:txBody>
                    <a:bodyPr/>
                    <a:lstStyle/>
                    <a:p>
                      <a:r>
                        <a:rPr lang="en-US"/>
                        <a:t>2</a:t>
                      </a:r>
                    </a:p>
                  </a:txBody>
                  <a:tcPr anchor="ctr"/>
                </a:tc>
                <a:tc>
                  <a:txBody>
                    <a:bodyPr/>
                    <a:lstStyle/>
                    <a:p>
                      <a:r>
                        <a:rPr lang="en-US"/>
                        <a:t>1</a:t>
                      </a:r>
                    </a:p>
                  </a:txBody>
                  <a:tcPr anchor="ctr"/>
                </a:tc>
                <a:tc>
                  <a:txBody>
                    <a:bodyPr/>
                    <a:lstStyle/>
                    <a:p>
                      <a:r>
                        <a:rPr lang="en-US"/>
                        <a:t>0.6</a:t>
                      </a:r>
                    </a:p>
                  </a:txBody>
                  <a:tcPr anchor="ctr"/>
                </a:tc>
                <a:tc>
                  <a:txBody>
                    <a:bodyPr/>
                    <a:lstStyle/>
                    <a:p>
                      <a:r>
                        <a:rPr lang="en-US" dirty="0"/>
                        <a:t>(1 - 0.6)² = 0.16</a:t>
                      </a:r>
                    </a:p>
                  </a:txBody>
                  <a:tcPr anchor="ctr"/>
                </a:tc>
              </a:tr>
              <a:tr h="331237">
                <a:tc>
                  <a:txBody>
                    <a:bodyPr/>
                    <a:lstStyle/>
                    <a:p>
                      <a:r>
                        <a:rPr lang="en-US"/>
                        <a:t>3</a:t>
                      </a:r>
                    </a:p>
                  </a:txBody>
                  <a:tcPr anchor="ctr"/>
                </a:tc>
                <a:tc>
                  <a:txBody>
                    <a:bodyPr/>
                    <a:lstStyle/>
                    <a:p>
                      <a:r>
                        <a:rPr lang="en-US"/>
                        <a:t>0</a:t>
                      </a:r>
                    </a:p>
                  </a:txBody>
                  <a:tcPr anchor="ctr"/>
                </a:tc>
                <a:tc>
                  <a:txBody>
                    <a:bodyPr/>
                    <a:lstStyle/>
                    <a:p>
                      <a:r>
                        <a:rPr lang="en-US" dirty="0"/>
                        <a:t>0.4</a:t>
                      </a:r>
                    </a:p>
                  </a:txBody>
                  <a:tcPr anchor="ctr"/>
                </a:tc>
                <a:tc>
                  <a:txBody>
                    <a:bodyPr/>
                    <a:lstStyle/>
                    <a:p>
                      <a:r>
                        <a:rPr lang="en-US"/>
                        <a:t>(0 - 0.4)² = 0.16</a:t>
                      </a:r>
                    </a:p>
                  </a:txBody>
                  <a:tcPr anchor="ctr"/>
                </a:tc>
              </a:tr>
              <a:tr h="331237">
                <a:tc>
                  <a:txBody>
                    <a:bodyPr/>
                    <a:lstStyle/>
                    <a:p>
                      <a:r>
                        <a:rPr lang="en-US"/>
                        <a:t>4</a:t>
                      </a:r>
                    </a:p>
                  </a:txBody>
                  <a:tcPr anchor="ctr"/>
                </a:tc>
                <a:tc>
                  <a:txBody>
                    <a:bodyPr/>
                    <a:lstStyle/>
                    <a:p>
                      <a:r>
                        <a:rPr lang="en-US"/>
                        <a:t>0</a:t>
                      </a:r>
                    </a:p>
                  </a:txBody>
                  <a:tcPr anchor="ctr"/>
                </a:tc>
                <a:tc>
                  <a:txBody>
                    <a:bodyPr/>
                    <a:lstStyle/>
                    <a:p>
                      <a:r>
                        <a:rPr lang="en-US"/>
                        <a:t>0.3</a:t>
                      </a:r>
                    </a:p>
                  </a:txBody>
                  <a:tcPr anchor="ctr"/>
                </a:tc>
                <a:tc>
                  <a:txBody>
                    <a:bodyPr/>
                    <a:lstStyle/>
                    <a:p>
                      <a:r>
                        <a:rPr lang="en-US" dirty="0"/>
                        <a:t>(0 - 0.3)² = 0.09</a:t>
                      </a:r>
                    </a:p>
                  </a:txBody>
                  <a:tcPr anchor="ctr"/>
                </a:tc>
              </a:tr>
            </a:tbl>
          </a:graphicData>
        </a:graphic>
      </p:graphicFrame>
      <p:sp>
        <p:nvSpPr>
          <p:cNvPr id="7" name="Rectangle 6"/>
          <p:cNvSpPr/>
          <p:nvPr/>
        </p:nvSpPr>
        <p:spPr>
          <a:xfrm>
            <a:off x="5627936" y="2132856"/>
            <a:ext cx="3552576" cy="923330"/>
          </a:xfrm>
          <a:prstGeom prst="rect">
            <a:avLst/>
          </a:prstGeom>
        </p:spPr>
        <p:txBody>
          <a:bodyPr wrap="none">
            <a:spAutoFit/>
          </a:bodyPr>
          <a:lstStyle/>
          <a:p>
            <a:r>
              <a:rPr lang="en-US" b="1" dirty="0" smtClean="0"/>
              <a:t>MSE</a:t>
            </a:r>
            <a:r>
              <a:rPr lang="en-US" b="1" baseline="-25000" dirty="0" smtClean="0"/>
              <a:t>B</a:t>
            </a:r>
            <a:r>
              <a:rPr lang="en-US" b="1" dirty="0" smtClean="0"/>
              <a:t>​	=(0.16+0.16+0.16+0.09​)/4</a:t>
            </a:r>
          </a:p>
          <a:p>
            <a:r>
              <a:rPr lang="en-US" b="1" dirty="0" smtClean="0"/>
              <a:t>	=0.57​/4</a:t>
            </a:r>
          </a:p>
          <a:p>
            <a:r>
              <a:rPr lang="en-US" b="1" dirty="0" smtClean="0"/>
              <a:t>	</a:t>
            </a:r>
            <a:r>
              <a:rPr lang="en-US" b="1" dirty="0" smtClean="0">
                <a:solidFill>
                  <a:srgbClr val="C00000"/>
                </a:solidFill>
              </a:rPr>
              <a:t>=0.1425</a:t>
            </a:r>
            <a:endParaRPr lang="en-US" b="1" dirty="0">
              <a:solidFill>
                <a:srgbClr val="C00000"/>
              </a:solidFill>
            </a:endParaRPr>
          </a:p>
        </p:txBody>
      </p:sp>
      <p:graphicFrame>
        <p:nvGraphicFramePr>
          <p:cNvPr id="8" name="Table 7"/>
          <p:cNvGraphicFramePr>
            <a:graphicFrameLocks noGrp="1"/>
          </p:cNvGraphicFramePr>
          <p:nvPr/>
        </p:nvGraphicFramePr>
        <p:xfrm>
          <a:off x="395536" y="4077072"/>
          <a:ext cx="4968552" cy="1112520"/>
        </p:xfrm>
        <a:graphic>
          <a:graphicData uri="http://schemas.openxmlformats.org/drawingml/2006/table">
            <a:tbl>
              <a:tblPr firstRow="1" bandRow="1">
                <a:tableStyleId>{EB9631B5-78F2-41C9-869B-9F39066F8104}</a:tableStyleId>
              </a:tblPr>
              <a:tblGrid>
                <a:gridCol w="2484276"/>
                <a:gridCol w="2484276"/>
              </a:tblGrid>
              <a:tr h="370840">
                <a:tc>
                  <a:txBody>
                    <a:bodyPr/>
                    <a:lstStyle/>
                    <a:p>
                      <a:r>
                        <a:rPr lang="en-US" dirty="0"/>
                        <a:t>Model</a:t>
                      </a:r>
                    </a:p>
                  </a:txBody>
                  <a:tcPr anchor="ctr"/>
                </a:tc>
                <a:tc>
                  <a:txBody>
                    <a:bodyPr/>
                    <a:lstStyle/>
                    <a:p>
                      <a:r>
                        <a:rPr lang="en-US" dirty="0"/>
                        <a:t>MSE (Loss)</a:t>
                      </a:r>
                    </a:p>
                  </a:txBody>
                  <a:tcPr anchor="ctr"/>
                </a:tc>
              </a:tr>
              <a:tr h="370840">
                <a:tc>
                  <a:txBody>
                    <a:bodyPr/>
                    <a:lstStyle/>
                    <a:p>
                      <a:r>
                        <a:rPr lang="en-US" dirty="0"/>
                        <a:t>Model A</a:t>
                      </a:r>
                    </a:p>
                  </a:txBody>
                  <a:tcPr anchor="ctr"/>
                </a:tc>
                <a:tc>
                  <a:txBody>
                    <a:bodyPr/>
                    <a:lstStyle/>
                    <a:p>
                      <a:r>
                        <a:rPr lang="en-US" dirty="0"/>
                        <a:t>0.015625 </a:t>
                      </a:r>
                      <a:r>
                        <a:rPr lang="en-US" dirty="0" smtClean="0"/>
                        <a:t>- </a:t>
                      </a:r>
                      <a:r>
                        <a:rPr lang="en-US" dirty="0"/>
                        <a:t>Lower</a:t>
                      </a:r>
                      <a:endParaRPr lang="en-US" b="1" dirty="0">
                        <a:solidFill>
                          <a:srgbClr val="C00000"/>
                        </a:solidFill>
                      </a:endParaRPr>
                    </a:p>
                  </a:txBody>
                  <a:tcPr anchor="ctr"/>
                </a:tc>
              </a:tr>
              <a:tr h="370840">
                <a:tc>
                  <a:txBody>
                    <a:bodyPr/>
                    <a:lstStyle/>
                    <a:p>
                      <a:r>
                        <a:rPr lang="en-US" dirty="0"/>
                        <a:t>Model B</a:t>
                      </a:r>
                    </a:p>
                  </a:txBody>
                  <a:tcPr anchor="ctr"/>
                </a:tc>
                <a:tc>
                  <a:txBody>
                    <a:bodyPr/>
                    <a:lstStyle/>
                    <a:p>
                      <a:r>
                        <a:rPr lang="en-US" dirty="0" smtClean="0"/>
                        <a:t>0.1425 - Higher</a:t>
                      </a:r>
                      <a:endParaRPr lang="en-US" dirty="0"/>
                    </a:p>
                  </a:txBody>
                  <a:tcPr/>
                </a:tc>
              </a:tr>
            </a:tbl>
          </a:graphicData>
        </a:graphic>
      </p:graphicFrame>
      <p:sp>
        <p:nvSpPr>
          <p:cNvPr id="9" name="Rectangle 8"/>
          <p:cNvSpPr/>
          <p:nvPr/>
        </p:nvSpPr>
        <p:spPr>
          <a:xfrm>
            <a:off x="323528" y="5301208"/>
            <a:ext cx="8568952" cy="830997"/>
          </a:xfrm>
          <a:prstGeom prst="rect">
            <a:avLst/>
          </a:prstGeom>
        </p:spPr>
        <p:txBody>
          <a:bodyPr wrap="square">
            <a:spAutoFit/>
          </a:bodyPr>
          <a:lstStyle/>
          <a:p>
            <a:r>
              <a:rPr lang="en-US" sz="1600" dirty="0" smtClean="0">
                <a:latin typeface="Times New Roman" pitchFamily="18" charset="0"/>
                <a:cs typeface="Times New Roman" pitchFamily="18" charset="0"/>
              </a:rPr>
              <a:t>Even though both models get the </a:t>
            </a:r>
            <a:r>
              <a:rPr lang="en-US" sz="1600" b="1" dirty="0" smtClean="0">
                <a:solidFill>
                  <a:srgbClr val="C00000"/>
                </a:solidFill>
                <a:latin typeface="Times New Roman" pitchFamily="18" charset="0"/>
                <a:cs typeface="Times New Roman" pitchFamily="18" charset="0"/>
              </a:rPr>
              <a:t>labels right after </a:t>
            </a:r>
            <a:r>
              <a:rPr lang="en-US" sz="1600" b="1" dirty="0" err="1" smtClean="0">
                <a:solidFill>
                  <a:srgbClr val="C00000"/>
                </a:solidFill>
                <a:latin typeface="Times New Roman" pitchFamily="18" charset="0"/>
                <a:cs typeface="Times New Roman" pitchFamily="18" charset="0"/>
              </a:rPr>
              <a:t>thresholding</a:t>
            </a:r>
            <a:r>
              <a:rPr lang="en-US" sz="1600" b="1" dirty="0" smtClean="0">
                <a:solidFill>
                  <a:srgbClr val="C00000"/>
                </a:solidFill>
                <a:latin typeface="Times New Roman" pitchFamily="18" charset="0"/>
                <a:cs typeface="Times New Roman" pitchFamily="18" charset="0"/>
              </a:rPr>
              <a:t> </a:t>
            </a:r>
            <a:r>
              <a:rPr lang="en-US" sz="1600" dirty="0" smtClean="0">
                <a:latin typeface="Times New Roman" pitchFamily="18" charset="0"/>
                <a:cs typeface="Times New Roman" pitchFamily="18" charset="0"/>
              </a:rPr>
              <a:t>(accuracy is same), </a:t>
            </a:r>
            <a:r>
              <a:rPr lang="en-US" sz="1600" b="1" dirty="0" smtClean="0">
                <a:solidFill>
                  <a:srgbClr val="0000FF"/>
                </a:solidFill>
                <a:latin typeface="Times New Roman" pitchFamily="18" charset="0"/>
                <a:cs typeface="Times New Roman" pitchFamily="18" charset="0"/>
              </a:rPr>
              <a:t>Model A</a:t>
            </a:r>
            <a:r>
              <a:rPr lang="en-US" sz="1600" dirty="0" smtClean="0">
                <a:latin typeface="Times New Roman" pitchFamily="18" charset="0"/>
                <a:cs typeface="Times New Roman" pitchFamily="18" charset="0"/>
              </a:rPr>
              <a:t> makes predictions that are much closer to the true values, </a:t>
            </a:r>
            <a:r>
              <a:rPr lang="en-US" sz="1600" b="1" dirty="0" smtClean="0">
                <a:solidFill>
                  <a:srgbClr val="0000FF"/>
                </a:solidFill>
                <a:latin typeface="Times New Roman" pitchFamily="18" charset="0"/>
                <a:cs typeface="Times New Roman" pitchFamily="18" charset="0"/>
              </a:rPr>
              <a:t>resulting in a lower loss</a:t>
            </a:r>
            <a:r>
              <a:rPr lang="en-US" sz="1600" dirty="0" smtClean="0">
                <a:latin typeface="Times New Roman" pitchFamily="18" charset="0"/>
                <a:cs typeface="Times New Roman" pitchFamily="18" charset="0"/>
              </a:rPr>
              <a:t>.</a:t>
            </a:r>
          </a:p>
          <a:p>
            <a:r>
              <a:rPr lang="en-US" sz="1600" dirty="0" smtClean="0">
                <a:latin typeface="Times New Roman" pitchFamily="18" charset="0"/>
                <a:cs typeface="Times New Roman" pitchFamily="18" charset="0"/>
              </a:rPr>
              <a:t>That’s why Model A is better in terms of loss.</a:t>
            </a:r>
            <a:endParaRPr lang="en-US" sz="1600" dirty="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435280" cy="778098"/>
          </a:xfrm>
        </p:spPr>
        <p:txBody>
          <a:bodyPr>
            <a:normAutofit/>
          </a:bodyPr>
          <a:lstStyle/>
          <a:p>
            <a:r>
              <a:rPr lang="en-US" sz="2800" b="1" dirty="0" smtClean="0"/>
              <a:t>Steps to create a simple neural network </a:t>
            </a:r>
            <a:endParaRPr lang="en-US" sz="2800" b="1" dirty="0"/>
          </a:p>
        </p:txBody>
      </p:sp>
      <p:sp>
        <p:nvSpPr>
          <p:cNvPr id="3" name="Content Placeholder 2"/>
          <p:cNvSpPr>
            <a:spLocks noGrp="1"/>
          </p:cNvSpPr>
          <p:nvPr>
            <p:ph idx="1"/>
          </p:nvPr>
        </p:nvSpPr>
        <p:spPr>
          <a:xfrm>
            <a:off x="323528" y="1052736"/>
            <a:ext cx="8496944" cy="5472608"/>
          </a:xfrm>
        </p:spPr>
        <p:txBody>
          <a:bodyPr>
            <a:normAutofit fontScale="55000" lnSpcReduction="20000"/>
          </a:bodyPr>
          <a:lstStyle/>
          <a:p>
            <a:r>
              <a:rPr lang="en-US" dirty="0" smtClean="0"/>
              <a:t>Import necessary libraries, primarily </a:t>
            </a:r>
            <a:r>
              <a:rPr lang="en-US" dirty="0" err="1" smtClean="0"/>
              <a:t>TensorFlow</a:t>
            </a:r>
            <a:r>
              <a:rPr lang="en-US" dirty="0" smtClean="0"/>
              <a:t> and </a:t>
            </a:r>
            <a:r>
              <a:rPr lang="en-US" dirty="0" err="1" smtClean="0"/>
              <a:t>Keras</a:t>
            </a:r>
            <a:r>
              <a:rPr lang="en-US" dirty="0" smtClean="0"/>
              <a:t>, along with other required packages such as </a:t>
            </a:r>
            <a:r>
              <a:rPr lang="en-US" dirty="0" err="1" smtClean="0"/>
              <a:t>NumPy</a:t>
            </a:r>
            <a:r>
              <a:rPr lang="en-US" dirty="0" smtClean="0"/>
              <a:t> and Pandas for data handling.</a:t>
            </a:r>
          </a:p>
          <a:p>
            <a:pPr fontAlgn="base"/>
            <a:r>
              <a:rPr lang="en-US" dirty="0" smtClean="0"/>
              <a:t>Create or load a dataset. Convert the data into a format suitable for training (usually </a:t>
            </a:r>
            <a:r>
              <a:rPr lang="en-US" dirty="0" err="1" smtClean="0"/>
              <a:t>NumPy</a:t>
            </a:r>
            <a:r>
              <a:rPr lang="en-US" dirty="0" smtClean="0"/>
              <a:t> arrays).</a:t>
            </a:r>
          </a:p>
          <a:p>
            <a:pPr fontAlgn="base"/>
            <a:r>
              <a:rPr lang="en-US" dirty="0" smtClean="0"/>
              <a:t>Define features (X) and labels (y).</a:t>
            </a:r>
          </a:p>
          <a:p>
            <a:pPr fontAlgn="base"/>
            <a:r>
              <a:rPr lang="en-US" b="1" dirty="0" smtClean="0"/>
              <a:t>Create a Neural Network :</a:t>
            </a:r>
          </a:p>
          <a:p>
            <a:pPr lvl="1" fontAlgn="base"/>
            <a:r>
              <a:rPr lang="en-US" sz="2900" dirty="0" smtClean="0"/>
              <a:t>Instantiate a Sequential model and add layers. The input layer and hidden layers are typically created using Dense layers, specifying the number of neurons and activation functions.</a:t>
            </a:r>
          </a:p>
          <a:p>
            <a:pPr fontAlgn="base"/>
            <a:r>
              <a:rPr lang="en-US" dirty="0" smtClean="0"/>
              <a:t>Compile the model by specifying the </a:t>
            </a:r>
            <a:r>
              <a:rPr lang="en-US" b="1" dirty="0" smtClean="0">
                <a:solidFill>
                  <a:srgbClr val="0000FF"/>
                </a:solidFill>
              </a:rPr>
              <a:t>loss function, optimizer</a:t>
            </a:r>
            <a:r>
              <a:rPr lang="en-US" dirty="0" smtClean="0"/>
              <a:t>, and metrics to evaluate during training.</a:t>
            </a:r>
          </a:p>
          <a:p>
            <a:pPr fontAlgn="base"/>
            <a:r>
              <a:rPr lang="en-US" dirty="0" smtClean="0"/>
              <a:t>Fit the model on the training data, specifying the </a:t>
            </a:r>
            <a:r>
              <a:rPr lang="en-US" b="1" dirty="0" smtClean="0">
                <a:solidFill>
                  <a:srgbClr val="0000FF"/>
                </a:solidFill>
              </a:rPr>
              <a:t>number of epochs </a:t>
            </a:r>
            <a:r>
              <a:rPr lang="en-US" dirty="0" smtClean="0"/>
              <a:t>and </a:t>
            </a:r>
            <a:r>
              <a:rPr lang="en-US" b="1" dirty="0" smtClean="0">
                <a:solidFill>
                  <a:srgbClr val="0000FF"/>
                </a:solidFill>
              </a:rPr>
              <a:t>batch size</a:t>
            </a:r>
            <a:r>
              <a:rPr lang="en-US" dirty="0" smtClean="0"/>
              <a:t>. This step trains the neural network to learn from the input data.</a:t>
            </a:r>
          </a:p>
          <a:p>
            <a:pPr fontAlgn="base"/>
            <a:r>
              <a:rPr lang="en-US" dirty="0" smtClean="0"/>
              <a:t>Use the trained model to make predictions on new data. Process the output to interpret the predictions (e.g., convert probabilities to binary outcomes).</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12968" cy="6408712"/>
          </a:xfrm>
        </p:spPr>
        <p:txBody>
          <a:bodyPr>
            <a:normAutofit fontScale="47500" lnSpcReduction="20000"/>
          </a:bodyPr>
          <a:lstStyle/>
          <a:p>
            <a:pPr>
              <a:buNone/>
            </a:pPr>
            <a:r>
              <a:rPr lang="en-US" b="1" dirty="0" err="1" smtClean="0"/>
              <a:t>NumPy</a:t>
            </a:r>
            <a:r>
              <a:rPr lang="en-US" b="1" dirty="0" smtClean="0"/>
              <a:t> Array (</a:t>
            </a:r>
            <a:r>
              <a:rPr lang="en-US" b="1" dirty="0" err="1" smtClean="0"/>
              <a:t>np.array</a:t>
            </a:r>
            <a:r>
              <a:rPr lang="en-US" b="1" dirty="0" smtClean="0"/>
              <a:t>)</a:t>
            </a:r>
          </a:p>
          <a:p>
            <a:r>
              <a:rPr lang="en-US" dirty="0" smtClean="0"/>
              <a:t>A </a:t>
            </a:r>
            <a:r>
              <a:rPr lang="en-US" dirty="0" err="1" smtClean="0"/>
              <a:t>NumPy</a:t>
            </a:r>
            <a:r>
              <a:rPr lang="en-US" dirty="0" smtClean="0"/>
              <a:t> array is a fast, memory-efficient </a:t>
            </a:r>
            <a:r>
              <a:rPr lang="en-US" b="1" dirty="0" smtClean="0"/>
              <a:t>homogeneous</a:t>
            </a:r>
            <a:r>
              <a:rPr lang="en-US" dirty="0" smtClean="0"/>
              <a:t> multidimensional container for numerical data.</a:t>
            </a:r>
          </a:p>
          <a:p>
            <a:endParaRPr lang="en-US" b="1" dirty="0" smtClean="0"/>
          </a:p>
          <a:p>
            <a:pPr>
              <a:buNone/>
            </a:pPr>
            <a:r>
              <a:rPr lang="en-US" b="1" dirty="0" smtClean="0"/>
              <a:t>Pandas </a:t>
            </a:r>
            <a:r>
              <a:rPr lang="en-US" b="1" dirty="0" err="1" smtClean="0"/>
              <a:t>DataFrame</a:t>
            </a:r>
            <a:r>
              <a:rPr lang="en-US" b="1" dirty="0" smtClean="0"/>
              <a:t> (</a:t>
            </a:r>
            <a:r>
              <a:rPr lang="en-US" b="1" dirty="0" err="1" smtClean="0"/>
              <a:t>pd.DataFrame</a:t>
            </a:r>
            <a:r>
              <a:rPr lang="en-US" b="1" dirty="0" smtClean="0"/>
              <a:t>)</a:t>
            </a:r>
          </a:p>
          <a:p>
            <a:r>
              <a:rPr lang="en-US" dirty="0" smtClean="0"/>
              <a:t>A </a:t>
            </a:r>
            <a:r>
              <a:rPr lang="en-US" dirty="0" err="1" smtClean="0"/>
              <a:t>DataFrame</a:t>
            </a:r>
            <a:r>
              <a:rPr lang="en-US" dirty="0" smtClean="0"/>
              <a:t> is a 2D </a:t>
            </a:r>
            <a:r>
              <a:rPr lang="en-US" b="1" dirty="0" smtClean="0"/>
              <a:t>tabular structure</a:t>
            </a:r>
            <a:r>
              <a:rPr lang="en-US" dirty="0" smtClean="0"/>
              <a:t> with </a:t>
            </a:r>
            <a:r>
              <a:rPr lang="en-US" b="1" dirty="0" smtClean="0"/>
              <a:t>labeled rows and columns</a:t>
            </a:r>
            <a:r>
              <a:rPr lang="en-US" dirty="0" smtClean="0"/>
              <a:t> (like an Excel sheet), built on top of </a:t>
            </a:r>
            <a:r>
              <a:rPr lang="en-US" dirty="0" err="1" smtClean="0"/>
              <a:t>NumPy</a:t>
            </a:r>
            <a:r>
              <a:rPr lang="en-US" dirty="0" smtClean="0"/>
              <a:t> arrays.</a:t>
            </a:r>
          </a:p>
          <a:p>
            <a:endParaRPr lang="en-US" dirty="0" smtClean="0"/>
          </a:p>
          <a:p>
            <a:pPr>
              <a:buFont typeface="Wingdings" pitchFamily="2" charset="2"/>
              <a:buChar char="v"/>
            </a:pPr>
            <a:r>
              <a:rPr lang="en-US" dirty="0" smtClean="0"/>
              <a:t>Use </a:t>
            </a:r>
            <a:r>
              <a:rPr lang="en-US" b="1" dirty="0" err="1" smtClean="0"/>
              <a:t>NumPy</a:t>
            </a:r>
            <a:r>
              <a:rPr lang="en-US" b="1" dirty="0" smtClean="0"/>
              <a:t> arrays</a:t>
            </a:r>
            <a:r>
              <a:rPr lang="en-US" dirty="0" smtClean="0"/>
              <a:t> when you are doing </a:t>
            </a:r>
            <a:r>
              <a:rPr lang="en-US" b="1" dirty="0" smtClean="0"/>
              <a:t>numerical computation</a:t>
            </a:r>
            <a:r>
              <a:rPr lang="en-US" dirty="0" smtClean="0"/>
              <a:t>, like matrix operations or feeding tensors to neural networks.</a:t>
            </a:r>
          </a:p>
          <a:p>
            <a:pPr>
              <a:buFont typeface="Wingdings" pitchFamily="2" charset="2"/>
              <a:buChar char="v"/>
            </a:pPr>
            <a:r>
              <a:rPr lang="en-US" dirty="0" smtClean="0"/>
              <a:t>Use </a:t>
            </a:r>
            <a:r>
              <a:rPr lang="en-US" b="1" dirty="0" smtClean="0"/>
              <a:t>pandas </a:t>
            </a:r>
            <a:r>
              <a:rPr lang="en-US" b="1" dirty="0" err="1" smtClean="0"/>
              <a:t>DataFrames</a:t>
            </a:r>
            <a:r>
              <a:rPr lang="en-US" dirty="0" smtClean="0"/>
              <a:t> when working with </a:t>
            </a:r>
            <a:r>
              <a:rPr lang="en-US" b="1" dirty="0" smtClean="0"/>
              <a:t>tabular datasets</a:t>
            </a:r>
            <a:r>
              <a:rPr lang="en-US" dirty="0" smtClean="0"/>
              <a:t>, such as CSV files or database exports.</a:t>
            </a:r>
          </a:p>
          <a:p>
            <a:pPr>
              <a:buFont typeface="Wingdings" pitchFamily="2" charset="2"/>
              <a:buChar char="v"/>
            </a:pPr>
            <a:endParaRPr lang="en-US" dirty="0" smtClean="0"/>
          </a:p>
          <a:p>
            <a:pPr>
              <a:buNone/>
            </a:pPr>
            <a:r>
              <a:rPr lang="en-US" b="1" dirty="0" err="1" smtClean="0"/>
              <a:t>TensorFlow</a:t>
            </a:r>
            <a:endParaRPr lang="en-US" b="1" dirty="0" smtClean="0"/>
          </a:p>
          <a:p>
            <a:r>
              <a:rPr lang="en-US" b="1" dirty="0" err="1" smtClean="0"/>
              <a:t>TensorFlow</a:t>
            </a:r>
            <a:r>
              <a:rPr lang="en-US" dirty="0" smtClean="0"/>
              <a:t> is an open-source </a:t>
            </a:r>
            <a:r>
              <a:rPr lang="en-US" b="1" dirty="0" smtClean="0"/>
              <a:t>deep learning framework</a:t>
            </a:r>
            <a:r>
              <a:rPr lang="en-US" dirty="0" smtClean="0"/>
              <a:t> developed by Google.</a:t>
            </a:r>
            <a:br>
              <a:rPr lang="en-US" dirty="0" smtClean="0"/>
            </a:br>
            <a:r>
              <a:rPr lang="en-US" dirty="0" smtClean="0"/>
              <a:t>It provides tools to build and train </a:t>
            </a:r>
            <a:r>
              <a:rPr lang="en-US" b="1" dirty="0" smtClean="0"/>
              <a:t>machine learning and deep learning models</a:t>
            </a:r>
            <a:r>
              <a:rPr lang="en-US" dirty="0" smtClean="0"/>
              <a:t>.</a:t>
            </a:r>
          </a:p>
          <a:p>
            <a:pPr>
              <a:buNone/>
            </a:pPr>
            <a:r>
              <a:rPr lang="en-US" b="1" dirty="0" err="1" smtClean="0"/>
              <a:t>Keras</a:t>
            </a:r>
            <a:endParaRPr lang="en-US" b="1" dirty="0" smtClean="0"/>
          </a:p>
          <a:p>
            <a:r>
              <a:rPr lang="en-US" b="1" dirty="0" err="1" smtClean="0"/>
              <a:t>Keras</a:t>
            </a:r>
            <a:r>
              <a:rPr lang="en-US" dirty="0" smtClean="0"/>
              <a:t> is a </a:t>
            </a:r>
            <a:r>
              <a:rPr lang="en-US" b="1" dirty="0" smtClean="0"/>
              <a:t>high-level API</a:t>
            </a:r>
            <a:r>
              <a:rPr lang="en-US" dirty="0" smtClean="0"/>
              <a:t> built on top of </a:t>
            </a:r>
            <a:r>
              <a:rPr lang="en-US" dirty="0" err="1" smtClean="0"/>
              <a:t>TensorFlow</a:t>
            </a:r>
            <a:r>
              <a:rPr lang="en-US" dirty="0" smtClean="0"/>
              <a:t>.</a:t>
            </a:r>
            <a:br>
              <a:rPr lang="en-US" dirty="0" smtClean="0"/>
            </a:br>
            <a:r>
              <a:rPr lang="en-US" dirty="0" smtClean="0"/>
              <a:t>It allows you to easily define and train deep learning models with fewer lines of code.</a:t>
            </a:r>
          </a:p>
          <a:p>
            <a:pPr>
              <a:buFont typeface="Wingdings" pitchFamily="2" charset="2"/>
              <a:buChar char="v"/>
            </a:pPr>
            <a:endParaRPr lang="en-US" dirty="0" smtClean="0"/>
          </a:p>
          <a:p>
            <a:r>
              <a:rPr lang="en-US" dirty="0" smtClean="0"/>
              <a:t>A </a:t>
            </a:r>
            <a:r>
              <a:rPr lang="en-US" b="1" dirty="0" smtClean="0"/>
              <a:t>framework</a:t>
            </a:r>
            <a:r>
              <a:rPr lang="en-US" dirty="0" smtClean="0"/>
              <a:t> like </a:t>
            </a:r>
            <a:r>
              <a:rPr lang="en-US" dirty="0" err="1" smtClean="0"/>
              <a:t>TensorFlow</a:t>
            </a:r>
            <a:r>
              <a:rPr lang="en-US" dirty="0" smtClean="0"/>
              <a:t> is a </a:t>
            </a:r>
            <a:r>
              <a:rPr lang="en-US" i="1" dirty="0" smtClean="0"/>
              <a:t>big library system</a:t>
            </a:r>
            <a:r>
              <a:rPr lang="en-US" dirty="0" smtClean="0"/>
              <a:t> that may include many small libraries inside it (like </a:t>
            </a:r>
            <a:r>
              <a:rPr lang="en-US" dirty="0" err="1" smtClean="0"/>
              <a:t>Keras</a:t>
            </a:r>
            <a:r>
              <a:rPr lang="en-US" dirty="0" smtClean="0"/>
              <a:t>).</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384"/>
            <a:ext cx="9036496" cy="792088"/>
          </a:xfrm>
        </p:spPr>
        <p:txBody>
          <a:bodyPr>
            <a:normAutofit/>
          </a:bodyPr>
          <a:lstStyle/>
          <a:p>
            <a:r>
              <a:rPr lang="en-US" sz="3100" b="1" dirty="0" smtClean="0"/>
              <a:t>Implementation of Neural Network using </a:t>
            </a:r>
            <a:r>
              <a:rPr lang="en-US" sz="3100" b="1" dirty="0" err="1" smtClean="0"/>
              <a:t>TensorFlow</a:t>
            </a:r>
            <a:endParaRPr lang="en-US" dirty="0"/>
          </a:p>
        </p:txBody>
      </p:sp>
      <p:sp>
        <p:nvSpPr>
          <p:cNvPr id="3" name="Content Placeholder 2"/>
          <p:cNvSpPr>
            <a:spLocks noGrp="1"/>
          </p:cNvSpPr>
          <p:nvPr>
            <p:ph idx="1"/>
          </p:nvPr>
        </p:nvSpPr>
        <p:spPr>
          <a:xfrm>
            <a:off x="179512" y="692696"/>
            <a:ext cx="8784976" cy="5976664"/>
          </a:xfrm>
        </p:spPr>
        <p:txBody>
          <a:bodyPr numCol="2">
            <a:noAutofit/>
          </a:bodyPr>
          <a:lstStyle/>
          <a:p>
            <a:pPr>
              <a:buNone/>
            </a:pPr>
            <a:r>
              <a:rPr lang="en-US" sz="1400" dirty="0" smtClean="0"/>
              <a:t>import </a:t>
            </a:r>
            <a:r>
              <a:rPr lang="en-US" sz="1400" dirty="0" err="1" smtClean="0"/>
              <a:t>numpy</a:t>
            </a:r>
            <a:r>
              <a:rPr lang="en-US" sz="1400" dirty="0" smtClean="0"/>
              <a:t> as </a:t>
            </a:r>
            <a:r>
              <a:rPr lang="en-US" sz="1400" dirty="0" err="1" smtClean="0"/>
              <a:t>np</a:t>
            </a:r>
            <a:endParaRPr lang="en-US" sz="1400" dirty="0" smtClean="0"/>
          </a:p>
          <a:p>
            <a:pPr>
              <a:buNone/>
            </a:pPr>
            <a:r>
              <a:rPr lang="en-US" sz="1400" dirty="0" smtClean="0"/>
              <a:t>import pandas as pd</a:t>
            </a:r>
          </a:p>
          <a:p>
            <a:pPr>
              <a:buNone/>
            </a:pPr>
            <a:r>
              <a:rPr lang="en-US" sz="1400" dirty="0" smtClean="0"/>
              <a:t>from </a:t>
            </a:r>
            <a:r>
              <a:rPr lang="en-US" sz="1400" dirty="0" err="1" smtClean="0"/>
              <a:t>tensorflow.keras.models</a:t>
            </a:r>
            <a:r>
              <a:rPr lang="en-US" sz="1400" dirty="0" smtClean="0"/>
              <a:t> import Sequential</a:t>
            </a:r>
          </a:p>
          <a:p>
            <a:pPr>
              <a:buNone/>
            </a:pPr>
            <a:r>
              <a:rPr lang="en-US" sz="1400" dirty="0" smtClean="0"/>
              <a:t>from </a:t>
            </a:r>
            <a:r>
              <a:rPr lang="en-US" sz="1400" dirty="0" err="1" smtClean="0"/>
              <a:t>tensorflow.keras.layers</a:t>
            </a:r>
            <a:r>
              <a:rPr lang="en-US" sz="1400" dirty="0" smtClean="0"/>
              <a:t> import Dense</a:t>
            </a:r>
          </a:p>
          <a:p>
            <a:pPr>
              <a:buNone/>
            </a:pPr>
            <a:r>
              <a:rPr lang="en-US" sz="1400" dirty="0" smtClean="0"/>
              <a:t>data = {</a:t>
            </a:r>
          </a:p>
          <a:p>
            <a:pPr>
              <a:buNone/>
            </a:pPr>
            <a:r>
              <a:rPr lang="en-US" sz="1400" dirty="0" smtClean="0"/>
              <a:t>    'feature1': [0.1, 0.2, 0.3, 0.4, 0.5],</a:t>
            </a:r>
          </a:p>
          <a:p>
            <a:pPr>
              <a:buNone/>
            </a:pPr>
            <a:r>
              <a:rPr lang="en-US" sz="1400" dirty="0" smtClean="0"/>
              <a:t>    'feature2': [0.5, 0.4, 0.3, 0.2, 0.1],</a:t>
            </a:r>
          </a:p>
          <a:p>
            <a:pPr>
              <a:buNone/>
            </a:pPr>
            <a:r>
              <a:rPr lang="en-US" sz="1400" dirty="0" smtClean="0"/>
              <a:t>    'label': [0, 0, 1, 1, 1]  </a:t>
            </a:r>
          </a:p>
          <a:p>
            <a:pPr>
              <a:buNone/>
            </a:pPr>
            <a:r>
              <a:rPr lang="en-US" sz="1400" dirty="0" smtClean="0"/>
              <a:t>}</a:t>
            </a:r>
          </a:p>
          <a:p>
            <a:pPr>
              <a:buNone/>
            </a:pPr>
            <a:r>
              <a:rPr lang="en-US" sz="1400" dirty="0" err="1" smtClean="0"/>
              <a:t>df</a:t>
            </a:r>
            <a:r>
              <a:rPr lang="en-US" sz="1400" dirty="0" smtClean="0"/>
              <a:t> = </a:t>
            </a:r>
            <a:r>
              <a:rPr lang="en-US" sz="1400" dirty="0" err="1" smtClean="0"/>
              <a:t>pd.DataFrame</a:t>
            </a:r>
            <a:r>
              <a:rPr lang="en-US" sz="1400" dirty="0" smtClean="0"/>
              <a:t>(data)</a:t>
            </a:r>
          </a:p>
          <a:p>
            <a:pPr>
              <a:buNone/>
            </a:pPr>
            <a:r>
              <a:rPr lang="en-US" sz="1400" dirty="0" smtClean="0"/>
              <a:t>X = </a:t>
            </a:r>
            <a:r>
              <a:rPr lang="en-US" sz="1400" dirty="0" err="1" smtClean="0"/>
              <a:t>df</a:t>
            </a:r>
            <a:r>
              <a:rPr lang="en-US" sz="1400" dirty="0" smtClean="0"/>
              <a:t>[['feature1', 'feature2']].values </a:t>
            </a:r>
          </a:p>
          <a:p>
            <a:pPr>
              <a:buNone/>
            </a:pPr>
            <a:r>
              <a:rPr lang="en-US" sz="1400" dirty="0" smtClean="0"/>
              <a:t>y = </a:t>
            </a:r>
            <a:r>
              <a:rPr lang="en-US" sz="1400" dirty="0" err="1" smtClean="0"/>
              <a:t>df</a:t>
            </a:r>
            <a:r>
              <a:rPr lang="en-US" sz="1400" dirty="0" smtClean="0"/>
              <a:t>['label'].values </a:t>
            </a:r>
          </a:p>
          <a:p>
            <a:pPr>
              <a:buNone/>
            </a:pPr>
            <a:r>
              <a:rPr lang="en-US" sz="1400" dirty="0" smtClean="0">
                <a:solidFill>
                  <a:srgbClr val="0000FF"/>
                </a:solidFill>
              </a:rPr>
              <a:t>model = Sequential()</a:t>
            </a:r>
          </a:p>
          <a:p>
            <a:pPr>
              <a:buNone/>
            </a:pPr>
            <a:r>
              <a:rPr lang="en-US" sz="1400" dirty="0" err="1" smtClean="0">
                <a:solidFill>
                  <a:srgbClr val="0000FF"/>
                </a:solidFill>
              </a:rPr>
              <a:t>model.add</a:t>
            </a:r>
            <a:r>
              <a:rPr lang="en-US" sz="1400" dirty="0" smtClean="0">
                <a:solidFill>
                  <a:srgbClr val="0000FF"/>
                </a:solidFill>
              </a:rPr>
              <a:t>(Dense(8, </a:t>
            </a:r>
            <a:r>
              <a:rPr lang="en-US" sz="1400" dirty="0" err="1" smtClean="0">
                <a:solidFill>
                  <a:srgbClr val="0000FF"/>
                </a:solidFill>
              </a:rPr>
              <a:t>input_dim</a:t>
            </a:r>
            <a:r>
              <a:rPr lang="en-US" sz="1400" dirty="0" smtClean="0">
                <a:solidFill>
                  <a:srgbClr val="0000FF"/>
                </a:solidFill>
              </a:rPr>
              <a:t>=2, activation='</a:t>
            </a:r>
            <a:r>
              <a:rPr lang="en-US" sz="1400" dirty="0" err="1" smtClean="0">
                <a:solidFill>
                  <a:srgbClr val="0000FF"/>
                </a:solidFill>
              </a:rPr>
              <a:t>relu</a:t>
            </a:r>
            <a:r>
              <a:rPr lang="en-US" sz="1400" dirty="0" smtClean="0">
                <a:solidFill>
                  <a:srgbClr val="0000FF"/>
                </a:solidFill>
              </a:rPr>
              <a:t>'))  </a:t>
            </a:r>
          </a:p>
          <a:p>
            <a:pPr>
              <a:buNone/>
            </a:pPr>
            <a:r>
              <a:rPr lang="en-US" sz="1400" dirty="0" err="1" smtClean="0">
                <a:solidFill>
                  <a:srgbClr val="0000FF"/>
                </a:solidFill>
              </a:rPr>
              <a:t>model.add</a:t>
            </a:r>
            <a:r>
              <a:rPr lang="en-US" sz="1400" dirty="0" smtClean="0">
                <a:solidFill>
                  <a:srgbClr val="0000FF"/>
                </a:solidFill>
              </a:rPr>
              <a:t>(Dense(1, activation='sigmoid'))  </a:t>
            </a:r>
          </a:p>
          <a:p>
            <a:pPr>
              <a:buNone/>
            </a:pPr>
            <a:r>
              <a:rPr lang="en-US" sz="1400" dirty="0" err="1" smtClean="0"/>
              <a:t>model.compile</a:t>
            </a:r>
            <a:r>
              <a:rPr lang="en-US" sz="1400" dirty="0" smtClean="0"/>
              <a:t>(loss='</a:t>
            </a:r>
            <a:r>
              <a:rPr lang="en-US" sz="1400" dirty="0" err="1" smtClean="0"/>
              <a:t>binary_crossentropy</a:t>
            </a:r>
            <a:r>
              <a:rPr lang="en-US" sz="1400" dirty="0" smtClean="0"/>
              <a:t>', optimizer='</a:t>
            </a:r>
            <a:r>
              <a:rPr lang="en-US" sz="1400" dirty="0" err="1" smtClean="0"/>
              <a:t>adam</a:t>
            </a:r>
            <a:r>
              <a:rPr lang="en-US" sz="1400" dirty="0" smtClean="0"/>
              <a:t>', metrics=['accuracy'])</a:t>
            </a:r>
          </a:p>
          <a:p>
            <a:pPr>
              <a:buNone/>
            </a:pPr>
            <a:r>
              <a:rPr lang="en-US" sz="1400" dirty="0" smtClean="0"/>
              <a:t>model.fit(X, y, epochs=100, </a:t>
            </a:r>
            <a:r>
              <a:rPr lang="en-US" sz="1400" dirty="0" err="1" smtClean="0"/>
              <a:t>batch_size</a:t>
            </a:r>
            <a:r>
              <a:rPr lang="en-US" sz="1400" dirty="0" smtClean="0"/>
              <a:t>=1, verbose=1)</a:t>
            </a:r>
          </a:p>
          <a:p>
            <a:pPr>
              <a:buNone/>
            </a:pPr>
            <a:r>
              <a:rPr lang="en-US" sz="1400" dirty="0" smtClean="0"/>
              <a:t># Evaluate the model on the training data</a:t>
            </a:r>
          </a:p>
          <a:p>
            <a:pPr>
              <a:buNone/>
            </a:pPr>
            <a:r>
              <a:rPr lang="en-US" sz="1400" dirty="0" smtClean="0"/>
              <a:t>loss, accuracy = </a:t>
            </a:r>
            <a:r>
              <a:rPr lang="en-US" sz="1400" dirty="0" err="1" smtClean="0"/>
              <a:t>model.evaluate</a:t>
            </a:r>
            <a:r>
              <a:rPr lang="en-US" sz="1400" dirty="0" smtClean="0"/>
              <a:t>(X, y, verbose=0)</a:t>
            </a:r>
          </a:p>
          <a:p>
            <a:pPr>
              <a:buNone/>
            </a:pPr>
            <a:r>
              <a:rPr lang="en-US" sz="1400" dirty="0" smtClean="0"/>
              <a:t>print(</a:t>
            </a:r>
            <a:r>
              <a:rPr lang="en-US" sz="1400" dirty="0" err="1" smtClean="0"/>
              <a:t>f"Model</a:t>
            </a:r>
            <a:r>
              <a:rPr lang="en-US" sz="1400" dirty="0" smtClean="0"/>
              <a:t> Accuracy on Training Data: {accuracy * 100:.2f}%")</a:t>
            </a:r>
          </a:p>
          <a:p>
            <a:pPr>
              <a:buNone/>
            </a:pPr>
            <a:endParaRPr lang="en-US" sz="1400" dirty="0" smtClean="0"/>
          </a:p>
          <a:p>
            <a:pPr>
              <a:buNone/>
            </a:pPr>
            <a:r>
              <a:rPr lang="en-US" sz="1400" dirty="0" err="1" smtClean="0"/>
              <a:t>test_data</a:t>
            </a:r>
            <a:r>
              <a:rPr lang="en-US" sz="1400" dirty="0" smtClean="0"/>
              <a:t> = </a:t>
            </a:r>
            <a:r>
              <a:rPr lang="en-US" sz="1400" dirty="0" err="1" smtClean="0"/>
              <a:t>np.array</a:t>
            </a:r>
            <a:r>
              <a:rPr lang="en-US" sz="1400" dirty="0" smtClean="0"/>
              <a:t>([[0.2, 0.4]])  </a:t>
            </a:r>
          </a:p>
          <a:p>
            <a:pPr>
              <a:buNone/>
            </a:pPr>
            <a:r>
              <a:rPr lang="en-US" sz="1400" dirty="0" err="1" smtClean="0"/>
              <a:t>test_label</a:t>
            </a:r>
            <a:r>
              <a:rPr lang="en-US" sz="1400" dirty="0" smtClean="0"/>
              <a:t> = </a:t>
            </a:r>
            <a:r>
              <a:rPr lang="en-US" sz="1400" dirty="0" err="1" smtClean="0"/>
              <a:t>np.array</a:t>
            </a:r>
            <a:r>
              <a:rPr lang="en-US" sz="1400" dirty="0" smtClean="0"/>
              <a:t>([0])</a:t>
            </a:r>
          </a:p>
          <a:p>
            <a:pPr>
              <a:buNone/>
            </a:pPr>
            <a:r>
              <a:rPr lang="en-US" sz="1400" dirty="0" smtClean="0"/>
              <a:t>prediction = </a:t>
            </a:r>
            <a:r>
              <a:rPr lang="en-US" sz="1400" dirty="0" err="1" smtClean="0"/>
              <a:t>model.predict</a:t>
            </a:r>
            <a:r>
              <a:rPr lang="en-US" sz="1400" dirty="0" smtClean="0"/>
              <a:t>(</a:t>
            </a:r>
            <a:r>
              <a:rPr lang="en-US" sz="1400" dirty="0" err="1" smtClean="0"/>
              <a:t>test_data</a:t>
            </a:r>
            <a:r>
              <a:rPr lang="en-US" sz="1400" dirty="0" smtClean="0"/>
              <a:t>)</a:t>
            </a:r>
          </a:p>
          <a:p>
            <a:pPr>
              <a:buNone/>
            </a:pPr>
            <a:r>
              <a:rPr lang="en-US" sz="1400" dirty="0" err="1" smtClean="0"/>
              <a:t>predicted_label</a:t>
            </a:r>
            <a:r>
              <a:rPr lang="en-US" sz="1400" dirty="0" smtClean="0"/>
              <a:t> = (prediction &gt; 0.5).</a:t>
            </a:r>
            <a:r>
              <a:rPr lang="en-US" sz="1400" dirty="0" err="1" smtClean="0"/>
              <a:t>astype</a:t>
            </a:r>
            <a:r>
              <a:rPr lang="en-US" sz="1400" dirty="0" smtClean="0"/>
              <a:t>(</a:t>
            </a:r>
            <a:r>
              <a:rPr lang="en-US" sz="1400" dirty="0" err="1" smtClean="0"/>
              <a:t>int</a:t>
            </a:r>
            <a:r>
              <a:rPr lang="en-US" sz="1400" dirty="0" smtClean="0"/>
              <a:t>) </a:t>
            </a:r>
          </a:p>
          <a:p>
            <a:pPr>
              <a:buNone/>
            </a:pPr>
            <a:r>
              <a:rPr lang="en-US" sz="1400" dirty="0" smtClean="0"/>
              <a:t>print(</a:t>
            </a:r>
            <a:r>
              <a:rPr lang="en-US" sz="1400" dirty="0" err="1" smtClean="0"/>
              <a:t>f"Predicted</a:t>
            </a:r>
            <a:r>
              <a:rPr lang="en-US" sz="1400" dirty="0" smtClean="0"/>
              <a:t> label: {</a:t>
            </a:r>
            <a:r>
              <a:rPr lang="en-US" sz="1400" dirty="0" err="1" smtClean="0"/>
              <a:t>predicted_label</a:t>
            </a:r>
            <a:r>
              <a:rPr lang="en-US" sz="1400" dirty="0" smtClean="0"/>
              <a:t>[0][0]}")</a:t>
            </a:r>
          </a:p>
          <a:p>
            <a:pPr>
              <a:buNone/>
            </a:pPr>
            <a:endParaRPr lang="en-US" sz="1400" dirty="0" smtClean="0"/>
          </a:p>
          <a:p>
            <a:pPr>
              <a:buNone/>
            </a:pPr>
            <a:r>
              <a:rPr lang="en-US" sz="1400" dirty="0" smtClean="0"/>
              <a:t># Evaluate the model on the </a:t>
            </a:r>
            <a:r>
              <a:rPr lang="en-US" sz="1400" dirty="0" err="1" smtClean="0"/>
              <a:t>testdata</a:t>
            </a:r>
            <a:endParaRPr lang="en-US" sz="1400" dirty="0" smtClean="0"/>
          </a:p>
          <a:p>
            <a:pPr>
              <a:buNone/>
            </a:pPr>
            <a:r>
              <a:rPr lang="en-US" sz="1400" dirty="0" smtClean="0"/>
              <a:t>loss, accuracy = </a:t>
            </a:r>
            <a:r>
              <a:rPr lang="en-US" sz="1400" dirty="0" err="1" smtClean="0"/>
              <a:t>model.evaluate</a:t>
            </a:r>
            <a:r>
              <a:rPr lang="en-US" sz="1400" dirty="0" smtClean="0"/>
              <a:t>(</a:t>
            </a:r>
            <a:r>
              <a:rPr lang="en-US" sz="1400" dirty="0" err="1" smtClean="0"/>
              <a:t>test_data</a:t>
            </a:r>
            <a:r>
              <a:rPr lang="en-US" sz="1400" dirty="0" smtClean="0"/>
              <a:t>, </a:t>
            </a:r>
            <a:r>
              <a:rPr lang="en-US" sz="1400" dirty="0" err="1" smtClean="0"/>
              <a:t>test_label,verbose</a:t>
            </a:r>
            <a:r>
              <a:rPr lang="en-US" sz="1400" dirty="0" smtClean="0"/>
              <a:t>=0)</a:t>
            </a:r>
          </a:p>
          <a:p>
            <a:pPr>
              <a:buNone/>
            </a:pPr>
            <a:r>
              <a:rPr lang="en-US" sz="1400" dirty="0" smtClean="0"/>
              <a:t>print(</a:t>
            </a:r>
            <a:r>
              <a:rPr lang="en-US" sz="1400" dirty="0" err="1" smtClean="0"/>
              <a:t>f"Test</a:t>
            </a:r>
            <a:r>
              <a:rPr lang="en-US" sz="1400" dirty="0" smtClean="0"/>
              <a:t> Accuracy: {accuracy * 100:.2f}%")</a:t>
            </a:r>
          </a:p>
          <a:p>
            <a:pPr>
              <a:buNone/>
            </a:pPr>
            <a:r>
              <a:rPr lang="en-US" sz="1400" dirty="0" smtClean="0"/>
              <a:t>Note:</a:t>
            </a:r>
          </a:p>
          <a:p>
            <a:pPr>
              <a:buNone/>
            </a:pPr>
            <a:r>
              <a:rPr lang="en-US" sz="1400" dirty="0" smtClean="0"/>
              <a:t>Verbose=0(silent mode- no output printed)</a:t>
            </a:r>
          </a:p>
          <a:p>
            <a:pPr>
              <a:buNone/>
            </a:pPr>
            <a:r>
              <a:rPr lang="en-US" sz="1400" dirty="0" smtClean="0"/>
              <a:t>1 (</a:t>
            </a:r>
            <a:r>
              <a:rPr lang="en-US" sz="1400" b="1" dirty="0" smtClean="0"/>
              <a:t>Progress bar</a:t>
            </a:r>
            <a:r>
              <a:rPr lang="en-US" sz="1400" dirty="0" smtClean="0"/>
              <a:t> (default))</a:t>
            </a:r>
          </a:p>
          <a:p>
            <a:pPr>
              <a:buNone/>
            </a:pPr>
            <a:r>
              <a:rPr lang="en-US" sz="1400" dirty="0" smtClean="0"/>
              <a:t>2 (One line per epoch)</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640960" cy="6408712"/>
          </a:xfrm>
        </p:spPr>
        <p:txBody>
          <a:bodyPr>
            <a:normAutofit fontScale="40000" lnSpcReduction="20000"/>
          </a:bodyPr>
          <a:lstStyle/>
          <a:p>
            <a:pPr>
              <a:buNone/>
            </a:pPr>
            <a:r>
              <a:rPr lang="en-US" dirty="0" smtClean="0"/>
              <a:t>Iris Dataset </a:t>
            </a:r>
            <a:r>
              <a:rPr lang="en-US" dirty="0" smtClean="0">
                <a:hlinkClick r:id="rId2"/>
              </a:rPr>
              <a:t>https://raw.githubusercontent.com/mwaskom/seaborn-data/master/iris.csv</a:t>
            </a:r>
            <a:endParaRPr lang="en-US" dirty="0" smtClean="0"/>
          </a:p>
          <a:p>
            <a:pPr>
              <a:buNone/>
            </a:pPr>
            <a:endParaRPr lang="en-US" dirty="0" smtClean="0"/>
          </a:p>
          <a:p>
            <a:pPr>
              <a:buNone/>
            </a:pPr>
            <a:r>
              <a:rPr lang="en-US" dirty="0" smtClean="0"/>
              <a:t>The method drop() is used to </a:t>
            </a:r>
            <a:r>
              <a:rPr lang="en-US" b="1" dirty="0" smtClean="0"/>
              <a:t>remove a column or row</a:t>
            </a:r>
            <a:r>
              <a:rPr lang="en-US" dirty="0" smtClean="0"/>
              <a:t> from a </a:t>
            </a:r>
            <a:r>
              <a:rPr lang="en-US" dirty="0" err="1" smtClean="0"/>
              <a:t>DataFrame</a:t>
            </a:r>
            <a:r>
              <a:rPr lang="en-US" dirty="0" smtClean="0"/>
              <a:t>.</a:t>
            </a:r>
            <a:endParaRPr lang="en-US" smtClean="0"/>
          </a:p>
          <a:p>
            <a:pPr>
              <a:buNone/>
            </a:pPr>
            <a:endParaRPr lang="en-US" dirty="0" smtClean="0"/>
          </a:p>
          <a:p>
            <a:pPr>
              <a:buNone/>
            </a:pPr>
            <a:r>
              <a:rPr lang="en-US" b="1" u="sng" dirty="0" err="1" smtClean="0"/>
              <a:t>LabelEncode</a:t>
            </a:r>
            <a:r>
              <a:rPr lang="en-US" dirty="0" err="1" smtClean="0"/>
              <a:t>r</a:t>
            </a:r>
            <a:r>
              <a:rPr lang="en-US" dirty="0" smtClean="0"/>
              <a:t> is a tool from </a:t>
            </a:r>
            <a:r>
              <a:rPr lang="en-US" dirty="0" err="1" smtClean="0"/>
              <a:t>sklearn.preprocessing</a:t>
            </a:r>
            <a:r>
              <a:rPr lang="en-US" dirty="0" smtClean="0"/>
              <a:t> that </a:t>
            </a:r>
            <a:r>
              <a:rPr lang="en-US" b="1" dirty="0" smtClean="0">
                <a:solidFill>
                  <a:srgbClr val="0000FF"/>
                </a:solidFill>
              </a:rPr>
              <a:t>converts categorical labels</a:t>
            </a:r>
            <a:r>
              <a:rPr lang="en-US" b="1" dirty="0" smtClean="0"/>
              <a:t> (text)</a:t>
            </a:r>
            <a:r>
              <a:rPr lang="en-US" dirty="0" smtClean="0"/>
              <a:t> into </a:t>
            </a:r>
            <a:r>
              <a:rPr lang="en-US" b="1" dirty="0" smtClean="0">
                <a:solidFill>
                  <a:srgbClr val="0000FF"/>
                </a:solidFill>
              </a:rPr>
              <a:t>numerical values</a:t>
            </a:r>
            <a:r>
              <a:rPr lang="en-US" dirty="0" smtClean="0"/>
              <a:t>.</a:t>
            </a:r>
          </a:p>
          <a:p>
            <a:r>
              <a:rPr lang="en-US" dirty="0" smtClean="0"/>
              <a:t>Neural networks and most ML algorithms cannot work with text labels directly - they need numeric input. So, convert categories like "</a:t>
            </a:r>
            <a:r>
              <a:rPr lang="en-US" dirty="0" err="1" smtClean="0"/>
              <a:t>setosa</a:t>
            </a:r>
            <a:r>
              <a:rPr lang="en-US" dirty="0" smtClean="0"/>
              <a:t>", "</a:t>
            </a:r>
            <a:r>
              <a:rPr lang="en-US" dirty="0" err="1" smtClean="0"/>
              <a:t>versicolor</a:t>
            </a:r>
            <a:r>
              <a:rPr lang="en-US" dirty="0" smtClean="0"/>
              <a:t>", "</a:t>
            </a:r>
            <a:r>
              <a:rPr lang="en-US" dirty="0" err="1" smtClean="0"/>
              <a:t>virginica</a:t>
            </a:r>
            <a:r>
              <a:rPr lang="en-US" dirty="0" smtClean="0"/>
              <a:t>" into integers like 0, 1, 2.</a:t>
            </a:r>
          </a:p>
          <a:p>
            <a:endParaRPr lang="en-US" dirty="0" smtClean="0"/>
          </a:p>
          <a:p>
            <a:pPr>
              <a:buNone/>
            </a:pPr>
            <a:r>
              <a:rPr lang="en-US" b="1" dirty="0" err="1" smtClean="0"/>
              <a:t>fit_transform</a:t>
            </a:r>
            <a:r>
              <a:rPr lang="en-US" b="1" dirty="0" smtClean="0"/>
              <a:t>() : </a:t>
            </a:r>
            <a:r>
              <a:rPr lang="en-US" dirty="0" smtClean="0"/>
              <a:t>Two Steps in One</a:t>
            </a:r>
          </a:p>
          <a:p>
            <a:pPr>
              <a:buNone/>
            </a:pPr>
            <a:r>
              <a:rPr lang="en-US" b="1" dirty="0" smtClean="0"/>
              <a:t>fit() : Learns</a:t>
            </a:r>
            <a:r>
              <a:rPr lang="en-US" dirty="0" smtClean="0"/>
              <a:t> the unique labels in the data.</a:t>
            </a:r>
          </a:p>
          <a:p>
            <a:pPr>
              <a:buNone/>
            </a:pPr>
            <a:r>
              <a:rPr lang="en-US" dirty="0" smtClean="0"/>
              <a:t>For example, from: ['</a:t>
            </a:r>
            <a:r>
              <a:rPr lang="en-US" dirty="0" err="1" smtClean="0"/>
              <a:t>setosa</a:t>
            </a:r>
            <a:r>
              <a:rPr lang="en-US" dirty="0" smtClean="0"/>
              <a:t>', '</a:t>
            </a:r>
            <a:r>
              <a:rPr lang="en-US" dirty="0" err="1" smtClean="0"/>
              <a:t>versicolor</a:t>
            </a:r>
            <a:r>
              <a:rPr lang="en-US" dirty="0" smtClean="0"/>
              <a:t>', '</a:t>
            </a:r>
            <a:r>
              <a:rPr lang="en-US" dirty="0" err="1" smtClean="0"/>
              <a:t>virginica</a:t>
            </a:r>
            <a:r>
              <a:rPr lang="en-US" dirty="0" smtClean="0"/>
              <a:t>'] </a:t>
            </a:r>
          </a:p>
          <a:p>
            <a:pPr>
              <a:buNone/>
            </a:pPr>
            <a:r>
              <a:rPr lang="en-US" dirty="0" smtClean="0"/>
              <a:t>it learns: {'</a:t>
            </a:r>
            <a:r>
              <a:rPr lang="en-US" dirty="0" err="1" smtClean="0"/>
              <a:t>setosa</a:t>
            </a:r>
            <a:r>
              <a:rPr lang="en-US" dirty="0" smtClean="0"/>
              <a:t>': 0, '</a:t>
            </a:r>
            <a:r>
              <a:rPr lang="en-US" dirty="0" err="1" smtClean="0"/>
              <a:t>versicolor</a:t>
            </a:r>
            <a:r>
              <a:rPr lang="en-US" dirty="0" smtClean="0"/>
              <a:t>': 1, '</a:t>
            </a:r>
            <a:r>
              <a:rPr lang="en-US" dirty="0" err="1" smtClean="0"/>
              <a:t>virginica</a:t>
            </a:r>
            <a:r>
              <a:rPr lang="en-US" dirty="0" smtClean="0"/>
              <a:t>': 2}</a:t>
            </a:r>
          </a:p>
          <a:p>
            <a:pPr>
              <a:buNone/>
            </a:pPr>
            <a:endParaRPr lang="en-US" dirty="0" smtClean="0"/>
          </a:p>
          <a:p>
            <a:pPr>
              <a:buNone/>
            </a:pPr>
            <a:r>
              <a:rPr lang="en-US" b="1" dirty="0" smtClean="0"/>
              <a:t>transform() : Applies</a:t>
            </a:r>
            <a:r>
              <a:rPr lang="en-US" dirty="0" smtClean="0"/>
              <a:t> the learned mapping to convert the labels to numbers.</a:t>
            </a:r>
          </a:p>
          <a:p>
            <a:pPr>
              <a:buNone/>
            </a:pPr>
            <a:r>
              <a:rPr lang="en-US" dirty="0" smtClean="0"/>
              <a:t>So it changes this: ['</a:t>
            </a:r>
            <a:r>
              <a:rPr lang="en-US" dirty="0" err="1" smtClean="0"/>
              <a:t>setosa</a:t>
            </a:r>
            <a:r>
              <a:rPr lang="en-US" dirty="0" smtClean="0"/>
              <a:t>', '</a:t>
            </a:r>
            <a:r>
              <a:rPr lang="en-US" dirty="0" err="1" smtClean="0"/>
              <a:t>setosa</a:t>
            </a:r>
            <a:r>
              <a:rPr lang="en-US" dirty="0" smtClean="0"/>
              <a:t>', '</a:t>
            </a:r>
            <a:r>
              <a:rPr lang="en-US" dirty="0" err="1" smtClean="0"/>
              <a:t>versicolor</a:t>
            </a:r>
            <a:r>
              <a:rPr lang="en-US" dirty="0" smtClean="0"/>
              <a:t>', '</a:t>
            </a:r>
            <a:r>
              <a:rPr lang="en-US" dirty="0" err="1" smtClean="0"/>
              <a:t>virginica</a:t>
            </a:r>
            <a:r>
              <a:rPr lang="en-US" dirty="0" smtClean="0"/>
              <a:t>']  into: [0, 0, 1, 2]</a:t>
            </a:r>
          </a:p>
          <a:p>
            <a:pPr>
              <a:buNone/>
            </a:pPr>
            <a:endParaRPr lang="en-US" dirty="0" smtClean="0"/>
          </a:p>
          <a:p>
            <a:pPr>
              <a:buNone/>
            </a:pPr>
            <a:r>
              <a:rPr lang="en-US" b="1" u="sng" dirty="0" smtClean="0"/>
              <a:t>Equivalent Code Without </a:t>
            </a:r>
            <a:r>
              <a:rPr lang="en-US" b="1" u="sng" dirty="0" err="1" smtClean="0"/>
              <a:t>fit_transform</a:t>
            </a:r>
            <a:r>
              <a:rPr lang="en-US" b="1" u="sng" dirty="0" smtClean="0"/>
              <a:t>()</a:t>
            </a:r>
          </a:p>
          <a:p>
            <a:pPr>
              <a:buNone/>
            </a:pPr>
            <a:r>
              <a:rPr lang="en-US" dirty="0" err="1" smtClean="0"/>
              <a:t>label_encoder</a:t>
            </a:r>
            <a:r>
              <a:rPr lang="en-US" dirty="0" smtClean="0"/>
              <a:t> = </a:t>
            </a:r>
            <a:r>
              <a:rPr lang="en-US" dirty="0" err="1" smtClean="0"/>
              <a:t>LabelEncoder</a:t>
            </a:r>
            <a:r>
              <a:rPr lang="en-US" dirty="0" smtClean="0"/>
              <a:t>()</a:t>
            </a:r>
          </a:p>
          <a:p>
            <a:pPr>
              <a:buNone/>
            </a:pPr>
            <a:r>
              <a:rPr lang="en-US" dirty="0" smtClean="0"/>
              <a:t>label_encoder.fit(</a:t>
            </a:r>
            <a:r>
              <a:rPr lang="en-US" dirty="0" err="1" smtClean="0"/>
              <a:t>df</a:t>
            </a:r>
            <a:r>
              <a:rPr lang="en-US" dirty="0" smtClean="0"/>
              <a:t>['species'])        # Learn mapping</a:t>
            </a:r>
          </a:p>
          <a:p>
            <a:pPr>
              <a:buNone/>
            </a:pPr>
            <a:r>
              <a:rPr lang="en-US" dirty="0" err="1" smtClean="0"/>
              <a:t>df</a:t>
            </a:r>
            <a:r>
              <a:rPr lang="en-US" dirty="0" smtClean="0"/>
              <a:t>['species'] = </a:t>
            </a:r>
            <a:r>
              <a:rPr lang="en-US" dirty="0" err="1" smtClean="0"/>
              <a:t>label_encoder.transform</a:t>
            </a:r>
            <a:r>
              <a:rPr lang="en-US" dirty="0" smtClean="0"/>
              <a:t>(</a:t>
            </a:r>
            <a:r>
              <a:rPr lang="en-US" dirty="0" err="1" smtClean="0"/>
              <a:t>df</a:t>
            </a:r>
            <a:r>
              <a:rPr lang="en-US" dirty="0" smtClean="0"/>
              <a:t>['species'])  # Apply mapping</a:t>
            </a:r>
          </a:p>
          <a:p>
            <a:pPr>
              <a:buNone/>
            </a:pPr>
            <a:endParaRPr lang="en-US" dirty="0" smtClean="0"/>
          </a:p>
          <a:p>
            <a:pPr>
              <a:buNone/>
            </a:pPr>
            <a:r>
              <a:rPr lang="en-US" b="1" dirty="0" smtClean="0"/>
              <a:t>What is One-Hot Encoding?</a:t>
            </a:r>
          </a:p>
          <a:p>
            <a:r>
              <a:rPr lang="en-US" dirty="0" smtClean="0"/>
              <a:t>One-hot encoding is a technique used to </a:t>
            </a:r>
            <a:r>
              <a:rPr lang="en-US" b="1" dirty="0" smtClean="0"/>
              <a:t>convert categorical labels</a:t>
            </a:r>
            <a:r>
              <a:rPr lang="en-US" dirty="0" smtClean="0"/>
              <a:t> (like class names or numbers) into a </a:t>
            </a:r>
            <a:r>
              <a:rPr lang="en-US" b="1" dirty="0" smtClean="0"/>
              <a:t>binary matrix</a:t>
            </a:r>
            <a:r>
              <a:rPr lang="en-US" dirty="0" smtClean="0"/>
              <a:t> that deep learning models can understand.</a:t>
            </a:r>
          </a:p>
          <a:p>
            <a:pPr>
              <a:buNone/>
            </a:pPr>
            <a:endParaRPr lang="en-US" dirty="0" smtClean="0"/>
          </a:p>
          <a:p>
            <a:pPr>
              <a:buNone/>
            </a:pPr>
            <a:endParaRPr lang="en-US" dirty="0" smtClean="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6632"/>
            <a:ext cx="8640960" cy="6480720"/>
          </a:xfrm>
        </p:spPr>
        <p:txBody>
          <a:bodyPr numCol="2">
            <a:normAutofit fontScale="32500" lnSpcReduction="20000"/>
          </a:bodyPr>
          <a:lstStyle/>
          <a:p>
            <a:pPr>
              <a:buNone/>
            </a:pPr>
            <a:r>
              <a:rPr lang="en-US" dirty="0" smtClean="0"/>
              <a:t>import pandas as pd</a:t>
            </a:r>
          </a:p>
          <a:p>
            <a:pPr>
              <a:buNone/>
            </a:pPr>
            <a:r>
              <a:rPr lang="en-US" dirty="0" smtClean="0"/>
              <a:t>import </a:t>
            </a:r>
            <a:r>
              <a:rPr lang="en-US" dirty="0" err="1" smtClean="0"/>
              <a:t>numpy</a:t>
            </a:r>
            <a:r>
              <a:rPr lang="en-US" dirty="0" smtClean="0"/>
              <a:t> as </a:t>
            </a:r>
            <a:r>
              <a:rPr lang="en-US" dirty="0" err="1" smtClean="0"/>
              <a:t>np</a:t>
            </a:r>
            <a:endParaRPr lang="en-US" dirty="0" smtClean="0"/>
          </a:p>
          <a:p>
            <a:pPr>
              <a:buNone/>
            </a:pPr>
            <a:r>
              <a:rPr lang="en-US" dirty="0" smtClean="0"/>
              <a:t>from </a:t>
            </a:r>
            <a:r>
              <a:rPr lang="en-US" dirty="0" err="1" smtClean="0"/>
              <a:t>sklearn.model_selection</a:t>
            </a:r>
            <a:r>
              <a:rPr lang="en-US" dirty="0" smtClean="0"/>
              <a:t> import </a:t>
            </a:r>
            <a:r>
              <a:rPr lang="en-US" dirty="0" err="1" smtClean="0"/>
              <a:t>train_test_split</a:t>
            </a:r>
            <a:endParaRPr lang="en-US" dirty="0" smtClean="0"/>
          </a:p>
          <a:p>
            <a:pPr>
              <a:buNone/>
            </a:pPr>
            <a:r>
              <a:rPr lang="en-US" dirty="0" smtClean="0"/>
              <a:t>from </a:t>
            </a:r>
            <a:r>
              <a:rPr lang="en-US" dirty="0" err="1" smtClean="0"/>
              <a:t>sklearn.preprocessing</a:t>
            </a:r>
            <a:r>
              <a:rPr lang="en-US" dirty="0" smtClean="0"/>
              <a:t> import </a:t>
            </a:r>
            <a:r>
              <a:rPr lang="en-US" dirty="0" err="1" smtClean="0"/>
              <a:t>LabelEncoder</a:t>
            </a:r>
            <a:endParaRPr lang="en-US" dirty="0" smtClean="0"/>
          </a:p>
          <a:p>
            <a:pPr>
              <a:buNone/>
            </a:pPr>
            <a:r>
              <a:rPr lang="en-US" dirty="0" smtClean="0"/>
              <a:t>from </a:t>
            </a:r>
            <a:r>
              <a:rPr lang="en-US" dirty="0" err="1" smtClean="0"/>
              <a:t>tensorflow.keras.models</a:t>
            </a:r>
            <a:r>
              <a:rPr lang="en-US" dirty="0" smtClean="0"/>
              <a:t> import Sequential</a:t>
            </a:r>
          </a:p>
          <a:p>
            <a:pPr>
              <a:buNone/>
            </a:pPr>
            <a:r>
              <a:rPr lang="en-US" dirty="0" smtClean="0"/>
              <a:t>from </a:t>
            </a:r>
            <a:r>
              <a:rPr lang="en-US" dirty="0" err="1" smtClean="0"/>
              <a:t>tensorflow.keras.layers</a:t>
            </a:r>
            <a:r>
              <a:rPr lang="en-US" dirty="0" smtClean="0"/>
              <a:t> import Dense</a:t>
            </a:r>
          </a:p>
          <a:p>
            <a:pPr>
              <a:buNone/>
            </a:pPr>
            <a:endParaRPr lang="en-US" dirty="0" smtClean="0"/>
          </a:p>
          <a:p>
            <a:pPr>
              <a:buNone/>
            </a:pPr>
            <a:r>
              <a:rPr lang="en-US" dirty="0" smtClean="0"/>
              <a:t># Step 1: Load CSV data into a </a:t>
            </a:r>
            <a:r>
              <a:rPr lang="en-US" dirty="0" err="1" smtClean="0"/>
              <a:t>DataFrame</a:t>
            </a:r>
            <a:endParaRPr lang="en-US" dirty="0" smtClean="0"/>
          </a:p>
          <a:p>
            <a:pPr>
              <a:buNone/>
            </a:pPr>
            <a:r>
              <a:rPr lang="en-US" dirty="0" err="1" smtClean="0"/>
              <a:t>url</a:t>
            </a:r>
            <a:r>
              <a:rPr lang="en-US" dirty="0" smtClean="0"/>
              <a:t> = "https://raw.githubusercontent.com/mwaskom/seaborn-data/master/iris.csv"</a:t>
            </a:r>
          </a:p>
          <a:p>
            <a:pPr>
              <a:buNone/>
            </a:pPr>
            <a:r>
              <a:rPr lang="en-US" dirty="0" err="1" smtClean="0"/>
              <a:t>df</a:t>
            </a:r>
            <a:r>
              <a:rPr lang="en-US" dirty="0" smtClean="0"/>
              <a:t> = </a:t>
            </a:r>
            <a:r>
              <a:rPr lang="en-US" dirty="0" err="1" smtClean="0"/>
              <a:t>pd.read_csv</a:t>
            </a:r>
            <a:r>
              <a:rPr lang="en-US" dirty="0" smtClean="0"/>
              <a:t>(</a:t>
            </a:r>
            <a:r>
              <a:rPr lang="en-US" dirty="0" err="1" smtClean="0"/>
              <a:t>url</a:t>
            </a:r>
            <a:r>
              <a:rPr lang="en-US" dirty="0" smtClean="0"/>
              <a:t>)</a:t>
            </a:r>
          </a:p>
          <a:p>
            <a:pPr>
              <a:buNone/>
            </a:pPr>
            <a:endParaRPr lang="en-US" dirty="0" smtClean="0"/>
          </a:p>
          <a:p>
            <a:pPr>
              <a:buNone/>
            </a:pPr>
            <a:r>
              <a:rPr lang="en-US" dirty="0" smtClean="0"/>
              <a:t>print(</a:t>
            </a:r>
            <a:r>
              <a:rPr lang="en-US" dirty="0" err="1" smtClean="0"/>
              <a:t>df.head</a:t>
            </a:r>
            <a:r>
              <a:rPr lang="en-US" dirty="0" smtClean="0"/>
              <a:t>())  # View first few rows</a:t>
            </a:r>
          </a:p>
          <a:p>
            <a:pPr>
              <a:buNone/>
            </a:pPr>
            <a:endParaRPr lang="en-US" dirty="0" smtClean="0"/>
          </a:p>
          <a:p>
            <a:pPr>
              <a:buNone/>
            </a:pPr>
            <a:r>
              <a:rPr lang="en-US" dirty="0" smtClean="0"/>
              <a:t># Step 2: Encode target labels (species column)</a:t>
            </a:r>
          </a:p>
          <a:p>
            <a:pPr>
              <a:buNone/>
            </a:pPr>
            <a:r>
              <a:rPr lang="en-US" dirty="0" err="1" smtClean="0"/>
              <a:t>label_encoder</a:t>
            </a:r>
            <a:r>
              <a:rPr lang="en-US" dirty="0" smtClean="0"/>
              <a:t> = </a:t>
            </a:r>
            <a:r>
              <a:rPr lang="en-US" dirty="0" err="1" smtClean="0"/>
              <a:t>LabelEncoder</a:t>
            </a:r>
            <a:r>
              <a:rPr lang="en-US" dirty="0" smtClean="0"/>
              <a:t>()</a:t>
            </a:r>
          </a:p>
          <a:p>
            <a:pPr>
              <a:buNone/>
            </a:pPr>
            <a:r>
              <a:rPr lang="en-US" dirty="0" err="1" smtClean="0"/>
              <a:t>df</a:t>
            </a:r>
            <a:r>
              <a:rPr lang="en-US" dirty="0" smtClean="0"/>
              <a:t>['species'] = </a:t>
            </a:r>
            <a:r>
              <a:rPr lang="en-US" dirty="0" err="1" smtClean="0"/>
              <a:t>label_encoder.fit_transform</a:t>
            </a:r>
            <a:r>
              <a:rPr lang="en-US" dirty="0" smtClean="0"/>
              <a:t>(</a:t>
            </a:r>
            <a:r>
              <a:rPr lang="en-US" dirty="0" err="1" smtClean="0"/>
              <a:t>df</a:t>
            </a:r>
            <a:r>
              <a:rPr lang="en-US" dirty="0" smtClean="0"/>
              <a:t>['species'])</a:t>
            </a:r>
          </a:p>
          <a:p>
            <a:pPr>
              <a:buNone/>
            </a:pPr>
            <a:endParaRPr lang="en-US" dirty="0" smtClean="0"/>
          </a:p>
          <a:p>
            <a:pPr>
              <a:buNone/>
            </a:pPr>
            <a:r>
              <a:rPr lang="en-US" dirty="0" smtClean="0"/>
              <a:t># Step 3: Split into features (X) and target (y)</a:t>
            </a:r>
          </a:p>
          <a:p>
            <a:pPr>
              <a:buNone/>
            </a:pPr>
            <a:r>
              <a:rPr lang="en-US" dirty="0" smtClean="0"/>
              <a:t>X = </a:t>
            </a:r>
            <a:r>
              <a:rPr lang="en-US" dirty="0" err="1" smtClean="0"/>
              <a:t>df.drop</a:t>
            </a:r>
            <a:r>
              <a:rPr lang="en-US" dirty="0" smtClean="0"/>
              <a:t>('species', axis=1).values  # Features</a:t>
            </a:r>
          </a:p>
          <a:p>
            <a:pPr>
              <a:buNone/>
            </a:pPr>
            <a:r>
              <a:rPr lang="en-US" dirty="0" smtClean="0"/>
              <a:t>y = </a:t>
            </a:r>
            <a:r>
              <a:rPr lang="en-US" dirty="0" err="1" smtClean="0"/>
              <a:t>df</a:t>
            </a:r>
            <a:r>
              <a:rPr lang="en-US" dirty="0" smtClean="0"/>
              <a:t>['species'].values               # Labels</a:t>
            </a:r>
          </a:p>
          <a:p>
            <a:pPr>
              <a:buNone/>
            </a:pPr>
            <a:endParaRPr lang="en-US" dirty="0" smtClean="0"/>
          </a:p>
          <a:p>
            <a:pPr>
              <a:buNone/>
            </a:pPr>
            <a:r>
              <a:rPr lang="en-US" dirty="0" smtClean="0"/>
              <a:t># Step 4: Train-test split</a:t>
            </a:r>
          </a:p>
          <a:p>
            <a:pPr>
              <a:buNone/>
            </a:pPr>
            <a:r>
              <a:rPr lang="en-US" dirty="0" err="1" smtClean="0"/>
              <a:t>X_train</a:t>
            </a:r>
            <a:r>
              <a:rPr lang="en-US" dirty="0" smtClean="0"/>
              <a:t>, </a:t>
            </a:r>
            <a:r>
              <a:rPr lang="en-US" dirty="0" err="1" smtClean="0"/>
              <a:t>X_test</a:t>
            </a:r>
            <a:r>
              <a:rPr lang="en-US" dirty="0" smtClean="0"/>
              <a:t>, </a:t>
            </a:r>
            <a:r>
              <a:rPr lang="en-US" dirty="0" err="1" smtClean="0"/>
              <a:t>y_train</a:t>
            </a:r>
            <a:r>
              <a:rPr lang="en-US" dirty="0" smtClean="0"/>
              <a:t>, </a:t>
            </a:r>
            <a:r>
              <a:rPr lang="en-US" dirty="0" err="1" smtClean="0"/>
              <a:t>y_test</a:t>
            </a:r>
            <a:r>
              <a:rPr lang="en-US" dirty="0" smtClean="0"/>
              <a:t> = </a:t>
            </a:r>
            <a:r>
              <a:rPr lang="en-US" dirty="0" err="1" smtClean="0"/>
              <a:t>train_test_split</a:t>
            </a:r>
            <a:r>
              <a:rPr lang="en-US" dirty="0" smtClean="0"/>
              <a:t>(X, y, </a:t>
            </a:r>
            <a:r>
              <a:rPr lang="en-US" dirty="0" err="1" smtClean="0"/>
              <a:t>test_size</a:t>
            </a:r>
            <a:r>
              <a:rPr lang="en-US" dirty="0" smtClean="0"/>
              <a:t>=0.2, </a:t>
            </a:r>
            <a:r>
              <a:rPr lang="en-US" dirty="0" err="1" smtClean="0"/>
              <a:t>random_state</a:t>
            </a:r>
            <a:r>
              <a:rPr lang="en-US" dirty="0" smtClean="0"/>
              <a:t>=42)</a:t>
            </a:r>
          </a:p>
          <a:p>
            <a:pPr>
              <a:buNone/>
            </a:pPr>
            <a:endParaRPr lang="en-US" dirty="0" smtClean="0"/>
          </a:p>
          <a:p>
            <a:pPr>
              <a:buNone/>
            </a:pPr>
            <a:r>
              <a:rPr lang="en-US" dirty="0" smtClean="0"/>
              <a:t># Step 5: One-hot encode the target variable</a:t>
            </a:r>
          </a:p>
          <a:p>
            <a:pPr>
              <a:buNone/>
            </a:pPr>
            <a:r>
              <a:rPr lang="en-US" dirty="0" smtClean="0"/>
              <a:t>from </a:t>
            </a:r>
            <a:r>
              <a:rPr lang="en-US" dirty="0" err="1" smtClean="0"/>
              <a:t>tensorflow.keras.utils</a:t>
            </a:r>
            <a:r>
              <a:rPr lang="en-US" dirty="0" smtClean="0"/>
              <a:t> import </a:t>
            </a:r>
            <a:r>
              <a:rPr lang="en-US" dirty="0" err="1" smtClean="0"/>
              <a:t>to_categorical</a:t>
            </a:r>
            <a:endParaRPr lang="en-US" dirty="0" smtClean="0"/>
          </a:p>
          <a:p>
            <a:pPr>
              <a:buNone/>
            </a:pPr>
            <a:r>
              <a:rPr lang="en-US" dirty="0" err="1" smtClean="0"/>
              <a:t>y_train</a:t>
            </a:r>
            <a:r>
              <a:rPr lang="en-US" dirty="0" smtClean="0"/>
              <a:t> = </a:t>
            </a:r>
            <a:r>
              <a:rPr lang="en-US" dirty="0" err="1" smtClean="0"/>
              <a:t>to_categorical</a:t>
            </a:r>
            <a:r>
              <a:rPr lang="en-US" dirty="0" smtClean="0"/>
              <a:t>(</a:t>
            </a:r>
            <a:r>
              <a:rPr lang="en-US" dirty="0" err="1" smtClean="0"/>
              <a:t>y_train</a:t>
            </a:r>
            <a:r>
              <a:rPr lang="en-US" dirty="0" smtClean="0"/>
              <a:t>)</a:t>
            </a:r>
          </a:p>
          <a:p>
            <a:pPr>
              <a:buNone/>
            </a:pPr>
            <a:r>
              <a:rPr lang="en-US" dirty="0" err="1" smtClean="0"/>
              <a:t>y_test</a:t>
            </a:r>
            <a:r>
              <a:rPr lang="en-US" dirty="0" smtClean="0"/>
              <a:t> = </a:t>
            </a:r>
            <a:r>
              <a:rPr lang="en-US" dirty="0" err="1" smtClean="0"/>
              <a:t>to_categorical</a:t>
            </a:r>
            <a:r>
              <a:rPr lang="en-US" dirty="0" smtClean="0"/>
              <a:t>(</a:t>
            </a:r>
            <a:r>
              <a:rPr lang="en-US" dirty="0" err="1" smtClean="0"/>
              <a:t>y_test</a:t>
            </a:r>
            <a:r>
              <a:rPr lang="en-US" dirty="0" smtClean="0"/>
              <a:t>)</a:t>
            </a:r>
          </a:p>
          <a:p>
            <a:pPr>
              <a:buNone/>
            </a:pPr>
            <a:endParaRPr lang="en-US" dirty="0" smtClean="0"/>
          </a:p>
          <a:p>
            <a:pPr>
              <a:buNone/>
            </a:pPr>
            <a:r>
              <a:rPr lang="en-US" dirty="0" smtClean="0"/>
              <a:t># Step 6: Define a simple Neural Network with 2 hidden layers</a:t>
            </a:r>
          </a:p>
          <a:p>
            <a:pPr>
              <a:buNone/>
            </a:pPr>
            <a:r>
              <a:rPr lang="en-US" dirty="0" smtClean="0"/>
              <a:t>model = Sequential()</a:t>
            </a:r>
          </a:p>
          <a:p>
            <a:pPr>
              <a:buNone/>
            </a:pPr>
            <a:r>
              <a:rPr lang="en-US" dirty="0" err="1" smtClean="0"/>
              <a:t>model.add</a:t>
            </a:r>
            <a:r>
              <a:rPr lang="en-US" dirty="0" smtClean="0"/>
              <a:t>(Dense(10, activation='</a:t>
            </a:r>
            <a:r>
              <a:rPr lang="en-US" dirty="0" err="1" smtClean="0"/>
              <a:t>relu</a:t>
            </a:r>
            <a:r>
              <a:rPr lang="en-US" dirty="0" smtClean="0"/>
              <a:t>', </a:t>
            </a:r>
            <a:r>
              <a:rPr lang="en-US" dirty="0" err="1" smtClean="0"/>
              <a:t>input_shape</a:t>
            </a:r>
            <a:r>
              <a:rPr lang="en-US" dirty="0" smtClean="0"/>
              <a:t>=(4,)))  # 1st hidden layer</a:t>
            </a:r>
          </a:p>
          <a:p>
            <a:pPr>
              <a:buNone/>
            </a:pPr>
            <a:r>
              <a:rPr lang="en-US" dirty="0" err="1" smtClean="0"/>
              <a:t>model.add</a:t>
            </a:r>
            <a:r>
              <a:rPr lang="en-US" dirty="0" smtClean="0"/>
              <a:t>(Dense(8, activation='</a:t>
            </a:r>
            <a:r>
              <a:rPr lang="en-US" dirty="0" err="1" smtClean="0"/>
              <a:t>relu</a:t>
            </a:r>
            <a:r>
              <a:rPr lang="en-US" dirty="0" smtClean="0"/>
              <a:t>'))                     # 2nd hidden layer</a:t>
            </a:r>
          </a:p>
          <a:p>
            <a:pPr>
              <a:buNone/>
            </a:pPr>
            <a:r>
              <a:rPr lang="en-US" dirty="0" err="1" smtClean="0"/>
              <a:t>model.add</a:t>
            </a:r>
            <a:r>
              <a:rPr lang="en-US" dirty="0" smtClean="0"/>
              <a:t>(Dense(3, activation='</a:t>
            </a:r>
            <a:r>
              <a:rPr lang="en-US" dirty="0" err="1" smtClean="0"/>
              <a:t>softmax</a:t>
            </a:r>
            <a:r>
              <a:rPr lang="en-US" dirty="0" smtClean="0"/>
              <a:t>'))                  # Output layer (3 classes)</a:t>
            </a:r>
          </a:p>
          <a:p>
            <a:pPr>
              <a:buNone/>
            </a:pPr>
            <a:endParaRPr lang="en-US" dirty="0" smtClean="0"/>
          </a:p>
          <a:p>
            <a:pPr>
              <a:buNone/>
            </a:pPr>
            <a:r>
              <a:rPr lang="en-US" dirty="0" smtClean="0"/>
              <a:t># Step 7: Compile the model</a:t>
            </a:r>
          </a:p>
          <a:p>
            <a:pPr>
              <a:buNone/>
            </a:pPr>
            <a:r>
              <a:rPr lang="en-US" dirty="0" err="1" smtClean="0"/>
              <a:t>model.compile</a:t>
            </a:r>
            <a:r>
              <a:rPr lang="en-US" dirty="0" smtClean="0"/>
              <a:t>(optimizer='</a:t>
            </a:r>
            <a:r>
              <a:rPr lang="en-US" dirty="0" err="1" smtClean="0"/>
              <a:t>adam</a:t>
            </a:r>
            <a:r>
              <a:rPr lang="en-US" dirty="0" smtClean="0"/>
              <a:t>',</a:t>
            </a:r>
          </a:p>
          <a:p>
            <a:pPr>
              <a:buNone/>
            </a:pPr>
            <a:r>
              <a:rPr lang="en-US" dirty="0" smtClean="0"/>
              <a:t>              loss='</a:t>
            </a:r>
            <a:r>
              <a:rPr lang="en-US" dirty="0" err="1" smtClean="0"/>
              <a:t>categorical_crossentropy</a:t>
            </a:r>
            <a:r>
              <a:rPr lang="en-US" dirty="0" smtClean="0"/>
              <a:t>',</a:t>
            </a:r>
          </a:p>
          <a:p>
            <a:pPr>
              <a:buNone/>
            </a:pPr>
            <a:r>
              <a:rPr lang="en-US" dirty="0" smtClean="0"/>
              <a:t>              metrics=['accuracy'])</a:t>
            </a:r>
          </a:p>
          <a:p>
            <a:pPr>
              <a:buNone/>
            </a:pPr>
            <a:endParaRPr lang="en-US" dirty="0" smtClean="0"/>
          </a:p>
          <a:p>
            <a:pPr>
              <a:buNone/>
            </a:pPr>
            <a:r>
              <a:rPr lang="en-US" dirty="0" smtClean="0"/>
              <a:t># Step 8: Train the model</a:t>
            </a:r>
          </a:p>
          <a:p>
            <a:pPr>
              <a:buNone/>
            </a:pPr>
            <a:r>
              <a:rPr lang="en-US" dirty="0" smtClean="0"/>
              <a:t>model.fit(</a:t>
            </a:r>
            <a:r>
              <a:rPr lang="en-US" dirty="0" err="1" smtClean="0"/>
              <a:t>X_train</a:t>
            </a:r>
            <a:r>
              <a:rPr lang="en-US" dirty="0" smtClean="0"/>
              <a:t>, </a:t>
            </a:r>
            <a:r>
              <a:rPr lang="en-US" dirty="0" err="1" smtClean="0"/>
              <a:t>y_train</a:t>
            </a:r>
            <a:r>
              <a:rPr lang="en-US" dirty="0" smtClean="0"/>
              <a:t>, epochs=50, </a:t>
            </a:r>
            <a:r>
              <a:rPr lang="en-US" dirty="0" err="1" smtClean="0"/>
              <a:t>batch_size</a:t>
            </a:r>
            <a:r>
              <a:rPr lang="en-US" dirty="0" smtClean="0"/>
              <a:t>=5, verbose=1)</a:t>
            </a:r>
          </a:p>
          <a:p>
            <a:pPr>
              <a:buNone/>
            </a:pPr>
            <a:endParaRPr lang="en-US" dirty="0" smtClean="0"/>
          </a:p>
          <a:p>
            <a:pPr>
              <a:buNone/>
            </a:pPr>
            <a:r>
              <a:rPr lang="en-US" dirty="0" smtClean="0"/>
              <a:t># Step 9: Evaluate the model</a:t>
            </a:r>
          </a:p>
          <a:p>
            <a:pPr>
              <a:buNone/>
            </a:pPr>
            <a:r>
              <a:rPr lang="en-US" dirty="0" smtClean="0"/>
              <a:t>loss, accuracy = </a:t>
            </a:r>
            <a:r>
              <a:rPr lang="en-US" dirty="0" err="1" smtClean="0"/>
              <a:t>model.evaluate</a:t>
            </a:r>
            <a:r>
              <a:rPr lang="en-US" dirty="0" smtClean="0"/>
              <a:t>(</a:t>
            </a:r>
            <a:r>
              <a:rPr lang="en-US" dirty="0" err="1" smtClean="0"/>
              <a:t>X_test</a:t>
            </a:r>
            <a:r>
              <a:rPr lang="en-US" dirty="0" smtClean="0"/>
              <a:t>, </a:t>
            </a:r>
            <a:r>
              <a:rPr lang="en-US" dirty="0" err="1" smtClean="0"/>
              <a:t>y_test</a:t>
            </a:r>
            <a:r>
              <a:rPr lang="en-US" dirty="0" smtClean="0"/>
              <a:t>)</a:t>
            </a:r>
          </a:p>
          <a:p>
            <a:pPr>
              <a:buNone/>
            </a:pPr>
            <a:r>
              <a:rPr lang="en-US" dirty="0" smtClean="0"/>
              <a:t>print(f"\</a:t>
            </a:r>
            <a:r>
              <a:rPr lang="en-US" dirty="0" err="1" smtClean="0"/>
              <a:t>nTest</a:t>
            </a:r>
            <a:r>
              <a:rPr lang="en-US" dirty="0" smtClean="0"/>
              <a:t> Accuracy: {accuracy:.2f}")</a:t>
            </a:r>
          </a:p>
          <a:p>
            <a:pPr>
              <a:buNone/>
            </a:pP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88640"/>
            <a:ext cx="8568952" cy="6480720"/>
          </a:xfrm>
        </p:spPr>
        <p:txBody>
          <a:bodyPr numCol="2">
            <a:normAutofit fontScale="47500" lnSpcReduction="20000"/>
          </a:bodyPr>
          <a:lstStyle/>
          <a:p>
            <a:pPr>
              <a:buNone/>
            </a:pPr>
            <a:r>
              <a:rPr lang="en-US" dirty="0" smtClean="0"/>
              <a:t>import </a:t>
            </a:r>
            <a:r>
              <a:rPr lang="en-US" dirty="0" err="1" smtClean="0"/>
              <a:t>numpy</a:t>
            </a:r>
            <a:r>
              <a:rPr lang="en-US" dirty="0" smtClean="0"/>
              <a:t> as </a:t>
            </a:r>
            <a:r>
              <a:rPr lang="en-US" dirty="0" err="1" smtClean="0"/>
              <a:t>np</a:t>
            </a:r>
            <a:endParaRPr lang="en-US" dirty="0" smtClean="0"/>
          </a:p>
          <a:p>
            <a:pPr>
              <a:buNone/>
            </a:pPr>
            <a:r>
              <a:rPr lang="en-US" dirty="0" smtClean="0"/>
              <a:t>import pandas as pd</a:t>
            </a:r>
          </a:p>
          <a:p>
            <a:pPr>
              <a:buNone/>
            </a:pPr>
            <a:r>
              <a:rPr lang="en-US" dirty="0" smtClean="0"/>
              <a:t>from </a:t>
            </a:r>
            <a:r>
              <a:rPr lang="en-US" dirty="0" err="1" smtClean="0"/>
              <a:t>sklearn.model_selection</a:t>
            </a:r>
            <a:r>
              <a:rPr lang="en-US" dirty="0" smtClean="0"/>
              <a:t> import </a:t>
            </a:r>
            <a:r>
              <a:rPr lang="en-US" dirty="0" err="1" smtClean="0"/>
              <a:t>train_test_split</a:t>
            </a:r>
            <a:endParaRPr lang="en-US" dirty="0" smtClean="0"/>
          </a:p>
          <a:p>
            <a:pPr>
              <a:buNone/>
            </a:pPr>
            <a:r>
              <a:rPr lang="en-US" dirty="0" smtClean="0"/>
              <a:t>from </a:t>
            </a:r>
            <a:r>
              <a:rPr lang="en-US" dirty="0" err="1" smtClean="0"/>
              <a:t>tensorflow.keras.models</a:t>
            </a:r>
            <a:r>
              <a:rPr lang="en-US" dirty="0" smtClean="0"/>
              <a:t> import Sequential</a:t>
            </a:r>
          </a:p>
          <a:p>
            <a:pPr>
              <a:buNone/>
            </a:pPr>
            <a:r>
              <a:rPr lang="en-US" dirty="0" smtClean="0"/>
              <a:t>from </a:t>
            </a:r>
            <a:r>
              <a:rPr lang="en-US" dirty="0" err="1" smtClean="0"/>
              <a:t>tensorflow.keras.layers</a:t>
            </a:r>
            <a:r>
              <a:rPr lang="en-US" dirty="0" smtClean="0"/>
              <a:t> import Dense</a:t>
            </a:r>
          </a:p>
          <a:p>
            <a:pPr>
              <a:buNone/>
            </a:pPr>
            <a:endParaRPr lang="en-US" dirty="0" smtClean="0"/>
          </a:p>
          <a:p>
            <a:pPr>
              <a:buNone/>
            </a:pPr>
            <a:r>
              <a:rPr lang="en-US" dirty="0" smtClean="0"/>
              <a:t># Sample dataset</a:t>
            </a:r>
          </a:p>
          <a:p>
            <a:pPr>
              <a:buNone/>
            </a:pPr>
            <a:r>
              <a:rPr lang="en-US" dirty="0" smtClean="0"/>
              <a:t>data = {</a:t>
            </a:r>
          </a:p>
          <a:p>
            <a:pPr>
              <a:buNone/>
            </a:pPr>
            <a:r>
              <a:rPr lang="en-US" dirty="0" smtClean="0"/>
              <a:t>    'feature1': [0.1, 0.2, 0.3, 0.4, 0.5],</a:t>
            </a:r>
          </a:p>
          <a:p>
            <a:pPr>
              <a:buNone/>
            </a:pPr>
            <a:r>
              <a:rPr lang="en-US" dirty="0" smtClean="0"/>
              <a:t>    'feature2': [0.5, 0.4, 0.3, 0.2, 0.1],</a:t>
            </a:r>
          </a:p>
          <a:p>
            <a:pPr>
              <a:buNone/>
            </a:pPr>
            <a:r>
              <a:rPr lang="en-US" dirty="0" smtClean="0"/>
              <a:t>    'label':    [0,   0,   1,   1,   1]</a:t>
            </a:r>
          </a:p>
          <a:p>
            <a:pPr>
              <a:buNone/>
            </a:pPr>
            <a:r>
              <a:rPr lang="en-US" dirty="0" smtClean="0"/>
              <a:t>}</a:t>
            </a:r>
          </a:p>
          <a:p>
            <a:pPr>
              <a:buNone/>
            </a:pPr>
            <a:r>
              <a:rPr lang="en-US" dirty="0" err="1" smtClean="0"/>
              <a:t>df</a:t>
            </a:r>
            <a:r>
              <a:rPr lang="en-US" dirty="0" smtClean="0"/>
              <a:t> = </a:t>
            </a:r>
            <a:r>
              <a:rPr lang="en-US" dirty="0" err="1" smtClean="0"/>
              <a:t>pd.DataFrame</a:t>
            </a:r>
            <a:r>
              <a:rPr lang="en-US" dirty="0" smtClean="0"/>
              <a:t>(data)</a:t>
            </a:r>
          </a:p>
          <a:p>
            <a:pPr>
              <a:buNone/>
            </a:pPr>
            <a:r>
              <a:rPr lang="en-US" dirty="0" smtClean="0"/>
              <a:t>X = </a:t>
            </a:r>
            <a:r>
              <a:rPr lang="en-US" dirty="0" err="1" smtClean="0"/>
              <a:t>df</a:t>
            </a:r>
            <a:r>
              <a:rPr lang="en-US" dirty="0" smtClean="0"/>
              <a:t>[['feature1', 'feature2']].values</a:t>
            </a:r>
          </a:p>
          <a:p>
            <a:pPr>
              <a:buNone/>
            </a:pPr>
            <a:r>
              <a:rPr lang="en-US" dirty="0" smtClean="0"/>
              <a:t>y = </a:t>
            </a:r>
            <a:r>
              <a:rPr lang="en-US" dirty="0" err="1" smtClean="0"/>
              <a:t>df</a:t>
            </a:r>
            <a:r>
              <a:rPr lang="en-US" dirty="0" smtClean="0"/>
              <a:t>['label'].values</a:t>
            </a:r>
          </a:p>
          <a:p>
            <a:pPr>
              <a:buNone/>
            </a:pPr>
            <a:endParaRPr lang="en-US" dirty="0" smtClean="0"/>
          </a:p>
          <a:p>
            <a:pPr>
              <a:buNone/>
            </a:pPr>
            <a:r>
              <a:rPr lang="en-US" dirty="0" smtClean="0"/>
              <a:t># Step 1: Split into training and temp (40% of data)</a:t>
            </a:r>
          </a:p>
          <a:p>
            <a:pPr>
              <a:buNone/>
            </a:pPr>
            <a:r>
              <a:rPr lang="en-US" dirty="0" err="1" smtClean="0"/>
              <a:t>X_train</a:t>
            </a:r>
            <a:r>
              <a:rPr lang="en-US" dirty="0" smtClean="0"/>
              <a:t>, </a:t>
            </a:r>
            <a:r>
              <a:rPr lang="en-US" dirty="0" err="1" smtClean="0"/>
              <a:t>X_temp</a:t>
            </a:r>
            <a:r>
              <a:rPr lang="en-US" dirty="0" smtClean="0"/>
              <a:t>, </a:t>
            </a:r>
            <a:r>
              <a:rPr lang="en-US" dirty="0" err="1" smtClean="0"/>
              <a:t>y_train</a:t>
            </a:r>
            <a:r>
              <a:rPr lang="en-US" dirty="0" smtClean="0"/>
              <a:t>, </a:t>
            </a:r>
            <a:r>
              <a:rPr lang="en-US" dirty="0" err="1" smtClean="0"/>
              <a:t>y_temp</a:t>
            </a:r>
            <a:r>
              <a:rPr lang="en-US" dirty="0" smtClean="0"/>
              <a:t> = </a:t>
            </a:r>
            <a:r>
              <a:rPr lang="en-US" dirty="0" err="1" smtClean="0"/>
              <a:t>train_test_split</a:t>
            </a:r>
            <a:r>
              <a:rPr lang="en-US" dirty="0" smtClean="0"/>
              <a:t>(X, y, </a:t>
            </a:r>
            <a:r>
              <a:rPr lang="en-US" dirty="0" err="1" smtClean="0"/>
              <a:t>test_size</a:t>
            </a:r>
            <a:r>
              <a:rPr lang="en-US" dirty="0" smtClean="0"/>
              <a:t>=0.4, </a:t>
            </a:r>
            <a:r>
              <a:rPr lang="en-US" dirty="0" err="1" smtClean="0"/>
              <a:t>random_state</a:t>
            </a:r>
            <a:r>
              <a:rPr lang="en-US" dirty="0" smtClean="0"/>
              <a:t>=42)</a:t>
            </a:r>
          </a:p>
          <a:p>
            <a:pPr>
              <a:buNone/>
            </a:pPr>
            <a:endParaRPr lang="en-US" dirty="0" smtClean="0"/>
          </a:p>
          <a:p>
            <a:pPr>
              <a:buNone/>
            </a:pPr>
            <a:r>
              <a:rPr lang="en-US" dirty="0" smtClean="0"/>
              <a:t># Step 2: Split temp into validation and test (each 20%)</a:t>
            </a:r>
          </a:p>
          <a:p>
            <a:pPr>
              <a:buNone/>
            </a:pPr>
            <a:r>
              <a:rPr lang="en-US" dirty="0" err="1" smtClean="0"/>
              <a:t>X_val</a:t>
            </a:r>
            <a:r>
              <a:rPr lang="en-US" dirty="0" smtClean="0"/>
              <a:t>, </a:t>
            </a:r>
            <a:r>
              <a:rPr lang="en-US" dirty="0" err="1" smtClean="0"/>
              <a:t>X_test</a:t>
            </a:r>
            <a:r>
              <a:rPr lang="en-US" dirty="0" smtClean="0"/>
              <a:t>, </a:t>
            </a:r>
            <a:r>
              <a:rPr lang="en-US" dirty="0" err="1" smtClean="0"/>
              <a:t>y_val</a:t>
            </a:r>
            <a:r>
              <a:rPr lang="en-US" dirty="0" smtClean="0"/>
              <a:t>, </a:t>
            </a:r>
            <a:r>
              <a:rPr lang="en-US" dirty="0" err="1" smtClean="0"/>
              <a:t>y_test</a:t>
            </a:r>
            <a:r>
              <a:rPr lang="en-US" dirty="0" smtClean="0"/>
              <a:t> = </a:t>
            </a:r>
            <a:r>
              <a:rPr lang="en-US" dirty="0" err="1" smtClean="0"/>
              <a:t>train_test_split</a:t>
            </a:r>
            <a:r>
              <a:rPr lang="en-US" dirty="0" smtClean="0"/>
              <a:t>(</a:t>
            </a:r>
            <a:r>
              <a:rPr lang="en-US" dirty="0" err="1" smtClean="0"/>
              <a:t>X_temp</a:t>
            </a:r>
            <a:r>
              <a:rPr lang="en-US" dirty="0" smtClean="0"/>
              <a:t>, </a:t>
            </a:r>
            <a:r>
              <a:rPr lang="en-US" dirty="0" err="1" smtClean="0"/>
              <a:t>y_temp</a:t>
            </a:r>
            <a:r>
              <a:rPr lang="en-US" dirty="0" smtClean="0"/>
              <a:t>, </a:t>
            </a:r>
            <a:r>
              <a:rPr lang="en-US" dirty="0" err="1" smtClean="0"/>
              <a:t>test_size</a:t>
            </a:r>
            <a:r>
              <a:rPr lang="en-US" dirty="0" smtClean="0"/>
              <a:t>=0.5, </a:t>
            </a:r>
            <a:r>
              <a:rPr lang="en-US" dirty="0" err="1" smtClean="0"/>
              <a:t>random_state</a:t>
            </a:r>
            <a:r>
              <a:rPr lang="en-US" dirty="0" smtClean="0"/>
              <a:t>=42)</a:t>
            </a:r>
          </a:p>
          <a:p>
            <a:pPr>
              <a:buNone/>
            </a:pPr>
            <a:endParaRPr lang="en-US" dirty="0" smtClean="0"/>
          </a:p>
          <a:p>
            <a:pPr>
              <a:buNone/>
            </a:pPr>
            <a:r>
              <a:rPr lang="en-US" dirty="0" smtClean="0"/>
              <a:t># Model</a:t>
            </a:r>
          </a:p>
          <a:p>
            <a:pPr>
              <a:buNone/>
            </a:pPr>
            <a:r>
              <a:rPr lang="en-US" dirty="0" smtClean="0"/>
              <a:t>model = Sequential()</a:t>
            </a:r>
          </a:p>
          <a:p>
            <a:pPr>
              <a:buNone/>
            </a:pPr>
            <a:r>
              <a:rPr lang="en-US" dirty="0" err="1" smtClean="0"/>
              <a:t>model.add</a:t>
            </a:r>
            <a:r>
              <a:rPr lang="en-US" dirty="0" smtClean="0"/>
              <a:t>(Dense(8, </a:t>
            </a:r>
            <a:r>
              <a:rPr lang="en-US" dirty="0" err="1" smtClean="0"/>
              <a:t>input_dim</a:t>
            </a:r>
            <a:r>
              <a:rPr lang="en-US" dirty="0" smtClean="0"/>
              <a:t>=2, activation='</a:t>
            </a:r>
            <a:r>
              <a:rPr lang="en-US" dirty="0" err="1" smtClean="0"/>
              <a:t>relu</a:t>
            </a:r>
            <a:r>
              <a:rPr lang="en-US" dirty="0" smtClean="0"/>
              <a:t>'))</a:t>
            </a:r>
          </a:p>
          <a:p>
            <a:pPr>
              <a:buNone/>
            </a:pPr>
            <a:r>
              <a:rPr lang="en-US" dirty="0" err="1" smtClean="0"/>
              <a:t>model.add</a:t>
            </a:r>
            <a:r>
              <a:rPr lang="en-US" dirty="0" smtClean="0"/>
              <a:t>(Dense(1, activation='sigmoid'))</a:t>
            </a:r>
          </a:p>
          <a:p>
            <a:pPr>
              <a:buNone/>
            </a:pPr>
            <a:r>
              <a:rPr lang="en-US" dirty="0" err="1" smtClean="0"/>
              <a:t>model.compile</a:t>
            </a:r>
            <a:r>
              <a:rPr lang="en-US" dirty="0" smtClean="0"/>
              <a:t>(loss='</a:t>
            </a:r>
            <a:r>
              <a:rPr lang="en-US" dirty="0" err="1" smtClean="0"/>
              <a:t>binary_crossentropy</a:t>
            </a:r>
            <a:r>
              <a:rPr lang="en-US" dirty="0" smtClean="0"/>
              <a:t>', optimizer='</a:t>
            </a:r>
            <a:r>
              <a:rPr lang="en-US" dirty="0" err="1" smtClean="0"/>
              <a:t>adam</a:t>
            </a:r>
            <a:r>
              <a:rPr lang="en-US" dirty="0" smtClean="0"/>
              <a:t>', metrics=['accuracy'])</a:t>
            </a:r>
          </a:p>
          <a:p>
            <a:pPr>
              <a:buNone/>
            </a:pPr>
            <a:endParaRPr lang="en-US" dirty="0" smtClean="0"/>
          </a:p>
          <a:p>
            <a:pPr>
              <a:buNone/>
            </a:pPr>
            <a:r>
              <a:rPr lang="en-US" dirty="0" smtClean="0"/>
              <a:t># Train using validation data</a:t>
            </a:r>
          </a:p>
          <a:p>
            <a:pPr>
              <a:buNone/>
            </a:pPr>
            <a:r>
              <a:rPr lang="en-US" dirty="0" smtClean="0"/>
              <a:t>model.fit(</a:t>
            </a:r>
            <a:r>
              <a:rPr lang="en-US" dirty="0" err="1" smtClean="0"/>
              <a:t>X_train</a:t>
            </a:r>
            <a:r>
              <a:rPr lang="en-US" dirty="0" smtClean="0"/>
              <a:t>, </a:t>
            </a:r>
            <a:r>
              <a:rPr lang="en-US" dirty="0" err="1" smtClean="0"/>
              <a:t>y_train</a:t>
            </a:r>
            <a:r>
              <a:rPr lang="en-US" dirty="0" smtClean="0"/>
              <a:t>, epochs=100, </a:t>
            </a:r>
            <a:r>
              <a:rPr lang="en-US" dirty="0" err="1" smtClean="0"/>
              <a:t>batch_size</a:t>
            </a:r>
            <a:r>
              <a:rPr lang="en-US" dirty="0" smtClean="0"/>
              <a:t>=1, </a:t>
            </a:r>
            <a:r>
              <a:rPr lang="en-US" dirty="0" err="1" smtClean="0"/>
              <a:t>validation_data</a:t>
            </a:r>
            <a:r>
              <a:rPr lang="en-US" dirty="0" smtClean="0"/>
              <a:t>=(</a:t>
            </a:r>
            <a:r>
              <a:rPr lang="en-US" dirty="0" err="1" smtClean="0"/>
              <a:t>X_val</a:t>
            </a:r>
            <a:r>
              <a:rPr lang="en-US" dirty="0" smtClean="0"/>
              <a:t>, </a:t>
            </a:r>
            <a:r>
              <a:rPr lang="en-US" dirty="0" err="1" smtClean="0"/>
              <a:t>y_val</a:t>
            </a:r>
            <a:r>
              <a:rPr lang="en-US" dirty="0" smtClean="0"/>
              <a:t>), verbose=0)</a:t>
            </a:r>
          </a:p>
          <a:p>
            <a:pPr>
              <a:buNone/>
            </a:pPr>
            <a:endParaRPr lang="en-US" dirty="0" smtClean="0"/>
          </a:p>
          <a:p>
            <a:pPr>
              <a:buNone/>
            </a:pPr>
            <a:r>
              <a:rPr lang="en-US" dirty="0" smtClean="0"/>
              <a:t># Evaluate on test set</a:t>
            </a:r>
          </a:p>
          <a:p>
            <a:pPr>
              <a:buNone/>
            </a:pPr>
            <a:r>
              <a:rPr lang="en-US" dirty="0" smtClean="0"/>
              <a:t>loss, accuracy = </a:t>
            </a:r>
            <a:r>
              <a:rPr lang="en-US" dirty="0" err="1" smtClean="0"/>
              <a:t>model.evaluate</a:t>
            </a:r>
            <a:r>
              <a:rPr lang="en-US" dirty="0" smtClean="0"/>
              <a:t>(</a:t>
            </a:r>
            <a:r>
              <a:rPr lang="en-US" dirty="0" err="1" smtClean="0"/>
              <a:t>X_test</a:t>
            </a:r>
            <a:r>
              <a:rPr lang="en-US" dirty="0" smtClean="0"/>
              <a:t>, </a:t>
            </a:r>
            <a:r>
              <a:rPr lang="en-US" dirty="0" err="1" smtClean="0"/>
              <a:t>y_test</a:t>
            </a:r>
            <a:r>
              <a:rPr lang="en-US" dirty="0" smtClean="0"/>
              <a:t>, verbose=0)</a:t>
            </a:r>
          </a:p>
          <a:p>
            <a:pPr>
              <a:buNone/>
            </a:pPr>
            <a:r>
              <a:rPr lang="en-US" dirty="0" smtClean="0"/>
              <a:t>print(</a:t>
            </a:r>
            <a:r>
              <a:rPr lang="en-US" dirty="0" err="1" smtClean="0"/>
              <a:t>f"Test</a:t>
            </a:r>
            <a:r>
              <a:rPr lang="en-US" dirty="0" smtClean="0"/>
              <a:t> Accuracy: {accuracy * 100:.2f}%")</a:t>
            </a:r>
          </a:p>
          <a:p>
            <a:pPr>
              <a:buNone/>
            </a:pP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smtClean="0"/>
              <a:t>model.fit(</a:t>
            </a:r>
            <a:r>
              <a:rPr lang="en-US" dirty="0" err="1" smtClean="0"/>
              <a:t>X_train</a:t>
            </a:r>
            <a:r>
              <a:rPr lang="en-US" dirty="0" smtClean="0"/>
              <a:t>, </a:t>
            </a:r>
            <a:r>
              <a:rPr lang="en-US" dirty="0" err="1" smtClean="0"/>
              <a:t>y_train</a:t>
            </a:r>
            <a:r>
              <a:rPr lang="en-US" dirty="0" smtClean="0"/>
              <a:t>,</a:t>
            </a:r>
          </a:p>
          <a:p>
            <a:pPr>
              <a:buNone/>
            </a:pPr>
            <a:r>
              <a:rPr lang="en-US" dirty="0" smtClean="0"/>
              <a:t>          epochs=100,</a:t>
            </a:r>
          </a:p>
          <a:p>
            <a:pPr>
              <a:buNone/>
            </a:pPr>
            <a:r>
              <a:rPr lang="en-US" dirty="0" smtClean="0"/>
              <a:t>          </a:t>
            </a:r>
            <a:r>
              <a:rPr lang="en-US" dirty="0" err="1" smtClean="0"/>
              <a:t>batch_size</a:t>
            </a:r>
            <a:r>
              <a:rPr lang="en-US" dirty="0" smtClean="0"/>
              <a:t>=1,</a:t>
            </a:r>
          </a:p>
          <a:p>
            <a:pPr>
              <a:buNone/>
            </a:pPr>
            <a:r>
              <a:rPr lang="en-US" b="1" dirty="0" smtClean="0">
                <a:solidFill>
                  <a:srgbClr val="C00000"/>
                </a:solidFill>
              </a:rPr>
              <a:t>          </a:t>
            </a:r>
            <a:r>
              <a:rPr lang="en-US" b="1" dirty="0" err="1" smtClean="0">
                <a:solidFill>
                  <a:srgbClr val="C00000"/>
                </a:solidFill>
              </a:rPr>
              <a:t>validation_data</a:t>
            </a:r>
            <a:r>
              <a:rPr lang="en-US" b="1" dirty="0" smtClean="0">
                <a:solidFill>
                  <a:srgbClr val="C00000"/>
                </a:solidFill>
              </a:rPr>
              <a:t>=(</a:t>
            </a:r>
            <a:r>
              <a:rPr lang="en-US" b="1" dirty="0" err="1" smtClean="0">
                <a:solidFill>
                  <a:srgbClr val="C00000"/>
                </a:solidFill>
              </a:rPr>
              <a:t>X_val</a:t>
            </a:r>
            <a:r>
              <a:rPr lang="en-US" b="1" dirty="0" smtClean="0">
                <a:solidFill>
                  <a:srgbClr val="C00000"/>
                </a:solidFill>
              </a:rPr>
              <a:t>, </a:t>
            </a:r>
            <a:r>
              <a:rPr lang="en-US" b="1" dirty="0" err="1" smtClean="0">
                <a:solidFill>
                  <a:srgbClr val="C00000"/>
                </a:solidFill>
              </a:rPr>
              <a:t>y_val</a:t>
            </a:r>
            <a:r>
              <a:rPr lang="en-US" b="1" dirty="0" smtClean="0">
                <a:solidFill>
                  <a:srgbClr val="C00000"/>
                </a:solidFill>
              </a:rPr>
              <a:t>),</a:t>
            </a:r>
          </a:p>
          <a:p>
            <a:pPr>
              <a:buNone/>
            </a:pPr>
            <a:r>
              <a:rPr lang="en-US" dirty="0" smtClean="0"/>
              <a:t>          verbose=1)</a:t>
            </a:r>
          </a:p>
          <a:p>
            <a:pPr>
              <a:buNone/>
            </a:pPr>
            <a:r>
              <a:rPr lang="en-US" dirty="0" smtClean="0"/>
              <a:t>Now:</a:t>
            </a:r>
          </a:p>
          <a:p>
            <a:pPr>
              <a:buNone/>
            </a:pPr>
            <a:endParaRPr lang="en-US" dirty="0" smtClean="0"/>
          </a:p>
          <a:p>
            <a:pPr>
              <a:buNone/>
            </a:pPr>
            <a:r>
              <a:rPr lang="en-US" b="1" dirty="0" smtClean="0">
                <a:solidFill>
                  <a:srgbClr val="C00000"/>
                </a:solidFill>
              </a:rPr>
              <a:t>After each epoch, the model is evaluated on </a:t>
            </a:r>
            <a:r>
              <a:rPr lang="en-US" b="1" dirty="0" err="1" smtClean="0">
                <a:solidFill>
                  <a:srgbClr val="C00000"/>
                </a:solidFill>
              </a:rPr>
              <a:t>X_val</a:t>
            </a:r>
            <a:r>
              <a:rPr lang="en-US" b="1" dirty="0" smtClean="0">
                <a:solidFill>
                  <a:srgbClr val="C00000"/>
                </a:solidFill>
              </a:rPr>
              <a:t>, </a:t>
            </a:r>
            <a:r>
              <a:rPr lang="en-US" b="1" dirty="0" err="1" smtClean="0">
                <a:solidFill>
                  <a:srgbClr val="C00000"/>
                </a:solidFill>
              </a:rPr>
              <a:t>y_val</a:t>
            </a:r>
            <a:endParaRPr lang="en-US" b="1" dirty="0" smtClean="0">
              <a:solidFill>
                <a:srgbClr val="C00000"/>
              </a:solidFill>
            </a:endParaRPr>
          </a:p>
          <a:p>
            <a:pPr>
              <a:buNone/>
            </a:pPr>
            <a:endParaRPr lang="en-US" dirty="0" smtClean="0"/>
          </a:p>
          <a:p>
            <a:pPr>
              <a:buNone/>
            </a:pPr>
            <a:r>
              <a:rPr lang="en-US" dirty="0" smtClean="0"/>
              <a:t>This is called validation accuracy / validation loss</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640960" cy="6264696"/>
          </a:xfrm>
        </p:spPr>
        <p:txBody>
          <a:bodyPr>
            <a:normAutofit/>
          </a:bodyPr>
          <a:lstStyle/>
          <a:p>
            <a:r>
              <a:rPr lang="en-US" sz="2000" b="1" dirty="0" err="1" smtClean="0">
                <a:solidFill>
                  <a:srgbClr val="0000FF"/>
                </a:solidFill>
              </a:rPr>
              <a:t>model.compile</a:t>
            </a:r>
            <a:r>
              <a:rPr lang="en-US" sz="2000" b="1" dirty="0" smtClean="0">
                <a:solidFill>
                  <a:srgbClr val="0000FF"/>
                </a:solidFill>
              </a:rPr>
              <a:t>()   </a:t>
            </a:r>
            <a:r>
              <a:rPr lang="en-US" sz="2000" b="1" dirty="0" smtClean="0"/>
              <a:t>: </a:t>
            </a:r>
            <a:r>
              <a:rPr lang="en-US" sz="2000" dirty="0" smtClean="0"/>
              <a:t>This function </a:t>
            </a:r>
            <a:r>
              <a:rPr lang="en-US" sz="2000" b="1" dirty="0" smtClean="0"/>
              <a:t>sets up the model for training</a:t>
            </a:r>
            <a:r>
              <a:rPr lang="en-US" sz="2000" dirty="0" smtClean="0"/>
              <a:t>.</a:t>
            </a:r>
            <a:br>
              <a:rPr lang="en-US" sz="2000" dirty="0" smtClean="0"/>
            </a:br>
            <a:r>
              <a:rPr lang="en-US" sz="2000" dirty="0" smtClean="0"/>
              <a:t>It tells the model:</a:t>
            </a:r>
          </a:p>
          <a:p>
            <a:pPr lvl="1">
              <a:buFont typeface="Wingdings" pitchFamily="2" charset="2"/>
              <a:buChar char="§"/>
            </a:pPr>
            <a:r>
              <a:rPr lang="en-US" sz="2000" b="1" dirty="0" smtClean="0"/>
              <a:t>How to measure error</a:t>
            </a:r>
            <a:r>
              <a:rPr lang="en-US" sz="2000" dirty="0" smtClean="0"/>
              <a:t> (loss)</a:t>
            </a:r>
          </a:p>
          <a:p>
            <a:pPr lvl="1">
              <a:buFont typeface="Wingdings" pitchFamily="2" charset="2"/>
              <a:buChar char="§"/>
            </a:pPr>
            <a:r>
              <a:rPr lang="en-US" sz="2000" b="1" dirty="0" smtClean="0"/>
              <a:t>How to update weights</a:t>
            </a:r>
            <a:r>
              <a:rPr lang="en-US" sz="2000" dirty="0" smtClean="0"/>
              <a:t> (optimizer)</a:t>
            </a:r>
          </a:p>
          <a:p>
            <a:pPr lvl="1">
              <a:buFont typeface="Wingdings" pitchFamily="2" charset="2"/>
              <a:buChar char="§"/>
            </a:pPr>
            <a:r>
              <a:rPr lang="en-US" sz="2000" b="1" dirty="0" smtClean="0"/>
              <a:t>What metrics to track</a:t>
            </a:r>
            <a:r>
              <a:rPr lang="en-US" sz="2000" dirty="0" smtClean="0"/>
              <a:t> (like accuracy)</a:t>
            </a:r>
          </a:p>
          <a:p>
            <a:r>
              <a:rPr lang="en-US" sz="2000" b="1" dirty="0" smtClean="0">
                <a:solidFill>
                  <a:srgbClr val="0000FF"/>
                </a:solidFill>
              </a:rPr>
              <a:t>model.fit() </a:t>
            </a:r>
            <a:r>
              <a:rPr lang="en-US" sz="2000" b="1" dirty="0" smtClean="0"/>
              <a:t>: </a:t>
            </a:r>
            <a:r>
              <a:rPr lang="en-US" sz="2000" dirty="0" smtClean="0"/>
              <a:t>This function </a:t>
            </a:r>
            <a:r>
              <a:rPr lang="en-US" sz="2000" b="1" dirty="0" smtClean="0"/>
              <a:t>starts the actual training</a:t>
            </a:r>
            <a:r>
              <a:rPr lang="en-US" sz="2000" dirty="0" smtClean="0"/>
              <a:t> process using the data you provide.</a:t>
            </a:r>
          </a:p>
          <a:p>
            <a:r>
              <a:rPr lang="en-US" sz="2000" b="1" dirty="0" smtClean="0">
                <a:solidFill>
                  <a:srgbClr val="0000FF"/>
                </a:solidFill>
              </a:rPr>
              <a:t>predict() </a:t>
            </a:r>
            <a:r>
              <a:rPr lang="en-US" sz="2000" dirty="0" smtClean="0"/>
              <a:t>is a method used to </a:t>
            </a:r>
            <a:r>
              <a:rPr lang="en-US" sz="2000" b="1" dirty="0" smtClean="0"/>
              <a:t>make predictions</a:t>
            </a:r>
            <a:r>
              <a:rPr lang="en-US" sz="2000" dirty="0" smtClean="0"/>
              <a:t> using a </a:t>
            </a:r>
            <a:r>
              <a:rPr lang="en-US" sz="2000" b="1" dirty="0" smtClean="0"/>
              <a:t>trained model</a:t>
            </a:r>
            <a:r>
              <a:rPr lang="en-US" sz="2000" dirty="0" smtClean="0"/>
              <a:t>.</a:t>
            </a:r>
          </a:p>
          <a:p>
            <a:r>
              <a:rPr lang="en-US" sz="2000" dirty="0" smtClean="0"/>
              <a:t>After you've trained your model using .fit(), you can use .predict() to:</a:t>
            </a:r>
          </a:p>
          <a:p>
            <a:pPr lvl="1"/>
            <a:r>
              <a:rPr lang="en-US" sz="2000" dirty="0" smtClean="0"/>
              <a:t>Feed </a:t>
            </a:r>
            <a:r>
              <a:rPr lang="en-US" sz="2000" b="1" dirty="0" smtClean="0"/>
              <a:t>new data</a:t>
            </a:r>
            <a:endParaRPr lang="en-US" sz="2000" dirty="0" smtClean="0"/>
          </a:p>
          <a:p>
            <a:pPr lvl="1"/>
            <a:r>
              <a:rPr lang="en-US" sz="2000" dirty="0" smtClean="0"/>
              <a:t>Get the model’s </a:t>
            </a:r>
            <a:r>
              <a:rPr lang="en-US" sz="2000" b="1" dirty="0" smtClean="0"/>
              <a:t>output</a:t>
            </a:r>
            <a:endParaRPr lang="en-US" sz="2000" dirty="0" smtClean="0"/>
          </a:p>
          <a:p>
            <a:pPr>
              <a:buNone/>
            </a:pPr>
            <a:r>
              <a:rPr lang="en-US" sz="2000" b="1" dirty="0" smtClean="0">
                <a:solidFill>
                  <a:srgbClr val="C00000"/>
                </a:solidFill>
              </a:rPr>
              <a:t>Whatever the model computes in the final layer gets passed to the sigmoid, and the result of sigmoid is what predict() gives you</a:t>
            </a:r>
            <a:r>
              <a:rPr lang="en-US" sz="2000" dirty="0" smtClean="0"/>
              <a:t>.</a:t>
            </a:r>
          </a:p>
          <a:p>
            <a:endParaRPr lang="en-US"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8568952" cy="6336704"/>
          </a:xfrm>
        </p:spPr>
        <p:txBody>
          <a:bodyPr>
            <a:normAutofit fontScale="55000" lnSpcReduction="20000"/>
          </a:bodyPr>
          <a:lstStyle/>
          <a:p>
            <a:r>
              <a:rPr lang="en-US" dirty="0" smtClean="0"/>
              <a:t>Creates a </a:t>
            </a:r>
            <a:r>
              <a:rPr lang="en-US" b="1" dirty="0" smtClean="0"/>
              <a:t>sequential model</a:t>
            </a:r>
            <a:r>
              <a:rPr lang="en-US" dirty="0" smtClean="0"/>
              <a:t>, which means layers are added </a:t>
            </a:r>
            <a:r>
              <a:rPr lang="en-US" b="1" dirty="0" smtClean="0"/>
              <a:t>one after another</a:t>
            </a:r>
            <a:endParaRPr lang="en-US" dirty="0" smtClean="0"/>
          </a:p>
          <a:p>
            <a:endParaRPr lang="en-US" dirty="0" smtClean="0"/>
          </a:p>
          <a:p>
            <a:r>
              <a:rPr lang="en-US" dirty="0" smtClean="0"/>
              <a:t>Adds a </a:t>
            </a:r>
            <a:r>
              <a:rPr lang="en-US" b="1" dirty="0" smtClean="0"/>
              <a:t>dense (fully connected) hidden layer</a:t>
            </a:r>
            <a:r>
              <a:rPr lang="en-US" dirty="0" smtClean="0"/>
              <a:t>.</a:t>
            </a:r>
          </a:p>
          <a:p>
            <a:r>
              <a:rPr lang="en-US" b="1" dirty="0" smtClean="0"/>
              <a:t>8 neurons (units)</a:t>
            </a:r>
            <a:r>
              <a:rPr lang="en-US" dirty="0" smtClean="0"/>
              <a:t> in this layer.</a:t>
            </a:r>
          </a:p>
          <a:p>
            <a:r>
              <a:rPr lang="en-US" dirty="0" err="1" smtClean="0"/>
              <a:t>input_dim</a:t>
            </a:r>
            <a:r>
              <a:rPr lang="en-US" dirty="0" smtClean="0"/>
              <a:t>=2 means the model expects </a:t>
            </a:r>
            <a:r>
              <a:rPr lang="en-US" b="1" dirty="0" smtClean="0"/>
              <a:t>2 input features</a:t>
            </a:r>
            <a:r>
              <a:rPr lang="en-US" dirty="0" smtClean="0"/>
              <a:t> (e.g., [x1, x2]).</a:t>
            </a:r>
          </a:p>
          <a:p>
            <a:r>
              <a:rPr lang="en-US" dirty="0" smtClean="0"/>
              <a:t>activation='</a:t>
            </a:r>
            <a:r>
              <a:rPr lang="en-US" dirty="0" err="1" smtClean="0"/>
              <a:t>relu</a:t>
            </a:r>
            <a:r>
              <a:rPr lang="en-US" dirty="0" smtClean="0"/>
              <a:t>' means each neuron uses the </a:t>
            </a:r>
            <a:r>
              <a:rPr lang="en-US" b="1" dirty="0" err="1" smtClean="0"/>
              <a:t>ReLU</a:t>
            </a:r>
            <a:r>
              <a:rPr lang="en-US" b="1" dirty="0" smtClean="0"/>
              <a:t> function</a:t>
            </a:r>
            <a:r>
              <a:rPr lang="en-US" dirty="0" smtClean="0"/>
              <a:t>, which outputs: </a:t>
            </a:r>
            <a:r>
              <a:rPr lang="en-US" dirty="0" err="1" smtClean="0"/>
              <a:t>ReLU</a:t>
            </a:r>
            <a:r>
              <a:rPr lang="en-US" dirty="0" smtClean="0"/>
              <a:t>(x)=max⁡(0,x)</a:t>
            </a:r>
          </a:p>
          <a:p>
            <a:endParaRPr lang="en-US" dirty="0" smtClean="0"/>
          </a:p>
          <a:p>
            <a:r>
              <a:rPr lang="en-US" dirty="0" smtClean="0"/>
              <a:t>If the input is [0.2, 0.4], this input is passed through the 8 neurons — each having:</a:t>
            </a:r>
          </a:p>
          <a:p>
            <a:r>
              <a:rPr lang="en-US" b="1" dirty="0" smtClean="0"/>
              <a:t>2 weights</a:t>
            </a:r>
            <a:r>
              <a:rPr lang="en-US" dirty="0" smtClean="0"/>
              <a:t> (for the 2 inputs) + </a:t>
            </a:r>
            <a:r>
              <a:rPr lang="en-US" b="1" dirty="0" smtClean="0"/>
              <a:t>1 bias</a:t>
            </a:r>
            <a:endParaRPr lang="en-US" dirty="0" smtClean="0"/>
          </a:p>
          <a:p>
            <a:r>
              <a:rPr lang="en-US" dirty="0" smtClean="0"/>
              <a:t>Total parameters in this layer = (2 + 1) × 8 = </a:t>
            </a:r>
            <a:r>
              <a:rPr lang="en-US" b="1" dirty="0" smtClean="0"/>
              <a:t>24 trainable parameters</a:t>
            </a:r>
            <a:endParaRPr lang="en-US" dirty="0" smtClean="0"/>
          </a:p>
          <a:p>
            <a:endParaRPr lang="en-US" dirty="0" smtClean="0"/>
          </a:p>
          <a:p>
            <a:r>
              <a:rPr lang="en-US" dirty="0" smtClean="0"/>
              <a:t>Adds the </a:t>
            </a:r>
            <a:r>
              <a:rPr lang="en-US" b="1" dirty="0" smtClean="0"/>
              <a:t>output layer</a:t>
            </a:r>
            <a:r>
              <a:rPr lang="en-US" dirty="0" smtClean="0"/>
              <a:t> with </a:t>
            </a:r>
            <a:r>
              <a:rPr lang="en-US" b="1" dirty="0" smtClean="0"/>
              <a:t>1 neuron</a:t>
            </a:r>
            <a:r>
              <a:rPr lang="en-US" dirty="0" smtClean="0"/>
              <a:t>.</a:t>
            </a:r>
          </a:p>
          <a:p>
            <a:r>
              <a:rPr lang="en-US" dirty="0" smtClean="0"/>
              <a:t>activation='sigmoid' turns the output into a </a:t>
            </a:r>
            <a:r>
              <a:rPr lang="en-US" b="1" dirty="0" smtClean="0"/>
              <a:t>probability</a:t>
            </a:r>
            <a:r>
              <a:rPr lang="en-US" dirty="0" smtClean="0"/>
              <a:t> between 0 and 1.</a:t>
            </a:r>
          </a:p>
          <a:p>
            <a:r>
              <a:rPr lang="en-US" dirty="0" smtClean="0"/>
              <a:t>Used for </a:t>
            </a:r>
            <a:r>
              <a:rPr lang="en-US" b="1" dirty="0" smtClean="0"/>
              <a:t>binary classification</a:t>
            </a:r>
            <a:r>
              <a:rPr lang="en-US" dirty="0" smtClean="0"/>
              <a:t> (e.g., Is it class 0 or class 1?)</a:t>
            </a:r>
          </a:p>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6012159" y="5733256"/>
            <a:ext cx="2649351" cy="936104"/>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6480720"/>
          </a:xfrm>
        </p:spPr>
        <p:txBody>
          <a:bodyPr>
            <a:normAutofit fontScale="55000" lnSpcReduction="20000"/>
          </a:bodyPr>
          <a:lstStyle/>
          <a:p>
            <a:pPr>
              <a:lnSpc>
                <a:spcPct val="170000"/>
              </a:lnSpc>
              <a:buNone/>
            </a:pPr>
            <a:r>
              <a:rPr lang="en-US" b="1" dirty="0" smtClean="0"/>
              <a:t>Code Summary</a:t>
            </a:r>
          </a:p>
          <a:p>
            <a:pPr>
              <a:lnSpc>
                <a:spcPct val="170000"/>
              </a:lnSpc>
              <a:buNone/>
            </a:pPr>
            <a:r>
              <a:rPr lang="en-US" dirty="0" smtClean="0"/>
              <a:t> doing a </a:t>
            </a:r>
            <a:r>
              <a:rPr lang="en-US" b="1" dirty="0" smtClean="0"/>
              <a:t>binary classification</a:t>
            </a:r>
            <a:r>
              <a:rPr lang="en-US" dirty="0" smtClean="0"/>
              <a:t> task using a simple neural network in </a:t>
            </a:r>
            <a:r>
              <a:rPr lang="en-US" dirty="0" err="1" smtClean="0"/>
              <a:t>Keras</a:t>
            </a:r>
            <a:r>
              <a:rPr lang="en-US" dirty="0" smtClean="0"/>
              <a:t>. Once the model is trained using .fit(), call:</a:t>
            </a:r>
          </a:p>
          <a:p>
            <a:pPr>
              <a:lnSpc>
                <a:spcPct val="170000"/>
              </a:lnSpc>
              <a:buNone/>
            </a:pPr>
            <a:r>
              <a:rPr lang="en-US" dirty="0" smtClean="0"/>
              <a:t>prediction = </a:t>
            </a:r>
            <a:r>
              <a:rPr lang="en-US" dirty="0" err="1" smtClean="0"/>
              <a:t>model.predict</a:t>
            </a:r>
            <a:r>
              <a:rPr lang="en-US" dirty="0" smtClean="0"/>
              <a:t>(</a:t>
            </a:r>
            <a:r>
              <a:rPr lang="en-US" dirty="0" err="1" smtClean="0"/>
              <a:t>test_data</a:t>
            </a:r>
            <a:r>
              <a:rPr lang="en-US" dirty="0" smtClean="0"/>
              <a:t>) </a:t>
            </a:r>
          </a:p>
          <a:p>
            <a:pPr>
              <a:lnSpc>
                <a:spcPct val="170000"/>
              </a:lnSpc>
              <a:buNone/>
            </a:pPr>
            <a:r>
              <a:rPr lang="en-US" b="1" dirty="0" smtClean="0"/>
              <a:t> 1. Forward pass begins (</a:t>
            </a:r>
            <a:r>
              <a:rPr lang="en-US" b="1" dirty="0" err="1" smtClean="0"/>
              <a:t>test_data</a:t>
            </a:r>
            <a:r>
              <a:rPr lang="en-US" b="1" dirty="0" smtClean="0"/>
              <a:t> = [[0.2, 0.4]]):</a:t>
            </a:r>
          </a:p>
          <a:p>
            <a:pPr>
              <a:lnSpc>
                <a:spcPct val="170000"/>
              </a:lnSpc>
              <a:buNone/>
            </a:pPr>
            <a:r>
              <a:rPr lang="en-US" dirty="0" smtClean="0"/>
              <a:t>This input is passed through the trained model layers.</a:t>
            </a:r>
          </a:p>
          <a:p>
            <a:pPr>
              <a:lnSpc>
                <a:spcPct val="170000"/>
              </a:lnSpc>
              <a:buNone/>
            </a:pPr>
            <a:r>
              <a:rPr lang="en-US" b="1" dirty="0" smtClean="0"/>
              <a:t>2. First Dense Layer (Hidden Layer)</a:t>
            </a:r>
          </a:p>
          <a:p>
            <a:pPr>
              <a:lnSpc>
                <a:spcPct val="170000"/>
              </a:lnSpc>
              <a:buNone/>
            </a:pPr>
            <a:r>
              <a:rPr lang="en-US" dirty="0" err="1" smtClean="0"/>
              <a:t>model.add</a:t>
            </a:r>
            <a:r>
              <a:rPr lang="en-US" dirty="0" smtClean="0"/>
              <a:t>(Dense(8, </a:t>
            </a:r>
            <a:r>
              <a:rPr lang="en-US" dirty="0" err="1" smtClean="0"/>
              <a:t>input_dim</a:t>
            </a:r>
            <a:r>
              <a:rPr lang="en-US" dirty="0" smtClean="0"/>
              <a:t>=2, activation='</a:t>
            </a:r>
            <a:r>
              <a:rPr lang="en-US" dirty="0" err="1" smtClean="0"/>
              <a:t>relu</a:t>
            </a:r>
            <a:r>
              <a:rPr lang="en-US" dirty="0" smtClean="0"/>
              <a:t>')) </a:t>
            </a:r>
          </a:p>
          <a:p>
            <a:pPr>
              <a:lnSpc>
                <a:spcPct val="170000"/>
              </a:lnSpc>
              <a:buNone/>
            </a:pPr>
            <a:r>
              <a:rPr lang="en-US" dirty="0" smtClean="0"/>
              <a:t>Input shape = [0.2, 0.4] → 2 features</a:t>
            </a:r>
          </a:p>
          <a:p>
            <a:pPr>
              <a:lnSpc>
                <a:spcPct val="170000"/>
              </a:lnSpc>
              <a:buNone/>
            </a:pPr>
            <a:r>
              <a:rPr lang="en-US" dirty="0" smtClean="0"/>
              <a:t>Each of the 8 neurons in this layer:</a:t>
            </a:r>
          </a:p>
          <a:p>
            <a:pPr lvl="1">
              <a:lnSpc>
                <a:spcPct val="170000"/>
              </a:lnSpc>
              <a:buNone/>
            </a:pPr>
            <a:r>
              <a:rPr lang="en-US" dirty="0" smtClean="0"/>
              <a:t>Multiplies the input with learned weights</a:t>
            </a:r>
          </a:p>
          <a:p>
            <a:pPr lvl="1">
              <a:lnSpc>
                <a:spcPct val="170000"/>
              </a:lnSpc>
              <a:buNone/>
            </a:pPr>
            <a:r>
              <a:rPr lang="en-US" dirty="0" smtClean="0"/>
              <a:t>Adds a bias</a:t>
            </a:r>
          </a:p>
          <a:p>
            <a:pPr lvl="1">
              <a:lnSpc>
                <a:spcPct val="170000"/>
              </a:lnSpc>
              <a:buNone/>
            </a:pPr>
            <a:r>
              <a:rPr lang="en-US" dirty="0" smtClean="0"/>
              <a:t>Applies </a:t>
            </a:r>
            <a:r>
              <a:rPr lang="en-US" b="1" dirty="0" err="1" smtClean="0"/>
              <a:t>ReLU</a:t>
            </a:r>
            <a:r>
              <a:rPr lang="en-US" b="1" dirty="0" smtClean="0"/>
              <a:t> activation</a:t>
            </a:r>
            <a:endParaRPr lang="en-US" dirty="0" smtClean="0"/>
          </a:p>
          <a:p>
            <a:pPr lvl="1">
              <a:lnSpc>
                <a:spcPct val="170000"/>
              </a:lnSpc>
              <a:buNone/>
            </a:pPr>
            <a:r>
              <a:rPr lang="en-US" dirty="0" err="1" smtClean="0"/>
              <a:t>ReLU</a:t>
            </a:r>
            <a:r>
              <a:rPr lang="en-US" dirty="0" smtClean="0"/>
              <a:t>(x)=max⁡(0,x) </a:t>
            </a:r>
          </a:p>
          <a:p>
            <a:pPr>
              <a:lnSpc>
                <a:spcPct val="170000"/>
              </a:lnSpc>
              <a:buNone/>
            </a:pPr>
            <a:r>
              <a:rPr lang="en-US" dirty="0" smtClean="0"/>
              <a:t> At this point: 8 values are produced and passed to the next layer.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8640960" cy="6480720"/>
          </a:xfrm>
        </p:spPr>
        <p:txBody>
          <a:bodyPr>
            <a:normAutofit fontScale="47500" lnSpcReduction="20000"/>
          </a:bodyPr>
          <a:lstStyle/>
          <a:p>
            <a:pPr>
              <a:lnSpc>
                <a:spcPct val="170000"/>
              </a:lnSpc>
              <a:buNone/>
            </a:pPr>
            <a:r>
              <a:rPr lang="en-US" b="1" dirty="0" smtClean="0"/>
              <a:t>3. Second Dense Layer (Output Layer)</a:t>
            </a:r>
          </a:p>
          <a:p>
            <a:pPr>
              <a:lnSpc>
                <a:spcPct val="170000"/>
              </a:lnSpc>
              <a:buNone/>
            </a:pPr>
            <a:r>
              <a:rPr lang="en-US" dirty="0" err="1" smtClean="0"/>
              <a:t>model.add</a:t>
            </a:r>
            <a:r>
              <a:rPr lang="en-US" dirty="0" smtClean="0"/>
              <a:t>(Dense(1, activation='sigmoid')) </a:t>
            </a:r>
          </a:p>
          <a:p>
            <a:pPr>
              <a:lnSpc>
                <a:spcPct val="170000"/>
              </a:lnSpc>
              <a:buNone/>
            </a:pPr>
            <a:r>
              <a:rPr lang="en-US" dirty="0" smtClean="0"/>
              <a:t>Takes the 8 outputs from the previous layer</a:t>
            </a:r>
          </a:p>
          <a:p>
            <a:pPr>
              <a:lnSpc>
                <a:spcPct val="170000"/>
              </a:lnSpc>
              <a:buNone/>
            </a:pPr>
            <a:r>
              <a:rPr lang="en-US" dirty="0" smtClean="0"/>
              <a:t>Applies a set of learned weights and a bias</a:t>
            </a:r>
          </a:p>
          <a:p>
            <a:pPr>
              <a:lnSpc>
                <a:spcPct val="170000"/>
              </a:lnSpc>
              <a:buNone/>
            </a:pPr>
            <a:r>
              <a:rPr lang="en-US" b="1" dirty="0" smtClean="0"/>
              <a:t>Applies the sigmoid function</a:t>
            </a:r>
            <a:r>
              <a:rPr lang="en-US" dirty="0" smtClean="0"/>
              <a:t> to the result</a:t>
            </a:r>
          </a:p>
          <a:p>
            <a:pPr>
              <a:lnSpc>
                <a:spcPct val="170000"/>
              </a:lnSpc>
              <a:buNone/>
            </a:pPr>
            <a:r>
              <a:rPr lang="en-US" dirty="0" smtClean="0"/>
              <a:t>Sigmoid(z)=11+e−z</a:t>
            </a:r>
          </a:p>
          <a:p>
            <a:pPr>
              <a:lnSpc>
                <a:spcPct val="170000"/>
              </a:lnSpc>
              <a:buNone/>
            </a:pPr>
            <a:r>
              <a:rPr lang="en-US" dirty="0" smtClean="0"/>
              <a:t>This gives a </a:t>
            </a:r>
            <a:r>
              <a:rPr lang="en-US" b="1" dirty="0" smtClean="0"/>
              <a:t>single value between 0 and 1</a:t>
            </a:r>
            <a:r>
              <a:rPr lang="en-US" dirty="0" smtClean="0"/>
              <a:t> (e.g., [[0.85]])</a:t>
            </a:r>
          </a:p>
          <a:p>
            <a:pPr>
              <a:lnSpc>
                <a:spcPct val="170000"/>
              </a:lnSpc>
              <a:buNone/>
            </a:pPr>
            <a:r>
              <a:rPr lang="en-US" b="1" dirty="0" smtClean="0"/>
              <a:t>4. Output Returned</a:t>
            </a:r>
          </a:p>
          <a:p>
            <a:pPr>
              <a:lnSpc>
                <a:spcPct val="170000"/>
              </a:lnSpc>
              <a:buNone/>
            </a:pPr>
            <a:r>
              <a:rPr lang="en-US" dirty="0" smtClean="0"/>
              <a:t>The final result is returned to the variable prediction.</a:t>
            </a:r>
          </a:p>
          <a:p>
            <a:pPr>
              <a:lnSpc>
                <a:spcPct val="170000"/>
              </a:lnSpc>
              <a:buNone/>
            </a:pPr>
            <a:r>
              <a:rPr lang="en-US" dirty="0" smtClean="0"/>
              <a:t>prediction = </a:t>
            </a:r>
            <a:r>
              <a:rPr lang="en-US" dirty="0" err="1" smtClean="0"/>
              <a:t>model.predict</a:t>
            </a:r>
            <a:r>
              <a:rPr lang="en-US" dirty="0" smtClean="0"/>
              <a:t>(</a:t>
            </a:r>
            <a:r>
              <a:rPr lang="en-US" dirty="0" err="1" smtClean="0"/>
              <a:t>test_data</a:t>
            </a:r>
            <a:r>
              <a:rPr lang="en-US" dirty="0" smtClean="0"/>
              <a:t>) # e.g., prediction = [[0.85]] </a:t>
            </a:r>
          </a:p>
          <a:p>
            <a:pPr>
              <a:lnSpc>
                <a:spcPct val="170000"/>
              </a:lnSpc>
              <a:buNone/>
            </a:pPr>
            <a:r>
              <a:rPr lang="en-US" b="1" dirty="0" smtClean="0"/>
              <a:t>5. Threshold Applied for Label</a:t>
            </a:r>
          </a:p>
          <a:p>
            <a:pPr>
              <a:lnSpc>
                <a:spcPct val="170000"/>
              </a:lnSpc>
              <a:buNone/>
            </a:pPr>
            <a:r>
              <a:rPr lang="en-US" dirty="0" err="1" smtClean="0"/>
              <a:t>predicted_label</a:t>
            </a:r>
            <a:r>
              <a:rPr lang="en-US" dirty="0" smtClean="0"/>
              <a:t> = (prediction &gt; 0.5).</a:t>
            </a:r>
            <a:r>
              <a:rPr lang="en-US" dirty="0" err="1" smtClean="0"/>
              <a:t>astype</a:t>
            </a:r>
            <a:r>
              <a:rPr lang="en-US" dirty="0" smtClean="0"/>
              <a:t>(</a:t>
            </a:r>
            <a:r>
              <a:rPr lang="en-US" dirty="0" err="1" smtClean="0"/>
              <a:t>int</a:t>
            </a:r>
            <a:r>
              <a:rPr lang="en-US" dirty="0" smtClean="0"/>
              <a:t>) </a:t>
            </a:r>
          </a:p>
          <a:p>
            <a:pPr>
              <a:lnSpc>
                <a:spcPct val="170000"/>
              </a:lnSpc>
              <a:buNone/>
            </a:pPr>
            <a:r>
              <a:rPr lang="en-US" dirty="0" smtClean="0"/>
              <a:t>This converts probability to a </a:t>
            </a:r>
            <a:r>
              <a:rPr lang="en-US" b="1" dirty="0" smtClean="0"/>
              <a:t>class label</a:t>
            </a:r>
            <a:r>
              <a:rPr lang="en-US" dirty="0" smtClean="0"/>
              <a:t>:</a:t>
            </a:r>
          </a:p>
          <a:p>
            <a:pPr>
              <a:lnSpc>
                <a:spcPct val="170000"/>
              </a:lnSpc>
              <a:buNone/>
            </a:pPr>
            <a:r>
              <a:rPr lang="en-US" dirty="0" smtClean="0"/>
              <a:t>If prediction &gt; 0.5, output is 1</a:t>
            </a:r>
          </a:p>
          <a:p>
            <a:pPr>
              <a:lnSpc>
                <a:spcPct val="170000"/>
              </a:lnSpc>
              <a:buNone/>
            </a:pPr>
            <a:r>
              <a:rPr lang="en-US" dirty="0" smtClean="0"/>
              <a:t>Else, output is 0</a:t>
            </a:r>
          </a:p>
          <a:p>
            <a:pPr>
              <a:lnSpc>
                <a:spcPct val="170000"/>
              </a:lnSpc>
              <a:buNone/>
            </a:pPr>
            <a:r>
              <a:rPr lang="en-US" dirty="0" smtClean="0"/>
              <a:t>Then it prints:</a:t>
            </a:r>
          </a:p>
          <a:p>
            <a:pPr>
              <a:lnSpc>
                <a:spcPct val="170000"/>
              </a:lnSpc>
              <a:buNone/>
            </a:pPr>
            <a:r>
              <a:rPr lang="en-US" dirty="0" smtClean="0"/>
              <a:t>print(</a:t>
            </a:r>
            <a:r>
              <a:rPr lang="en-US" dirty="0" err="1" smtClean="0"/>
              <a:t>f"Predicted</a:t>
            </a:r>
            <a:r>
              <a:rPr lang="en-US" dirty="0" smtClean="0"/>
              <a:t> label: {</a:t>
            </a:r>
            <a:r>
              <a:rPr lang="en-US" dirty="0" err="1" smtClean="0"/>
              <a:t>predicted_label</a:t>
            </a:r>
            <a:r>
              <a:rPr lang="en-US" dirty="0" smtClean="0"/>
              <a:t>[0][0]}")</a:t>
            </a:r>
          </a:p>
          <a:p>
            <a:pPr>
              <a:lnSpc>
                <a:spcPct val="170000"/>
              </a:lnSpc>
              <a:buNone/>
            </a:pPr>
            <a:endParaRPr lang="en-US" dirty="0" smtClean="0"/>
          </a:p>
          <a:p>
            <a:pPr>
              <a:lnSpc>
                <a:spcPct val="170000"/>
              </a:lnSpc>
              <a:buNone/>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6669360"/>
          </a:xfrm>
        </p:spPr>
        <p:txBody>
          <a:bodyPr numCol="2">
            <a:noAutofit/>
          </a:bodyPr>
          <a:lstStyle/>
          <a:p>
            <a:pPr>
              <a:buNone/>
            </a:pPr>
            <a:r>
              <a:rPr lang="en-US" sz="1200" dirty="0" smtClean="0"/>
              <a:t>import </a:t>
            </a:r>
            <a:r>
              <a:rPr lang="en-US" sz="1200" dirty="0" err="1" smtClean="0"/>
              <a:t>numpy</a:t>
            </a:r>
            <a:r>
              <a:rPr lang="en-US" sz="1200" dirty="0" smtClean="0"/>
              <a:t> as </a:t>
            </a:r>
            <a:r>
              <a:rPr lang="en-US" sz="1200" dirty="0" err="1" smtClean="0"/>
              <a:t>np</a:t>
            </a:r>
            <a:endParaRPr lang="en-US" sz="1200" dirty="0" smtClean="0"/>
          </a:p>
          <a:p>
            <a:pPr>
              <a:buNone/>
            </a:pPr>
            <a:r>
              <a:rPr lang="en-US" sz="1200" dirty="0" smtClean="0"/>
              <a:t>from </a:t>
            </a:r>
            <a:r>
              <a:rPr lang="en-US" sz="1200" dirty="0" err="1" smtClean="0"/>
              <a:t>sklearn.datasets</a:t>
            </a:r>
            <a:r>
              <a:rPr lang="en-US" sz="1200" dirty="0" smtClean="0"/>
              <a:t> import </a:t>
            </a:r>
            <a:r>
              <a:rPr lang="en-US" sz="1200" dirty="0" err="1" smtClean="0"/>
              <a:t>load_iris</a:t>
            </a:r>
            <a:endParaRPr lang="en-US" sz="1200" dirty="0" smtClean="0"/>
          </a:p>
          <a:p>
            <a:pPr>
              <a:buNone/>
            </a:pPr>
            <a:r>
              <a:rPr lang="en-US" sz="1200" dirty="0" smtClean="0"/>
              <a:t>from </a:t>
            </a:r>
            <a:r>
              <a:rPr lang="en-US" sz="1200" dirty="0" err="1" smtClean="0"/>
              <a:t>sklearn.model_selection</a:t>
            </a:r>
            <a:r>
              <a:rPr lang="en-US" sz="1200" dirty="0" smtClean="0"/>
              <a:t> import </a:t>
            </a:r>
            <a:r>
              <a:rPr lang="en-US" sz="1200" dirty="0" err="1" smtClean="0"/>
              <a:t>train_test_split</a:t>
            </a:r>
            <a:r>
              <a:rPr lang="en-US" sz="1200" dirty="0" smtClean="0"/>
              <a:t>, </a:t>
            </a:r>
            <a:r>
              <a:rPr lang="en-US" sz="1200" dirty="0" err="1" smtClean="0"/>
              <a:t>GridSearchCV</a:t>
            </a:r>
            <a:endParaRPr lang="en-US" sz="1200" dirty="0" smtClean="0"/>
          </a:p>
          <a:p>
            <a:pPr>
              <a:buNone/>
            </a:pPr>
            <a:r>
              <a:rPr lang="en-US" sz="1200" dirty="0" smtClean="0"/>
              <a:t>from </a:t>
            </a:r>
            <a:r>
              <a:rPr lang="en-US" sz="1200" dirty="0" err="1" smtClean="0"/>
              <a:t>sklearn.preprocessing</a:t>
            </a:r>
            <a:r>
              <a:rPr lang="en-US" sz="1200" dirty="0" smtClean="0"/>
              <a:t> import </a:t>
            </a:r>
            <a:r>
              <a:rPr lang="en-US" sz="1200" dirty="0" err="1" smtClean="0"/>
              <a:t>StandardScaler</a:t>
            </a:r>
            <a:endParaRPr lang="en-US" sz="1200" dirty="0" smtClean="0"/>
          </a:p>
          <a:p>
            <a:pPr>
              <a:buNone/>
            </a:pPr>
            <a:r>
              <a:rPr lang="en-US" sz="1200" dirty="0" smtClean="0"/>
              <a:t>from </a:t>
            </a:r>
            <a:r>
              <a:rPr lang="en-US" sz="1200" dirty="0" err="1" smtClean="0"/>
              <a:t>sklearn.preprocessing</a:t>
            </a:r>
            <a:r>
              <a:rPr lang="en-US" sz="1200" dirty="0" smtClean="0"/>
              <a:t> import </a:t>
            </a:r>
            <a:r>
              <a:rPr lang="en-US" sz="1200" dirty="0" err="1" smtClean="0"/>
              <a:t>LabelBinarizer</a:t>
            </a:r>
            <a:endParaRPr lang="en-US" sz="1200" dirty="0" smtClean="0"/>
          </a:p>
          <a:p>
            <a:pPr>
              <a:buNone/>
            </a:pPr>
            <a:r>
              <a:rPr lang="en-US" sz="1200" dirty="0" smtClean="0"/>
              <a:t>from </a:t>
            </a:r>
            <a:r>
              <a:rPr lang="en-US" sz="1200" dirty="0" err="1" smtClean="0"/>
              <a:t>tensorflow.keras.models</a:t>
            </a:r>
            <a:r>
              <a:rPr lang="en-US" sz="1200" dirty="0" smtClean="0"/>
              <a:t> import Sequential</a:t>
            </a:r>
          </a:p>
          <a:p>
            <a:pPr>
              <a:buNone/>
            </a:pPr>
            <a:r>
              <a:rPr lang="en-US" sz="1200" dirty="0" smtClean="0"/>
              <a:t>from </a:t>
            </a:r>
            <a:r>
              <a:rPr lang="en-US" sz="1200" dirty="0" err="1" smtClean="0"/>
              <a:t>tensorflow.keras.layers</a:t>
            </a:r>
            <a:r>
              <a:rPr lang="en-US" sz="1200" dirty="0" smtClean="0"/>
              <a:t> import Dense</a:t>
            </a:r>
          </a:p>
          <a:p>
            <a:pPr>
              <a:buNone/>
            </a:pPr>
            <a:r>
              <a:rPr lang="en-US" sz="1200" dirty="0" smtClean="0"/>
              <a:t>from </a:t>
            </a:r>
            <a:r>
              <a:rPr lang="en-US" sz="1200" dirty="0" err="1" smtClean="0"/>
              <a:t>tensorflow.keras.wrappers.scikit_learn</a:t>
            </a:r>
            <a:r>
              <a:rPr lang="en-US" sz="1200" dirty="0" smtClean="0"/>
              <a:t> import </a:t>
            </a:r>
            <a:r>
              <a:rPr lang="en-US" sz="1200" dirty="0" err="1" smtClean="0"/>
              <a:t>KerasClassifier</a:t>
            </a:r>
            <a:endParaRPr lang="en-US" sz="1200" dirty="0" smtClean="0"/>
          </a:p>
          <a:p>
            <a:pPr>
              <a:buNone/>
            </a:pPr>
            <a:r>
              <a:rPr lang="en-US" sz="1200" dirty="0" smtClean="0"/>
              <a:t>from </a:t>
            </a:r>
            <a:r>
              <a:rPr lang="en-US" sz="1200" dirty="0" err="1" smtClean="0"/>
              <a:t>tensorflow.keras.optimizers</a:t>
            </a:r>
            <a:r>
              <a:rPr lang="en-US" sz="1200" dirty="0" smtClean="0"/>
              <a:t> import Adam, SGD</a:t>
            </a:r>
          </a:p>
          <a:p>
            <a:pPr>
              <a:buNone/>
            </a:pPr>
            <a:r>
              <a:rPr lang="en-US" sz="1200" dirty="0" smtClean="0"/>
              <a:t>import warnings</a:t>
            </a:r>
          </a:p>
          <a:p>
            <a:pPr>
              <a:buNone/>
            </a:pPr>
            <a:r>
              <a:rPr lang="en-US" sz="1200" dirty="0" err="1" smtClean="0"/>
              <a:t>warnings.filterwarnings</a:t>
            </a:r>
            <a:r>
              <a:rPr lang="en-US" sz="1200" dirty="0" smtClean="0"/>
              <a:t>('ignore')</a:t>
            </a:r>
          </a:p>
          <a:p>
            <a:pPr>
              <a:buNone/>
            </a:pPr>
            <a:r>
              <a:rPr lang="en-US" sz="1200" dirty="0" smtClean="0"/>
              <a:t># Load Iris dataset</a:t>
            </a:r>
          </a:p>
          <a:p>
            <a:pPr>
              <a:buNone/>
            </a:pPr>
            <a:r>
              <a:rPr lang="en-US" sz="1200" dirty="0" smtClean="0"/>
              <a:t>iris = </a:t>
            </a:r>
            <a:r>
              <a:rPr lang="en-US" sz="1200" dirty="0" err="1" smtClean="0"/>
              <a:t>load_iris</a:t>
            </a:r>
            <a:r>
              <a:rPr lang="en-US" sz="1200" dirty="0" smtClean="0"/>
              <a:t>()</a:t>
            </a:r>
          </a:p>
          <a:p>
            <a:pPr>
              <a:buNone/>
            </a:pPr>
            <a:r>
              <a:rPr lang="en-US" sz="1200" dirty="0" smtClean="0"/>
              <a:t>X = </a:t>
            </a:r>
            <a:r>
              <a:rPr lang="en-US" sz="1200" dirty="0" err="1" smtClean="0"/>
              <a:t>iris.data</a:t>
            </a:r>
            <a:endParaRPr lang="en-US" sz="1200" dirty="0" smtClean="0"/>
          </a:p>
          <a:p>
            <a:pPr>
              <a:buNone/>
            </a:pPr>
            <a:r>
              <a:rPr lang="en-US" sz="1200" dirty="0" smtClean="0"/>
              <a:t>y = </a:t>
            </a:r>
            <a:r>
              <a:rPr lang="en-US" sz="1200" dirty="0" err="1" smtClean="0"/>
              <a:t>iris.target</a:t>
            </a:r>
            <a:endParaRPr lang="en-US" sz="1200" dirty="0" smtClean="0"/>
          </a:p>
          <a:p>
            <a:pPr>
              <a:buNone/>
            </a:pPr>
            <a:endParaRPr lang="en-US" sz="1200" dirty="0" smtClean="0"/>
          </a:p>
          <a:p>
            <a:pPr>
              <a:buNone/>
            </a:pPr>
            <a:r>
              <a:rPr lang="en-US" sz="1200" dirty="0" smtClean="0"/>
              <a:t># One-hot encode the target</a:t>
            </a:r>
          </a:p>
          <a:p>
            <a:pPr>
              <a:buNone/>
            </a:pPr>
            <a:r>
              <a:rPr lang="en-US" sz="1200" dirty="0" smtClean="0"/>
              <a:t>encoder = </a:t>
            </a:r>
            <a:r>
              <a:rPr lang="en-US" sz="1200" dirty="0" err="1" smtClean="0"/>
              <a:t>LabelBinarizer</a:t>
            </a:r>
            <a:r>
              <a:rPr lang="en-US" sz="1200" dirty="0" smtClean="0"/>
              <a:t>()</a:t>
            </a:r>
          </a:p>
          <a:p>
            <a:pPr>
              <a:buNone/>
            </a:pPr>
            <a:r>
              <a:rPr lang="en-US" sz="1200" dirty="0" smtClean="0"/>
              <a:t>y = </a:t>
            </a:r>
            <a:r>
              <a:rPr lang="en-US" sz="1200" dirty="0" err="1" smtClean="0"/>
              <a:t>encoder.fit_transform</a:t>
            </a:r>
            <a:r>
              <a:rPr lang="en-US" sz="1200" dirty="0" smtClean="0"/>
              <a:t>(y)</a:t>
            </a:r>
          </a:p>
          <a:p>
            <a:pPr>
              <a:buNone/>
            </a:pPr>
            <a:endParaRPr lang="en-US" sz="1200" dirty="0" smtClean="0"/>
          </a:p>
          <a:p>
            <a:pPr>
              <a:buNone/>
            </a:pPr>
            <a:r>
              <a:rPr lang="en-US" sz="1200" dirty="0" smtClean="0"/>
              <a:t># Train-test split</a:t>
            </a:r>
          </a:p>
          <a:p>
            <a:pPr>
              <a:buNone/>
            </a:pPr>
            <a:r>
              <a:rPr lang="en-US" sz="1200" dirty="0" err="1" smtClean="0"/>
              <a:t>X_train</a:t>
            </a:r>
            <a:r>
              <a:rPr lang="en-US" sz="1200" dirty="0" smtClean="0"/>
              <a:t>, </a:t>
            </a:r>
            <a:r>
              <a:rPr lang="en-US" sz="1200" dirty="0" err="1" smtClean="0"/>
              <a:t>X_test</a:t>
            </a:r>
            <a:r>
              <a:rPr lang="en-US" sz="1200" dirty="0" smtClean="0"/>
              <a:t>, </a:t>
            </a:r>
            <a:r>
              <a:rPr lang="en-US" sz="1200" dirty="0" err="1" smtClean="0"/>
              <a:t>y_train</a:t>
            </a:r>
            <a:r>
              <a:rPr lang="en-US" sz="1200" dirty="0" smtClean="0"/>
              <a:t>, </a:t>
            </a:r>
            <a:r>
              <a:rPr lang="en-US" sz="1200" dirty="0" err="1" smtClean="0"/>
              <a:t>y_test</a:t>
            </a:r>
            <a:r>
              <a:rPr lang="en-US" sz="1200" dirty="0" smtClean="0"/>
              <a:t> = </a:t>
            </a:r>
            <a:r>
              <a:rPr lang="en-US" sz="1200" dirty="0" err="1" smtClean="0"/>
              <a:t>train_test_split</a:t>
            </a:r>
            <a:r>
              <a:rPr lang="en-US" sz="1200" dirty="0" smtClean="0"/>
              <a:t>(X, y, </a:t>
            </a:r>
            <a:r>
              <a:rPr lang="en-US" sz="1200" dirty="0" err="1" smtClean="0"/>
              <a:t>test_size</a:t>
            </a:r>
            <a:r>
              <a:rPr lang="en-US" sz="1200" dirty="0" smtClean="0"/>
              <a:t>=0.2, </a:t>
            </a:r>
            <a:r>
              <a:rPr lang="en-US" sz="1200" dirty="0" err="1" smtClean="0"/>
              <a:t>random_state</a:t>
            </a:r>
            <a:r>
              <a:rPr lang="en-US" sz="1200" dirty="0" smtClean="0"/>
              <a:t>=42)</a:t>
            </a:r>
          </a:p>
          <a:p>
            <a:pPr>
              <a:buNone/>
            </a:pPr>
            <a:endParaRPr lang="en-US" sz="1200" dirty="0" smtClean="0"/>
          </a:p>
          <a:p>
            <a:pPr>
              <a:buNone/>
            </a:pPr>
            <a:r>
              <a:rPr lang="en-US" sz="1200" dirty="0" smtClean="0"/>
              <a:t># Normalize features</a:t>
            </a:r>
          </a:p>
          <a:p>
            <a:pPr>
              <a:buNone/>
            </a:pPr>
            <a:r>
              <a:rPr lang="en-US" sz="1200" dirty="0" err="1" smtClean="0"/>
              <a:t>scaler</a:t>
            </a:r>
            <a:r>
              <a:rPr lang="en-US" sz="1200" dirty="0" smtClean="0"/>
              <a:t> = </a:t>
            </a:r>
            <a:r>
              <a:rPr lang="en-US" sz="1200" dirty="0" err="1" smtClean="0"/>
              <a:t>StandardScaler</a:t>
            </a:r>
            <a:r>
              <a:rPr lang="en-US" sz="1200" dirty="0" smtClean="0"/>
              <a:t>()</a:t>
            </a:r>
          </a:p>
          <a:p>
            <a:pPr>
              <a:buNone/>
            </a:pPr>
            <a:r>
              <a:rPr lang="en-US" sz="1200" dirty="0" err="1" smtClean="0"/>
              <a:t>X_train</a:t>
            </a:r>
            <a:r>
              <a:rPr lang="en-US" sz="1200" dirty="0" smtClean="0"/>
              <a:t> = </a:t>
            </a:r>
            <a:r>
              <a:rPr lang="en-US" sz="1200" dirty="0" err="1" smtClean="0"/>
              <a:t>scaler.fit_transform</a:t>
            </a:r>
            <a:r>
              <a:rPr lang="en-US" sz="1200" dirty="0" smtClean="0"/>
              <a:t>(</a:t>
            </a:r>
            <a:r>
              <a:rPr lang="en-US" sz="1200" dirty="0" err="1" smtClean="0"/>
              <a:t>X_train</a:t>
            </a:r>
            <a:r>
              <a:rPr lang="en-US" sz="1200" dirty="0" smtClean="0"/>
              <a:t>)</a:t>
            </a:r>
          </a:p>
          <a:p>
            <a:pPr>
              <a:buNone/>
            </a:pPr>
            <a:r>
              <a:rPr lang="en-US" sz="1200" dirty="0" err="1" smtClean="0"/>
              <a:t>X_test</a:t>
            </a:r>
            <a:r>
              <a:rPr lang="en-US" sz="1200" dirty="0" smtClean="0"/>
              <a:t> = </a:t>
            </a:r>
            <a:r>
              <a:rPr lang="en-US" sz="1200" dirty="0" err="1" smtClean="0"/>
              <a:t>scaler.transform</a:t>
            </a:r>
            <a:r>
              <a:rPr lang="en-US" sz="1200" dirty="0" smtClean="0"/>
              <a:t>(</a:t>
            </a:r>
            <a:r>
              <a:rPr lang="en-US" sz="1200" dirty="0" err="1" smtClean="0"/>
              <a:t>X_test</a:t>
            </a:r>
            <a:r>
              <a:rPr lang="en-US" sz="1200" dirty="0" smtClean="0"/>
              <a:t>)</a:t>
            </a:r>
          </a:p>
          <a:p>
            <a:pPr>
              <a:buNone/>
            </a:pPr>
            <a:r>
              <a:rPr lang="en-US" sz="1200" dirty="0" smtClean="0"/>
              <a:t>def </a:t>
            </a:r>
            <a:r>
              <a:rPr lang="en-US" sz="1200" dirty="0" err="1" smtClean="0"/>
              <a:t>create_model</a:t>
            </a:r>
            <a:r>
              <a:rPr lang="en-US" sz="1200" dirty="0" smtClean="0"/>
              <a:t>(optimizer='</a:t>
            </a:r>
            <a:r>
              <a:rPr lang="en-US" sz="1200" dirty="0" err="1" smtClean="0"/>
              <a:t>adam</a:t>
            </a:r>
            <a:r>
              <a:rPr lang="en-US" sz="1200" dirty="0" smtClean="0"/>
              <a:t>', activation='</a:t>
            </a:r>
            <a:r>
              <a:rPr lang="en-US" sz="1200" dirty="0" err="1" smtClean="0"/>
              <a:t>relu</a:t>
            </a:r>
            <a:r>
              <a:rPr lang="en-US" sz="1200" dirty="0" smtClean="0"/>
              <a:t>', neurons=32):</a:t>
            </a:r>
          </a:p>
          <a:p>
            <a:pPr>
              <a:buNone/>
            </a:pPr>
            <a:r>
              <a:rPr lang="en-US" sz="1200" dirty="0" smtClean="0"/>
              <a:t>    model = Sequential()</a:t>
            </a:r>
          </a:p>
          <a:p>
            <a:pPr>
              <a:buNone/>
            </a:pPr>
            <a:r>
              <a:rPr lang="en-US" sz="1200" dirty="0" smtClean="0"/>
              <a:t>    </a:t>
            </a:r>
            <a:r>
              <a:rPr lang="en-US" sz="1200" dirty="0" err="1" smtClean="0"/>
              <a:t>model.add</a:t>
            </a:r>
            <a:r>
              <a:rPr lang="en-US" sz="1200" dirty="0" smtClean="0"/>
              <a:t>(Dense(neurons, </a:t>
            </a:r>
            <a:r>
              <a:rPr lang="en-US" sz="1200" dirty="0" err="1" smtClean="0"/>
              <a:t>input_shape</a:t>
            </a:r>
            <a:r>
              <a:rPr lang="en-US" sz="1200" dirty="0" smtClean="0"/>
              <a:t>=(</a:t>
            </a:r>
            <a:r>
              <a:rPr lang="en-US" sz="1200" dirty="0" err="1" smtClean="0"/>
              <a:t>X_train.shape</a:t>
            </a:r>
            <a:r>
              <a:rPr lang="en-US" sz="1200" dirty="0" smtClean="0"/>
              <a:t>[1],), activation=activation))</a:t>
            </a:r>
          </a:p>
          <a:p>
            <a:pPr>
              <a:buNone/>
            </a:pPr>
            <a:r>
              <a:rPr lang="en-US" sz="1200" dirty="0" smtClean="0"/>
              <a:t>    </a:t>
            </a:r>
            <a:r>
              <a:rPr lang="en-US" sz="1200" dirty="0" err="1" smtClean="0"/>
              <a:t>model.add</a:t>
            </a:r>
            <a:r>
              <a:rPr lang="en-US" sz="1200" dirty="0" smtClean="0"/>
              <a:t>(Dense(neurons, activation=activation))</a:t>
            </a:r>
          </a:p>
          <a:p>
            <a:pPr>
              <a:buNone/>
            </a:pPr>
            <a:r>
              <a:rPr lang="en-US" sz="1200" dirty="0" smtClean="0"/>
              <a:t>    </a:t>
            </a:r>
            <a:r>
              <a:rPr lang="en-US" sz="1200" dirty="0" err="1" smtClean="0"/>
              <a:t>model.add</a:t>
            </a:r>
            <a:r>
              <a:rPr lang="en-US" sz="1200" dirty="0" smtClean="0"/>
              <a:t>(Dense(3, activation='</a:t>
            </a:r>
            <a:r>
              <a:rPr lang="en-US" sz="1200" dirty="0" err="1" smtClean="0"/>
              <a:t>softmax</a:t>
            </a:r>
            <a:r>
              <a:rPr lang="en-US" sz="1200" dirty="0" smtClean="0"/>
              <a:t>'))  # 3 classes in Iris</a:t>
            </a:r>
          </a:p>
          <a:p>
            <a:pPr>
              <a:buNone/>
            </a:pPr>
            <a:r>
              <a:rPr lang="en-US" sz="1200" dirty="0" smtClean="0"/>
              <a:t>    </a:t>
            </a:r>
            <a:r>
              <a:rPr lang="en-US" sz="1200" dirty="0" err="1" smtClean="0"/>
              <a:t>model.compile</a:t>
            </a:r>
            <a:r>
              <a:rPr lang="en-US" sz="1200" dirty="0" smtClean="0"/>
              <a:t>(optimizer=optimizer, loss='</a:t>
            </a:r>
            <a:r>
              <a:rPr lang="en-US" sz="1200" dirty="0" err="1" smtClean="0"/>
              <a:t>categorical_crossentropy</a:t>
            </a:r>
            <a:r>
              <a:rPr lang="en-US" sz="1200" dirty="0" smtClean="0"/>
              <a:t>', metrics=['accuracy'])</a:t>
            </a:r>
          </a:p>
          <a:p>
            <a:pPr>
              <a:buNone/>
            </a:pPr>
            <a:r>
              <a:rPr lang="en-US" sz="1200" dirty="0" smtClean="0"/>
              <a:t>    return model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712968" cy="6480720"/>
          </a:xfrm>
        </p:spPr>
        <p:txBody>
          <a:bodyPr numCol="2">
            <a:normAutofit fontScale="40000" lnSpcReduction="20000"/>
          </a:bodyPr>
          <a:lstStyle/>
          <a:p>
            <a:pPr>
              <a:buNone/>
            </a:pPr>
            <a:endParaRPr lang="en-US" dirty="0" smtClean="0"/>
          </a:p>
          <a:p>
            <a:pPr>
              <a:buNone/>
            </a:pPr>
            <a:r>
              <a:rPr lang="en-US" dirty="0" smtClean="0"/>
              <a:t>from </a:t>
            </a:r>
            <a:r>
              <a:rPr lang="en-US" dirty="0" err="1" smtClean="0"/>
              <a:t>sklearn.model_selection</a:t>
            </a:r>
            <a:r>
              <a:rPr lang="en-US" dirty="0" smtClean="0"/>
              <a:t> import </a:t>
            </a:r>
            <a:r>
              <a:rPr lang="en-US" dirty="0" err="1" smtClean="0"/>
              <a:t>StratifiedKFold</a:t>
            </a:r>
            <a:endParaRPr lang="en-US" dirty="0" smtClean="0"/>
          </a:p>
          <a:p>
            <a:pPr>
              <a:buNone/>
            </a:pPr>
            <a:endParaRPr lang="en-US" dirty="0" smtClean="0"/>
          </a:p>
          <a:p>
            <a:pPr>
              <a:buNone/>
            </a:pPr>
            <a:r>
              <a:rPr lang="en-US" dirty="0" smtClean="0"/>
              <a:t>model = </a:t>
            </a:r>
            <a:r>
              <a:rPr lang="en-US" dirty="0" err="1" smtClean="0"/>
              <a:t>KerasClassifier</a:t>
            </a:r>
            <a:r>
              <a:rPr lang="en-US" dirty="0" smtClean="0"/>
              <a:t>(</a:t>
            </a:r>
            <a:r>
              <a:rPr lang="en-US" dirty="0" err="1" smtClean="0"/>
              <a:t>build_fn</a:t>
            </a:r>
            <a:r>
              <a:rPr lang="en-US" dirty="0" smtClean="0"/>
              <a:t>=</a:t>
            </a:r>
            <a:r>
              <a:rPr lang="en-US" dirty="0" err="1" smtClean="0"/>
              <a:t>create_model</a:t>
            </a:r>
            <a:r>
              <a:rPr lang="en-US" dirty="0" smtClean="0"/>
              <a:t>, verbose=0)</a:t>
            </a:r>
          </a:p>
          <a:p>
            <a:pPr>
              <a:buNone/>
            </a:pPr>
            <a:endParaRPr lang="en-US" dirty="0" smtClean="0"/>
          </a:p>
          <a:p>
            <a:pPr>
              <a:buNone/>
            </a:pPr>
            <a:r>
              <a:rPr lang="en-US" dirty="0" smtClean="0"/>
              <a:t># Define the grid of </a:t>
            </a:r>
            <a:r>
              <a:rPr lang="en-US" dirty="0" err="1" smtClean="0"/>
              <a:t>hyperparameters</a:t>
            </a:r>
            <a:endParaRPr lang="en-US" dirty="0" smtClean="0"/>
          </a:p>
          <a:p>
            <a:pPr>
              <a:buNone/>
            </a:pPr>
            <a:r>
              <a:rPr lang="en-US" dirty="0" err="1" smtClean="0"/>
              <a:t>param_grid</a:t>
            </a:r>
            <a:r>
              <a:rPr lang="en-US" dirty="0" smtClean="0"/>
              <a:t> = {</a:t>
            </a:r>
          </a:p>
          <a:p>
            <a:pPr>
              <a:buNone/>
            </a:pPr>
            <a:r>
              <a:rPr lang="en-US" dirty="0" smtClean="0"/>
              <a:t>    '</a:t>
            </a:r>
            <a:r>
              <a:rPr lang="en-US" dirty="0" err="1" smtClean="0"/>
              <a:t>batch_size</a:t>
            </a:r>
            <a:r>
              <a:rPr lang="en-US" dirty="0" smtClean="0"/>
              <a:t>': [10, 20],</a:t>
            </a:r>
          </a:p>
          <a:p>
            <a:pPr>
              <a:buNone/>
            </a:pPr>
            <a:r>
              <a:rPr lang="en-US" dirty="0" smtClean="0"/>
              <a:t>    'epochs': [100, 200],</a:t>
            </a:r>
          </a:p>
          <a:p>
            <a:pPr>
              <a:buNone/>
            </a:pPr>
            <a:r>
              <a:rPr lang="en-US" dirty="0" smtClean="0"/>
              <a:t>    'optimizer': ['</a:t>
            </a:r>
            <a:r>
              <a:rPr lang="en-US" dirty="0" err="1" smtClean="0"/>
              <a:t>adam</a:t>
            </a:r>
            <a:r>
              <a:rPr lang="en-US" dirty="0" smtClean="0"/>
              <a:t>', '</a:t>
            </a:r>
            <a:r>
              <a:rPr lang="en-US" dirty="0" err="1" smtClean="0"/>
              <a:t>sgd</a:t>
            </a:r>
            <a:r>
              <a:rPr lang="en-US" dirty="0" smtClean="0"/>
              <a:t>'],</a:t>
            </a:r>
          </a:p>
          <a:p>
            <a:pPr>
              <a:buNone/>
            </a:pPr>
            <a:r>
              <a:rPr lang="en-US" dirty="0" smtClean="0"/>
              <a:t>    'activation': ['</a:t>
            </a:r>
            <a:r>
              <a:rPr lang="en-US" dirty="0" err="1" smtClean="0"/>
              <a:t>relu</a:t>
            </a:r>
            <a:r>
              <a:rPr lang="en-US" dirty="0" smtClean="0"/>
              <a:t>', '</a:t>
            </a:r>
            <a:r>
              <a:rPr lang="en-US" dirty="0" err="1" smtClean="0"/>
              <a:t>tanh</a:t>
            </a:r>
            <a:r>
              <a:rPr lang="en-US" dirty="0" smtClean="0"/>
              <a:t>'],</a:t>
            </a:r>
          </a:p>
          <a:p>
            <a:pPr>
              <a:buNone/>
            </a:pPr>
            <a:r>
              <a:rPr lang="en-US" dirty="0" smtClean="0"/>
              <a:t>    'neurons': [16, 32, 64]</a:t>
            </a:r>
          </a:p>
          <a:p>
            <a:pPr>
              <a:buNone/>
            </a:pPr>
            <a:r>
              <a:rPr lang="en-US" dirty="0" smtClean="0"/>
              <a:t>}</a:t>
            </a:r>
          </a:p>
          <a:p>
            <a:pPr>
              <a:buNone/>
            </a:pPr>
            <a:endParaRPr lang="en-US" dirty="0" smtClean="0"/>
          </a:p>
          <a:p>
            <a:pPr>
              <a:buNone/>
            </a:pPr>
            <a:r>
              <a:rPr lang="en-US" dirty="0" smtClean="0"/>
              <a:t>grid = </a:t>
            </a:r>
            <a:r>
              <a:rPr lang="en-US" dirty="0" err="1" smtClean="0"/>
              <a:t>GridSearchCV</a:t>
            </a:r>
            <a:r>
              <a:rPr lang="en-US" dirty="0" smtClean="0"/>
              <a:t>(estimator=model, </a:t>
            </a:r>
            <a:r>
              <a:rPr lang="en-US" dirty="0" err="1" smtClean="0"/>
              <a:t>param_grid</a:t>
            </a:r>
            <a:r>
              <a:rPr lang="en-US" dirty="0" smtClean="0"/>
              <a:t>=</a:t>
            </a:r>
            <a:r>
              <a:rPr lang="en-US" dirty="0" err="1" smtClean="0"/>
              <a:t>param_grid</a:t>
            </a:r>
            <a:r>
              <a:rPr lang="en-US" dirty="0" smtClean="0"/>
              <a:t>, </a:t>
            </a:r>
            <a:r>
              <a:rPr lang="en-US" dirty="0" err="1" smtClean="0"/>
              <a:t>cv</a:t>
            </a:r>
            <a:r>
              <a:rPr lang="en-US" dirty="0" smtClean="0"/>
              <a:t>=3, </a:t>
            </a:r>
            <a:r>
              <a:rPr lang="en-US" dirty="0" err="1" smtClean="0"/>
              <a:t>n_jobs</a:t>
            </a:r>
            <a:r>
              <a:rPr lang="en-US" dirty="0" smtClean="0"/>
              <a:t>=-1)</a:t>
            </a:r>
          </a:p>
          <a:p>
            <a:pPr>
              <a:buNone/>
            </a:pPr>
            <a:r>
              <a:rPr lang="en-US" dirty="0" err="1" smtClean="0"/>
              <a:t>grid_result</a:t>
            </a:r>
            <a:r>
              <a:rPr lang="en-US" dirty="0" smtClean="0"/>
              <a:t> = grid.fit(</a:t>
            </a:r>
            <a:r>
              <a:rPr lang="en-US" dirty="0" err="1" smtClean="0"/>
              <a:t>X_train</a:t>
            </a:r>
            <a:r>
              <a:rPr lang="en-US" dirty="0" smtClean="0"/>
              <a:t>, </a:t>
            </a:r>
            <a:r>
              <a:rPr lang="en-US" dirty="0" err="1" smtClean="0"/>
              <a:t>y_train</a:t>
            </a:r>
            <a:r>
              <a:rPr lang="en-US" dirty="0" smtClean="0"/>
              <a:t>)</a:t>
            </a:r>
          </a:p>
          <a:p>
            <a:endParaRPr lang="en-US" dirty="0" smtClean="0"/>
          </a:p>
          <a:p>
            <a:pPr>
              <a:buNone/>
            </a:pPr>
            <a:r>
              <a:rPr lang="en-US" dirty="0" smtClean="0"/>
              <a:t>from </a:t>
            </a:r>
            <a:r>
              <a:rPr lang="en-US" dirty="0" err="1" smtClean="0"/>
              <a:t>sklearn.model_selection</a:t>
            </a:r>
            <a:r>
              <a:rPr lang="en-US" dirty="0" smtClean="0"/>
              <a:t> import </a:t>
            </a:r>
            <a:r>
              <a:rPr lang="en-US" dirty="0" err="1" smtClean="0"/>
              <a:t>StratifiedKFold</a:t>
            </a:r>
            <a:endParaRPr lang="en-US" dirty="0" smtClean="0"/>
          </a:p>
          <a:p>
            <a:pPr>
              <a:buNone/>
            </a:pPr>
            <a:endParaRPr lang="en-US" dirty="0" smtClean="0"/>
          </a:p>
          <a:p>
            <a:pPr>
              <a:buNone/>
            </a:pPr>
            <a:r>
              <a:rPr lang="en-US" dirty="0" smtClean="0"/>
              <a:t>model = </a:t>
            </a:r>
            <a:r>
              <a:rPr lang="en-US" dirty="0" err="1" smtClean="0"/>
              <a:t>KerasClassifier</a:t>
            </a:r>
            <a:r>
              <a:rPr lang="en-US" dirty="0" smtClean="0"/>
              <a:t>(</a:t>
            </a:r>
            <a:r>
              <a:rPr lang="en-US" dirty="0" err="1" smtClean="0"/>
              <a:t>build_fn</a:t>
            </a:r>
            <a:r>
              <a:rPr lang="en-US" dirty="0" smtClean="0"/>
              <a:t>=</a:t>
            </a:r>
            <a:r>
              <a:rPr lang="en-US" dirty="0" err="1" smtClean="0"/>
              <a:t>create_model</a:t>
            </a:r>
            <a:r>
              <a:rPr lang="en-US" dirty="0" smtClean="0"/>
              <a:t>, verbose=0)</a:t>
            </a:r>
          </a:p>
          <a:p>
            <a:pPr>
              <a:buNone/>
            </a:pPr>
            <a:endParaRPr lang="en-US" dirty="0" smtClean="0"/>
          </a:p>
          <a:p>
            <a:pPr>
              <a:buNone/>
            </a:pPr>
            <a:r>
              <a:rPr lang="en-US" dirty="0" smtClean="0"/>
              <a:t># Define the grid of </a:t>
            </a:r>
            <a:r>
              <a:rPr lang="en-US" dirty="0" err="1" smtClean="0"/>
              <a:t>hyperparameters</a:t>
            </a:r>
            <a:endParaRPr lang="en-US" dirty="0" smtClean="0"/>
          </a:p>
          <a:p>
            <a:pPr>
              <a:buNone/>
            </a:pPr>
            <a:r>
              <a:rPr lang="en-US" dirty="0" err="1" smtClean="0"/>
              <a:t>param_grid</a:t>
            </a:r>
            <a:r>
              <a:rPr lang="en-US" dirty="0" smtClean="0"/>
              <a:t> = {</a:t>
            </a:r>
          </a:p>
          <a:p>
            <a:pPr>
              <a:buNone/>
            </a:pPr>
            <a:r>
              <a:rPr lang="en-US" dirty="0" smtClean="0"/>
              <a:t>    '</a:t>
            </a:r>
            <a:r>
              <a:rPr lang="en-US" dirty="0" err="1" smtClean="0"/>
              <a:t>batch_size</a:t>
            </a:r>
            <a:r>
              <a:rPr lang="en-US" dirty="0" smtClean="0"/>
              <a:t>': [10, 20],</a:t>
            </a:r>
          </a:p>
          <a:p>
            <a:pPr>
              <a:buNone/>
            </a:pPr>
            <a:r>
              <a:rPr lang="en-US" dirty="0" smtClean="0"/>
              <a:t>    'epochs': [100, 200],</a:t>
            </a:r>
          </a:p>
          <a:p>
            <a:pPr>
              <a:buNone/>
            </a:pPr>
            <a:r>
              <a:rPr lang="en-US" dirty="0" smtClean="0"/>
              <a:t>    'optimizer': ['</a:t>
            </a:r>
            <a:r>
              <a:rPr lang="en-US" dirty="0" err="1" smtClean="0"/>
              <a:t>adam</a:t>
            </a:r>
            <a:r>
              <a:rPr lang="en-US" dirty="0" smtClean="0"/>
              <a:t>', '</a:t>
            </a:r>
            <a:r>
              <a:rPr lang="en-US" dirty="0" err="1" smtClean="0"/>
              <a:t>sgd</a:t>
            </a:r>
            <a:r>
              <a:rPr lang="en-US" dirty="0" smtClean="0"/>
              <a:t>'],</a:t>
            </a:r>
          </a:p>
          <a:p>
            <a:pPr>
              <a:buNone/>
            </a:pPr>
            <a:r>
              <a:rPr lang="en-US" dirty="0" smtClean="0"/>
              <a:t>    'activation': ['</a:t>
            </a:r>
            <a:r>
              <a:rPr lang="en-US" dirty="0" err="1" smtClean="0"/>
              <a:t>relu</a:t>
            </a:r>
            <a:r>
              <a:rPr lang="en-US" dirty="0" smtClean="0"/>
              <a:t>', '</a:t>
            </a:r>
            <a:r>
              <a:rPr lang="en-US" dirty="0" err="1" smtClean="0"/>
              <a:t>tanh</a:t>
            </a:r>
            <a:r>
              <a:rPr lang="en-US" dirty="0" smtClean="0"/>
              <a:t>'],</a:t>
            </a:r>
          </a:p>
          <a:p>
            <a:pPr>
              <a:buNone/>
            </a:pPr>
            <a:r>
              <a:rPr lang="en-US" dirty="0" smtClean="0"/>
              <a:t>    'neurons': [16, 32, 64]</a:t>
            </a:r>
          </a:p>
          <a:p>
            <a:pPr>
              <a:buNone/>
            </a:pPr>
            <a:r>
              <a:rPr lang="en-US" dirty="0" smtClean="0"/>
              <a:t>}</a:t>
            </a:r>
          </a:p>
          <a:p>
            <a:pPr>
              <a:buNone/>
            </a:pPr>
            <a:endParaRPr lang="en-US" dirty="0" smtClean="0"/>
          </a:p>
          <a:p>
            <a:pPr>
              <a:buNone/>
            </a:pPr>
            <a:r>
              <a:rPr lang="en-US" dirty="0" smtClean="0"/>
              <a:t>grid = </a:t>
            </a:r>
            <a:r>
              <a:rPr lang="en-US" dirty="0" err="1" smtClean="0"/>
              <a:t>GridSearchCV</a:t>
            </a:r>
            <a:r>
              <a:rPr lang="en-US" dirty="0" smtClean="0"/>
              <a:t>(estimator=model, </a:t>
            </a:r>
            <a:r>
              <a:rPr lang="en-US" dirty="0" err="1" smtClean="0"/>
              <a:t>param_grid</a:t>
            </a:r>
            <a:r>
              <a:rPr lang="en-US" dirty="0" smtClean="0"/>
              <a:t>=</a:t>
            </a:r>
            <a:r>
              <a:rPr lang="en-US" dirty="0" err="1" smtClean="0"/>
              <a:t>param_grid</a:t>
            </a:r>
            <a:r>
              <a:rPr lang="en-US" dirty="0" smtClean="0"/>
              <a:t>, </a:t>
            </a:r>
            <a:r>
              <a:rPr lang="en-US" dirty="0" err="1" smtClean="0"/>
              <a:t>cv</a:t>
            </a:r>
            <a:r>
              <a:rPr lang="en-US" dirty="0" smtClean="0"/>
              <a:t>=3, </a:t>
            </a:r>
            <a:r>
              <a:rPr lang="en-US" dirty="0" err="1" smtClean="0"/>
              <a:t>n_jobs</a:t>
            </a:r>
            <a:r>
              <a:rPr lang="en-US" dirty="0" smtClean="0"/>
              <a:t>=-1)</a:t>
            </a:r>
          </a:p>
          <a:p>
            <a:pPr>
              <a:buNone/>
            </a:pPr>
            <a:r>
              <a:rPr lang="en-US" dirty="0" err="1" smtClean="0"/>
              <a:t>grid_result</a:t>
            </a:r>
            <a:r>
              <a:rPr lang="en-US" dirty="0" smtClean="0"/>
              <a:t> = grid.fit(</a:t>
            </a:r>
            <a:r>
              <a:rPr lang="en-US" dirty="0" err="1" smtClean="0"/>
              <a:t>X_train</a:t>
            </a:r>
            <a:r>
              <a:rPr lang="en-US" dirty="0" smtClean="0"/>
              <a:t>, </a:t>
            </a:r>
            <a:r>
              <a:rPr lang="en-US" dirty="0" err="1" smtClean="0"/>
              <a:t>y_train</a:t>
            </a:r>
            <a:r>
              <a:rPr lang="en-US" dirty="0" smtClean="0"/>
              <a:t>)</a:t>
            </a:r>
          </a:p>
          <a:p>
            <a:pPr>
              <a:buNone/>
            </a:pPr>
            <a:endParaRPr lang="en-US" dirty="0" smtClean="0"/>
          </a:p>
          <a:p>
            <a:pPr>
              <a:buNone/>
            </a:pPr>
            <a:endParaRPr lang="en-US" dirty="0" smtClean="0"/>
          </a:p>
          <a:p>
            <a:pPr>
              <a:buNone/>
            </a:pPr>
            <a:r>
              <a:rPr lang="en-US" dirty="0" smtClean="0"/>
              <a:t># Show best parameters</a:t>
            </a:r>
          </a:p>
          <a:p>
            <a:pPr>
              <a:buNone/>
            </a:pPr>
            <a:r>
              <a:rPr lang="en-US" dirty="0" smtClean="0"/>
              <a:t>print("Best Parameters:", </a:t>
            </a:r>
            <a:r>
              <a:rPr lang="en-US" dirty="0" err="1" smtClean="0"/>
              <a:t>grid_result.best_params</a:t>
            </a:r>
            <a:r>
              <a:rPr lang="en-US" dirty="0" smtClean="0"/>
              <a:t>_)</a:t>
            </a:r>
          </a:p>
          <a:p>
            <a:pPr>
              <a:buNone/>
            </a:pPr>
            <a:endParaRPr lang="en-US" dirty="0" smtClean="0"/>
          </a:p>
          <a:p>
            <a:pPr>
              <a:buNone/>
            </a:pPr>
            <a:r>
              <a:rPr lang="en-US" dirty="0" smtClean="0"/>
              <a:t># Evaluate on test data</a:t>
            </a:r>
          </a:p>
          <a:p>
            <a:pPr>
              <a:buNone/>
            </a:pPr>
            <a:r>
              <a:rPr lang="en-US" dirty="0" err="1" smtClean="0"/>
              <a:t>best_model</a:t>
            </a:r>
            <a:r>
              <a:rPr lang="en-US" dirty="0" smtClean="0"/>
              <a:t> = </a:t>
            </a:r>
            <a:r>
              <a:rPr lang="en-US" dirty="0" err="1" smtClean="0"/>
              <a:t>grid_result.best_estimator</a:t>
            </a:r>
            <a:r>
              <a:rPr lang="en-US" dirty="0" smtClean="0"/>
              <a:t>_</a:t>
            </a:r>
          </a:p>
          <a:p>
            <a:pPr>
              <a:buNone/>
            </a:pPr>
            <a:r>
              <a:rPr lang="en-US" dirty="0" smtClean="0"/>
              <a:t>accuracy = </a:t>
            </a:r>
            <a:r>
              <a:rPr lang="en-US" dirty="0" err="1" smtClean="0"/>
              <a:t>best_model.score</a:t>
            </a:r>
            <a:r>
              <a:rPr lang="en-US" dirty="0" smtClean="0"/>
              <a:t>(</a:t>
            </a:r>
            <a:r>
              <a:rPr lang="en-US" dirty="0" err="1" smtClean="0"/>
              <a:t>X_test</a:t>
            </a:r>
            <a:r>
              <a:rPr lang="en-US" dirty="0" smtClean="0"/>
              <a:t>, </a:t>
            </a:r>
            <a:r>
              <a:rPr lang="en-US" dirty="0" err="1" smtClean="0"/>
              <a:t>y_test</a:t>
            </a:r>
            <a:r>
              <a:rPr lang="en-US" dirty="0" smtClean="0"/>
              <a:t>)</a:t>
            </a:r>
          </a:p>
          <a:p>
            <a:pPr>
              <a:buNone/>
            </a:pPr>
            <a:r>
              <a:rPr lang="en-US" dirty="0" smtClean="0"/>
              <a:t>print(</a:t>
            </a:r>
            <a:r>
              <a:rPr lang="en-US" dirty="0" err="1" smtClean="0"/>
              <a:t>f"Test</a:t>
            </a:r>
            <a:r>
              <a:rPr lang="en-US" dirty="0" smtClean="0"/>
              <a:t> Accuracy: {accuracy:.4f}")</a:t>
            </a:r>
          </a:p>
          <a:p>
            <a:pPr>
              <a:buNone/>
            </a:pP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04664"/>
            <a:ext cx="8712968" cy="5721499"/>
          </a:xfrm>
        </p:spPr>
        <p:txBody>
          <a:bodyPr>
            <a:normAutofit fontScale="92500"/>
          </a:bodyPr>
          <a:lstStyle/>
          <a:p>
            <a:pPr>
              <a:buNone/>
            </a:pPr>
            <a:r>
              <a:rPr lang="en-US" sz="2600" dirty="0" err="1" smtClean="0"/>
              <a:t>sepal_length</a:t>
            </a:r>
            <a:r>
              <a:rPr lang="en-US" sz="2600" dirty="0" smtClean="0"/>
              <a:t> | </a:t>
            </a:r>
            <a:r>
              <a:rPr lang="en-US" sz="2600" dirty="0" err="1" smtClean="0"/>
              <a:t>sepal_width</a:t>
            </a:r>
            <a:r>
              <a:rPr lang="en-US" sz="2600" dirty="0" smtClean="0"/>
              <a:t> | </a:t>
            </a:r>
            <a:r>
              <a:rPr lang="en-US" sz="2600" dirty="0" err="1" smtClean="0"/>
              <a:t>petal_length</a:t>
            </a:r>
            <a:r>
              <a:rPr lang="en-US" sz="2600" dirty="0" smtClean="0"/>
              <a:t> | </a:t>
            </a:r>
            <a:r>
              <a:rPr lang="en-US" sz="2600" dirty="0" err="1" smtClean="0"/>
              <a:t>petal_width</a:t>
            </a:r>
            <a:r>
              <a:rPr lang="en-US" sz="2600" dirty="0" smtClean="0"/>
              <a:t> | target</a:t>
            </a:r>
          </a:p>
          <a:p>
            <a:pPr>
              <a:buNone/>
            </a:pPr>
            <a:r>
              <a:rPr lang="en-US" dirty="0" smtClean="0"/>
              <a:t>---------------------------------------------------------------</a:t>
            </a:r>
          </a:p>
          <a:p>
            <a:pPr>
              <a:buNone/>
            </a:pPr>
            <a:r>
              <a:rPr lang="en-US" dirty="0" smtClean="0"/>
              <a:t>5.1          | 3.5         | 1.4          | 0.2         | 0 (</a:t>
            </a:r>
            <a:r>
              <a:rPr lang="en-US" dirty="0" err="1" smtClean="0"/>
              <a:t>Setosa</a:t>
            </a:r>
            <a:r>
              <a:rPr lang="en-US" dirty="0" smtClean="0"/>
              <a:t>)</a:t>
            </a:r>
          </a:p>
          <a:p>
            <a:pPr>
              <a:buNone/>
            </a:pPr>
            <a:r>
              <a:rPr lang="en-US" dirty="0" smtClean="0"/>
              <a:t>7.0          | 3.2         | 4.7          | 1.4         | 1 (</a:t>
            </a:r>
            <a:r>
              <a:rPr lang="en-US" dirty="0" err="1" smtClean="0"/>
              <a:t>Versicolor</a:t>
            </a:r>
            <a:r>
              <a:rPr lang="en-US" dirty="0" smtClean="0"/>
              <a:t>)</a:t>
            </a:r>
          </a:p>
          <a:p>
            <a:pPr>
              <a:buNone/>
            </a:pPr>
            <a:r>
              <a:rPr lang="en-US" dirty="0" smtClean="0"/>
              <a:t>6.3          | 3.3         | 6.0          | 2.5         | 2 (</a:t>
            </a:r>
            <a:r>
              <a:rPr lang="en-US" dirty="0" err="1" smtClean="0"/>
              <a:t>Virginica</a:t>
            </a:r>
            <a:r>
              <a:rPr lang="en-US" dirty="0" smtClean="0"/>
              <a:t>)</a:t>
            </a:r>
          </a:p>
          <a:p>
            <a:pPr>
              <a:buNone/>
            </a:pPr>
            <a:r>
              <a:rPr lang="en-US" dirty="0" smtClean="0"/>
              <a:t>4.9          | 3.0         | 1.4          | 0.2         | 0 (</a:t>
            </a:r>
            <a:r>
              <a:rPr lang="en-US" dirty="0" err="1" smtClean="0"/>
              <a:t>Setosa</a:t>
            </a:r>
            <a:r>
              <a:rPr lang="en-US" dirty="0" smtClean="0"/>
              <a:t>)</a:t>
            </a:r>
          </a:p>
          <a:p>
            <a:pPr>
              <a:buNone/>
            </a:pPr>
            <a:r>
              <a:rPr lang="en-US" dirty="0" smtClean="0"/>
              <a:t>6.7          | 3.1         | 4.4          | 1.4         | 1 (</a:t>
            </a:r>
            <a:r>
              <a:rPr lang="en-US" dirty="0" err="1" smtClean="0"/>
              <a:t>Versicolor</a:t>
            </a:r>
            <a:r>
              <a:rPr lang="en-US" dirty="0" smtClean="0"/>
              <a:t>)</a:t>
            </a:r>
          </a:p>
          <a:p>
            <a:endParaRPr lang="en-US" dirty="0" smtClean="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39341"/>
            <a:ext cx="8229600" cy="4525963"/>
          </a:xfrm>
        </p:spPr>
        <p:txBody>
          <a:bodyPr>
            <a:normAutofit fontScale="55000" lnSpcReduction="20000"/>
          </a:bodyPr>
          <a:lstStyle/>
          <a:p>
            <a:pPr>
              <a:buNone/>
            </a:pPr>
            <a:r>
              <a:rPr lang="en-US" dirty="0" smtClean="0"/>
              <a:t>from </a:t>
            </a:r>
            <a:r>
              <a:rPr lang="en-US" dirty="0" err="1" smtClean="0"/>
              <a:t>sklearn.datasets</a:t>
            </a:r>
            <a:r>
              <a:rPr lang="en-US" dirty="0" smtClean="0"/>
              <a:t> import </a:t>
            </a:r>
            <a:r>
              <a:rPr lang="en-US" dirty="0" err="1" smtClean="0"/>
              <a:t>load_iris</a:t>
            </a:r>
            <a:endParaRPr lang="en-US" dirty="0" smtClean="0"/>
          </a:p>
          <a:p>
            <a:pPr>
              <a:buNone/>
            </a:pPr>
            <a:r>
              <a:rPr lang="en-US" dirty="0" smtClean="0"/>
              <a:t>import pandas as pd</a:t>
            </a:r>
          </a:p>
          <a:p>
            <a:pPr>
              <a:buNone/>
            </a:pPr>
            <a:endParaRPr lang="en-US" dirty="0" smtClean="0"/>
          </a:p>
          <a:p>
            <a:pPr>
              <a:buNone/>
            </a:pPr>
            <a:r>
              <a:rPr lang="en-US" dirty="0" smtClean="0"/>
              <a:t># Load dataset</a:t>
            </a:r>
          </a:p>
          <a:p>
            <a:pPr>
              <a:buNone/>
            </a:pPr>
            <a:r>
              <a:rPr lang="en-US" dirty="0" smtClean="0"/>
              <a:t>iris = </a:t>
            </a:r>
            <a:r>
              <a:rPr lang="en-US" dirty="0" err="1" smtClean="0"/>
              <a:t>load_iris</a:t>
            </a:r>
            <a:r>
              <a:rPr lang="en-US" dirty="0" smtClean="0"/>
              <a:t>()</a:t>
            </a:r>
          </a:p>
          <a:p>
            <a:pPr>
              <a:buNone/>
            </a:pPr>
            <a:endParaRPr lang="en-US" dirty="0" smtClean="0"/>
          </a:p>
          <a:p>
            <a:pPr>
              <a:buNone/>
            </a:pPr>
            <a:r>
              <a:rPr lang="en-US" dirty="0" smtClean="0"/>
              <a:t># Create </a:t>
            </a:r>
            <a:r>
              <a:rPr lang="en-US" dirty="0" err="1" smtClean="0"/>
              <a:t>DataFrame</a:t>
            </a:r>
            <a:endParaRPr lang="en-US" dirty="0" smtClean="0"/>
          </a:p>
          <a:p>
            <a:pPr>
              <a:buNone/>
            </a:pPr>
            <a:r>
              <a:rPr lang="en-US" dirty="0" err="1" smtClean="0"/>
              <a:t>df</a:t>
            </a:r>
            <a:r>
              <a:rPr lang="en-US" dirty="0" smtClean="0"/>
              <a:t> = </a:t>
            </a:r>
            <a:r>
              <a:rPr lang="en-US" dirty="0" err="1" smtClean="0"/>
              <a:t>pd.DataFrame</a:t>
            </a:r>
            <a:r>
              <a:rPr lang="en-US" dirty="0" smtClean="0"/>
              <a:t>(</a:t>
            </a:r>
            <a:r>
              <a:rPr lang="en-US" dirty="0" err="1" smtClean="0"/>
              <a:t>iris.data</a:t>
            </a:r>
            <a:r>
              <a:rPr lang="en-US" dirty="0" smtClean="0"/>
              <a:t>, columns=</a:t>
            </a:r>
            <a:r>
              <a:rPr lang="en-US" dirty="0" err="1" smtClean="0"/>
              <a:t>iris.feature_names</a:t>
            </a:r>
            <a:r>
              <a:rPr lang="en-US" dirty="0" smtClean="0"/>
              <a:t>)</a:t>
            </a:r>
          </a:p>
          <a:p>
            <a:pPr>
              <a:buNone/>
            </a:pPr>
            <a:r>
              <a:rPr lang="en-US" dirty="0" err="1" smtClean="0"/>
              <a:t>df</a:t>
            </a:r>
            <a:r>
              <a:rPr lang="en-US" dirty="0" smtClean="0"/>
              <a:t>['target'] = </a:t>
            </a:r>
            <a:r>
              <a:rPr lang="en-US" dirty="0" err="1" smtClean="0"/>
              <a:t>iris.target</a:t>
            </a:r>
            <a:endParaRPr lang="en-US" dirty="0" smtClean="0"/>
          </a:p>
          <a:p>
            <a:pPr>
              <a:buNone/>
            </a:pPr>
            <a:endParaRPr lang="en-US" dirty="0" smtClean="0"/>
          </a:p>
          <a:p>
            <a:pPr>
              <a:buNone/>
            </a:pPr>
            <a:r>
              <a:rPr lang="en-US" dirty="0" smtClean="0"/>
              <a:t># Show first 5 samples</a:t>
            </a:r>
          </a:p>
          <a:p>
            <a:pPr>
              <a:buNone/>
            </a:pPr>
            <a:r>
              <a:rPr lang="en-US" dirty="0" smtClean="0"/>
              <a:t>print(</a:t>
            </a:r>
            <a:r>
              <a:rPr lang="en-US" dirty="0" err="1" smtClean="0"/>
              <a:t>df.head</a:t>
            </a:r>
            <a:r>
              <a:rPr lang="en-US" dirty="0" smtClean="0"/>
              <a:t>())</a:t>
            </a:r>
          </a:p>
          <a:p>
            <a:pPr>
              <a:buNone/>
            </a:pP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understand the building</a:t>
            </a:r>
            <a:br>
              <a:rPr lang="en-US" dirty="0" smtClean="0"/>
            </a:br>
            <a:r>
              <a:rPr lang="en-US" dirty="0" smtClean="0"/>
              <a:t>block networks of deep networks</a:t>
            </a:r>
            <a:endParaRPr lang="en-US" dirty="0"/>
          </a:p>
        </p:txBody>
      </p:sp>
      <p:sp>
        <p:nvSpPr>
          <p:cNvPr id="3" name="Content Placeholder 2"/>
          <p:cNvSpPr>
            <a:spLocks noGrp="1"/>
          </p:cNvSpPr>
          <p:nvPr>
            <p:ph idx="1"/>
          </p:nvPr>
        </p:nvSpPr>
        <p:spPr/>
        <p:txBody>
          <a:bodyPr/>
          <a:lstStyle/>
          <a:p>
            <a:r>
              <a:rPr lang="en-US" dirty="0" smtClean="0"/>
              <a:t>RBMs</a:t>
            </a:r>
          </a:p>
          <a:p>
            <a:r>
              <a:rPr lang="en-US" dirty="0" err="1" smtClean="0"/>
              <a:t>Autoencoders</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1"/>
            <a:ext cx="8915400" cy="2362199"/>
          </a:xfrm>
        </p:spPr>
        <p:txBody>
          <a:bodyPr>
            <a:normAutofit fontScale="70000" lnSpcReduction="20000"/>
          </a:bodyPr>
          <a:lstStyle/>
          <a:p>
            <a:pPr>
              <a:buNone/>
            </a:pPr>
            <a:r>
              <a:rPr lang="en-US" b="1" dirty="0"/>
              <a:t>Single-layer feed forward network :</a:t>
            </a:r>
          </a:p>
          <a:p>
            <a:r>
              <a:rPr lang="en-US" dirty="0"/>
              <a:t>The </a:t>
            </a:r>
            <a:r>
              <a:rPr lang="en-US" b="1" dirty="0">
                <a:solidFill>
                  <a:srgbClr val="0000FF"/>
                </a:solidFill>
              </a:rPr>
              <a:t>input layer is fully connected to the output </a:t>
            </a:r>
            <a:r>
              <a:rPr lang="en-US" dirty="0"/>
              <a:t>layer. having only one weighted layer.</a:t>
            </a:r>
          </a:p>
          <a:p>
            <a:r>
              <a:rPr lang="en-US" dirty="0"/>
              <a:t>the signals </a:t>
            </a:r>
            <a:r>
              <a:rPr lang="en-US" b="1" dirty="0">
                <a:solidFill>
                  <a:srgbClr val="0000FF"/>
                </a:solidFill>
              </a:rPr>
              <a:t>always flow from the input layer to the output layer</a:t>
            </a:r>
            <a:r>
              <a:rPr lang="en-US" dirty="0"/>
              <a:t>. Hence, this network is known as </a:t>
            </a:r>
            <a:r>
              <a:rPr lang="en-US" b="1" dirty="0">
                <a:solidFill>
                  <a:srgbClr val="0000FF"/>
                </a:solidFill>
              </a:rPr>
              <a:t>feed forward</a:t>
            </a:r>
            <a:r>
              <a:rPr lang="en-US" dirty="0"/>
              <a:t>.</a:t>
            </a:r>
          </a:p>
        </p:txBody>
      </p:sp>
      <p:pic>
        <p:nvPicPr>
          <p:cNvPr id="62466" name="Picture 2"/>
          <p:cNvPicPr>
            <a:picLocks noChangeAspect="1" noChangeArrowheads="1"/>
          </p:cNvPicPr>
          <p:nvPr/>
        </p:nvPicPr>
        <p:blipFill>
          <a:blip r:embed="rId3" cstate="print"/>
          <a:srcRect/>
          <a:stretch>
            <a:fillRect/>
          </a:stretch>
        </p:blipFill>
        <p:spPr bwMode="auto">
          <a:xfrm>
            <a:off x="0" y="3276600"/>
            <a:ext cx="5293139" cy="1219200"/>
          </a:xfrm>
          <a:prstGeom prst="rect">
            <a:avLst/>
          </a:prstGeom>
          <a:noFill/>
          <a:ln w="9525">
            <a:noFill/>
            <a:miter lim="800000"/>
            <a:headEnd/>
            <a:tailEnd/>
          </a:ln>
          <a:effectLst/>
        </p:spPr>
      </p:pic>
      <p:pic>
        <p:nvPicPr>
          <p:cNvPr id="62468" name="Picture 4"/>
          <p:cNvPicPr>
            <a:picLocks noChangeAspect="1" noChangeArrowheads="1"/>
          </p:cNvPicPr>
          <p:nvPr/>
        </p:nvPicPr>
        <p:blipFill>
          <a:blip r:embed="rId4" cstate="print"/>
          <a:srcRect/>
          <a:stretch>
            <a:fillRect/>
          </a:stretch>
        </p:blipFill>
        <p:spPr bwMode="auto">
          <a:xfrm>
            <a:off x="4833938" y="2963884"/>
            <a:ext cx="4310062" cy="3894116"/>
          </a:xfrm>
          <a:prstGeom prst="rect">
            <a:avLst/>
          </a:prstGeom>
          <a:noFill/>
          <a:ln w="9525">
            <a:noFill/>
            <a:miter lim="800000"/>
            <a:headEnd/>
            <a:tailEnd/>
          </a:ln>
          <a:effectLst/>
        </p:spPr>
      </p:pic>
      <p:pic>
        <p:nvPicPr>
          <p:cNvPr id="62469" name="Picture 5"/>
          <p:cNvPicPr>
            <a:picLocks noChangeAspect="1" noChangeArrowheads="1"/>
          </p:cNvPicPr>
          <p:nvPr/>
        </p:nvPicPr>
        <p:blipFill>
          <a:blip r:embed="rId5" cstate="print"/>
          <a:srcRect/>
          <a:stretch>
            <a:fillRect/>
          </a:stretch>
        </p:blipFill>
        <p:spPr bwMode="auto">
          <a:xfrm>
            <a:off x="304800" y="5105400"/>
            <a:ext cx="4865298" cy="68580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1"/>
            <a:ext cx="8763000" cy="1828799"/>
          </a:xfrm>
        </p:spPr>
        <p:txBody>
          <a:bodyPr>
            <a:normAutofit fontScale="62500" lnSpcReduction="20000"/>
          </a:bodyPr>
          <a:lstStyle/>
          <a:p>
            <a:pPr lvl="0">
              <a:buNone/>
            </a:pPr>
            <a:r>
              <a:rPr lang="en-US" b="1" dirty="0"/>
              <a:t>Multi-layer feed forward ANNs:</a:t>
            </a:r>
          </a:p>
          <a:p>
            <a:r>
              <a:rPr lang="en-US" dirty="0"/>
              <a:t>there are </a:t>
            </a:r>
            <a:r>
              <a:rPr lang="en-US" b="1" dirty="0">
                <a:solidFill>
                  <a:srgbClr val="0000FF"/>
                </a:solidFill>
              </a:rPr>
              <a:t>one or more intermediate layers</a:t>
            </a:r>
            <a:r>
              <a:rPr lang="en-US" dirty="0"/>
              <a:t> of neurons between the input and the output layers.  it is called </a:t>
            </a:r>
            <a:r>
              <a:rPr lang="en-US" b="1" dirty="0">
                <a:solidFill>
                  <a:srgbClr val="0000FF"/>
                </a:solidFill>
              </a:rPr>
              <a:t>hidden layers</a:t>
            </a:r>
            <a:r>
              <a:rPr lang="en-US" dirty="0"/>
              <a:t>.</a:t>
            </a:r>
          </a:p>
          <a:p>
            <a:r>
              <a:rPr lang="en-US" dirty="0"/>
              <a:t>Hence, the network is termed as </a:t>
            </a:r>
            <a:r>
              <a:rPr lang="en-US" b="1" dirty="0">
                <a:solidFill>
                  <a:srgbClr val="0000FF"/>
                </a:solidFill>
              </a:rPr>
              <a:t>multi-layer</a:t>
            </a:r>
          </a:p>
        </p:txBody>
      </p:sp>
      <p:pic>
        <p:nvPicPr>
          <p:cNvPr id="63490" name="Picture 2"/>
          <p:cNvPicPr>
            <a:picLocks noChangeAspect="1" noChangeArrowheads="1"/>
          </p:cNvPicPr>
          <p:nvPr/>
        </p:nvPicPr>
        <p:blipFill>
          <a:blip r:embed="rId2" cstate="print"/>
          <a:srcRect/>
          <a:stretch>
            <a:fillRect/>
          </a:stretch>
        </p:blipFill>
        <p:spPr bwMode="auto">
          <a:xfrm>
            <a:off x="4343400" y="3615740"/>
            <a:ext cx="4953000" cy="3242260"/>
          </a:xfrm>
          <a:prstGeom prst="rect">
            <a:avLst/>
          </a:prstGeom>
          <a:noFill/>
          <a:ln w="9525">
            <a:noFill/>
            <a:miter lim="800000"/>
            <a:headEnd/>
            <a:tailEnd/>
          </a:ln>
          <a:effectLst/>
        </p:spPr>
      </p:pic>
      <p:pic>
        <p:nvPicPr>
          <p:cNvPr id="63491" name="Picture 3"/>
          <p:cNvPicPr>
            <a:picLocks noChangeAspect="1" noChangeArrowheads="1"/>
          </p:cNvPicPr>
          <p:nvPr/>
        </p:nvPicPr>
        <p:blipFill>
          <a:blip r:embed="rId3" cstate="print"/>
          <a:srcRect/>
          <a:stretch>
            <a:fillRect/>
          </a:stretch>
        </p:blipFill>
        <p:spPr bwMode="auto">
          <a:xfrm>
            <a:off x="0" y="2362200"/>
            <a:ext cx="4867275" cy="657225"/>
          </a:xfrm>
          <a:prstGeom prst="rect">
            <a:avLst/>
          </a:prstGeom>
          <a:noFill/>
          <a:ln w="9525">
            <a:noFill/>
            <a:miter lim="800000"/>
            <a:headEnd/>
            <a:tailEnd/>
          </a:ln>
          <a:effectLst/>
        </p:spPr>
      </p:pic>
      <p:sp>
        <p:nvSpPr>
          <p:cNvPr id="8" name="Title 1"/>
          <p:cNvSpPr txBox="1">
            <a:spLocks/>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p:cNvPicPr>
            <a:picLocks noChangeAspect="1" noChangeArrowheads="1"/>
          </p:cNvPicPr>
          <p:nvPr/>
        </p:nvPicPr>
        <p:blipFill>
          <a:blip r:embed="rId4" cstate="print"/>
          <a:srcRect/>
          <a:stretch>
            <a:fillRect/>
          </a:stretch>
        </p:blipFill>
        <p:spPr bwMode="auto">
          <a:xfrm>
            <a:off x="0" y="3429000"/>
            <a:ext cx="5983441" cy="609599"/>
          </a:xfrm>
          <a:prstGeom prst="rect">
            <a:avLst/>
          </a:prstGeom>
          <a:noFill/>
          <a:ln w="9525">
            <a:noFill/>
            <a:miter lim="800000"/>
            <a:headEnd/>
            <a:tailEnd/>
          </a:ln>
          <a:effectLst/>
        </p:spPr>
      </p:pic>
      <p:sp>
        <p:nvSpPr>
          <p:cNvPr id="7" name="TextBox 6"/>
          <p:cNvSpPr txBox="1"/>
          <p:nvPr/>
        </p:nvSpPr>
        <p:spPr>
          <a:xfrm>
            <a:off x="457200" y="2057400"/>
            <a:ext cx="6781800" cy="369332"/>
          </a:xfrm>
          <a:prstGeom prst="rect">
            <a:avLst/>
          </a:prstGeom>
          <a:noFill/>
        </p:spPr>
        <p:txBody>
          <a:bodyPr wrap="square" rtlCol="0">
            <a:spAutoFit/>
          </a:bodyPr>
          <a:lstStyle/>
          <a:p>
            <a:r>
              <a:rPr lang="en-US" dirty="0"/>
              <a:t>The net  signal input to neuron in the hidden layer is  </a:t>
            </a:r>
          </a:p>
        </p:txBody>
      </p:sp>
      <p:sp>
        <p:nvSpPr>
          <p:cNvPr id="9" name="TextBox 8"/>
          <p:cNvSpPr txBox="1"/>
          <p:nvPr/>
        </p:nvSpPr>
        <p:spPr>
          <a:xfrm>
            <a:off x="228600" y="2895600"/>
            <a:ext cx="7543800" cy="369332"/>
          </a:xfrm>
          <a:prstGeom prst="rect">
            <a:avLst/>
          </a:prstGeom>
          <a:noFill/>
        </p:spPr>
        <p:txBody>
          <a:bodyPr wrap="square" rtlCol="0">
            <a:spAutoFit/>
          </a:bodyPr>
          <a:lstStyle/>
          <a:p>
            <a:r>
              <a:rPr lang="en-US" dirty="0"/>
              <a:t>The net  signal input to neuron in the output </a:t>
            </a:r>
            <a:r>
              <a:rPr lang="en-US" dirty="0" err="1"/>
              <a:t>ayer</a:t>
            </a:r>
            <a:r>
              <a:rPr lang="en-US" dirty="0"/>
              <a:t> is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5181600" cy="6857999"/>
          </a:xfrm>
        </p:spPr>
        <p:txBody>
          <a:bodyPr>
            <a:normAutofit fontScale="62500" lnSpcReduction="20000"/>
          </a:bodyPr>
          <a:lstStyle/>
          <a:p>
            <a:pPr>
              <a:buNone/>
            </a:pPr>
            <a:r>
              <a:rPr lang="en-US" b="1" dirty="0"/>
              <a:t>Competitive network:</a:t>
            </a:r>
          </a:p>
          <a:p>
            <a:r>
              <a:rPr lang="en-US" dirty="0"/>
              <a:t>The competitive network is </a:t>
            </a:r>
            <a:r>
              <a:rPr lang="en-US" b="1" dirty="0">
                <a:solidFill>
                  <a:srgbClr val="0000FF"/>
                </a:solidFill>
              </a:rPr>
              <a:t>almost the same </a:t>
            </a:r>
            <a:r>
              <a:rPr lang="en-US" dirty="0"/>
              <a:t>in structure as the </a:t>
            </a:r>
            <a:r>
              <a:rPr lang="en-US" b="1" dirty="0">
                <a:solidFill>
                  <a:srgbClr val="0000FF"/>
                </a:solidFill>
              </a:rPr>
              <a:t>single-layer feed forward </a:t>
            </a:r>
            <a:r>
              <a:rPr lang="en-US" dirty="0"/>
              <a:t>network. The only difference is that the </a:t>
            </a:r>
            <a:r>
              <a:rPr lang="en-US" b="1" dirty="0">
                <a:solidFill>
                  <a:srgbClr val="0000FF"/>
                </a:solidFill>
              </a:rPr>
              <a:t>output neurons are connected with each other </a:t>
            </a:r>
            <a:r>
              <a:rPr lang="en-US" dirty="0"/>
              <a:t>(either partially or fully).</a:t>
            </a:r>
          </a:p>
          <a:p>
            <a:endParaRPr lang="en-US" dirty="0"/>
          </a:p>
          <a:p>
            <a:pPr>
              <a:buNone/>
            </a:pPr>
            <a:r>
              <a:rPr lang="en-US" b="1" dirty="0"/>
              <a:t>Recurrent network :</a:t>
            </a:r>
          </a:p>
          <a:p>
            <a:r>
              <a:rPr lang="en-US" dirty="0"/>
              <a:t>We have seen that in feed forward networks, signals always flow from the input layer towards the output layer (through the hidden layers in the case of multi-layer feed forward networks), i.e. in one direction. In the case of recurrent neural networks, there is a small deviation. There is a </a:t>
            </a:r>
            <a:r>
              <a:rPr lang="en-US" b="1" dirty="0">
                <a:solidFill>
                  <a:srgbClr val="0000FF"/>
                </a:solidFill>
              </a:rPr>
              <a:t>feedback loop</a:t>
            </a:r>
            <a:r>
              <a:rPr lang="en-US" dirty="0"/>
              <a:t>. There may also be </a:t>
            </a:r>
            <a:r>
              <a:rPr lang="en-US" b="1" dirty="0">
                <a:solidFill>
                  <a:srgbClr val="0000FF"/>
                </a:solidFill>
              </a:rPr>
              <a:t>self-loops</a:t>
            </a:r>
          </a:p>
          <a:p>
            <a:endParaRPr lang="en-US" dirty="0"/>
          </a:p>
        </p:txBody>
      </p:sp>
      <p:pic>
        <p:nvPicPr>
          <p:cNvPr id="64514" name="Picture 2"/>
          <p:cNvPicPr>
            <a:picLocks noChangeAspect="1" noChangeArrowheads="1"/>
          </p:cNvPicPr>
          <p:nvPr/>
        </p:nvPicPr>
        <p:blipFill>
          <a:blip r:embed="rId2" cstate="print"/>
          <a:srcRect/>
          <a:stretch>
            <a:fillRect/>
          </a:stretch>
        </p:blipFill>
        <p:spPr bwMode="auto">
          <a:xfrm>
            <a:off x="5076825" y="0"/>
            <a:ext cx="4067175" cy="3705225"/>
          </a:xfrm>
          <a:prstGeom prst="rect">
            <a:avLst/>
          </a:prstGeom>
          <a:noFill/>
          <a:ln w="9525">
            <a:noFill/>
            <a:miter lim="800000"/>
            <a:headEnd/>
            <a:tailEnd/>
          </a:ln>
          <a:effectLst/>
        </p:spPr>
      </p:pic>
      <p:pic>
        <p:nvPicPr>
          <p:cNvPr id="64515" name="Picture 3"/>
          <p:cNvPicPr>
            <a:picLocks noChangeAspect="1" noChangeArrowheads="1"/>
          </p:cNvPicPr>
          <p:nvPr/>
        </p:nvPicPr>
        <p:blipFill>
          <a:blip r:embed="rId3" cstate="print"/>
          <a:srcRect/>
          <a:stretch>
            <a:fillRect/>
          </a:stretch>
        </p:blipFill>
        <p:spPr bwMode="auto">
          <a:xfrm>
            <a:off x="4931755" y="3657600"/>
            <a:ext cx="4212245" cy="3071812"/>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132856"/>
            <a:ext cx="8229600" cy="1143000"/>
          </a:xfrm>
        </p:spPr>
        <p:txBody>
          <a:bodyPr/>
          <a:lstStyle/>
          <a:p>
            <a:r>
              <a:rPr lang="en-US" dirty="0" smtClean="0"/>
              <a:t>Problems </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52400" y="76200"/>
            <a:ext cx="4343652" cy="41910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b="5263"/>
          <a:stretch>
            <a:fillRect/>
          </a:stretch>
        </p:blipFill>
        <p:spPr bwMode="auto">
          <a:xfrm>
            <a:off x="4495800" y="3886200"/>
            <a:ext cx="4120107" cy="2743200"/>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34159" y="381000"/>
            <a:ext cx="3928241" cy="17526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cstate="print"/>
          <a:srcRect/>
          <a:stretch>
            <a:fillRect/>
          </a:stretch>
        </p:blipFill>
        <p:spPr bwMode="auto">
          <a:xfrm>
            <a:off x="3810000" y="1066800"/>
            <a:ext cx="5273358" cy="541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57200"/>
            <a:ext cx="7848600" cy="685800"/>
          </a:xfrm>
        </p:spPr>
        <p:txBody>
          <a:bodyPr>
            <a:normAutofit fontScale="92500" lnSpcReduction="20000"/>
          </a:bodyPr>
          <a:lstStyle/>
          <a:p>
            <a:pPr>
              <a:buNone/>
            </a:pPr>
            <a:r>
              <a:rPr lang="en-US" dirty="0" smtClean="0"/>
              <a:t>Applying activation function</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33399" y="1219200"/>
            <a:ext cx="3882319" cy="54102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4876800" y="1219200"/>
            <a:ext cx="4008526" cy="5410200"/>
          </a:xfrm>
          <a:prstGeom prst="rect">
            <a:avLst/>
          </a:prstGeom>
          <a:noFill/>
          <a:ln w="9525">
            <a:noFill/>
            <a:miter lim="800000"/>
            <a:headEnd/>
            <a:tailEnd/>
          </a:ln>
          <a:effectLst/>
        </p:spPr>
      </p:pic>
      <p:pic>
        <p:nvPicPr>
          <p:cNvPr id="6" name="Picture 4"/>
          <p:cNvPicPr>
            <a:picLocks noChangeAspect="1" noChangeArrowheads="1"/>
          </p:cNvPicPr>
          <p:nvPr/>
        </p:nvPicPr>
        <p:blipFill>
          <a:blip r:embed="rId4" cstate="print"/>
          <a:srcRect t="13675"/>
          <a:stretch>
            <a:fillRect/>
          </a:stretch>
        </p:blipFill>
        <p:spPr bwMode="auto">
          <a:xfrm>
            <a:off x="4953000" y="152400"/>
            <a:ext cx="2743200" cy="844705"/>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r>
              <a:rPr lang="en-US" sz="1600" dirty="0"/>
              <a:t>Find the net input</a:t>
            </a:r>
          </a:p>
        </p:txBody>
      </p:sp>
      <p:pic>
        <p:nvPicPr>
          <p:cNvPr id="2050" name="Picture 2"/>
          <p:cNvPicPr>
            <a:picLocks noChangeAspect="1" noChangeArrowheads="1"/>
          </p:cNvPicPr>
          <p:nvPr/>
        </p:nvPicPr>
        <p:blipFill>
          <a:blip r:embed="rId2" cstate="print"/>
          <a:srcRect/>
          <a:stretch>
            <a:fillRect/>
          </a:stretch>
        </p:blipFill>
        <p:spPr bwMode="auto">
          <a:xfrm>
            <a:off x="457200" y="990600"/>
            <a:ext cx="7162800" cy="2686050"/>
          </a:xfrm>
          <a:prstGeom prst="rect">
            <a:avLst/>
          </a:prstGeom>
          <a:noFill/>
          <a:ln w="9525">
            <a:noFill/>
            <a:miter lim="800000"/>
            <a:headEnd/>
            <a:tailEnd/>
          </a:ln>
          <a:effectLst/>
        </p:spPr>
      </p:pic>
      <p:pic>
        <p:nvPicPr>
          <p:cNvPr id="4" name="Picture 2"/>
          <p:cNvPicPr>
            <a:picLocks noChangeAspect="1" noChangeArrowheads="1"/>
          </p:cNvPicPr>
          <p:nvPr/>
        </p:nvPicPr>
        <p:blipFill>
          <a:blip r:embed="rId3" cstate="print"/>
          <a:srcRect/>
          <a:stretch>
            <a:fillRect/>
          </a:stretch>
        </p:blipFill>
        <p:spPr bwMode="auto">
          <a:xfrm>
            <a:off x="381000" y="3048000"/>
            <a:ext cx="4419600" cy="329622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cstate="print"/>
          <a:srcRect/>
          <a:stretch>
            <a:fillRect/>
          </a:stretch>
        </p:blipFill>
        <p:spPr bwMode="auto">
          <a:xfrm>
            <a:off x="1176338" y="728663"/>
            <a:ext cx="6791325" cy="5400675"/>
          </a:xfrm>
          <a:prstGeom prst="rect">
            <a:avLst/>
          </a:prstGeom>
          <a:noFill/>
          <a:ln w="9525">
            <a:noFill/>
            <a:miter lim="800000"/>
            <a:headEnd/>
            <a:tailEnd/>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All types of Numericals"/>
          <p:cNvPicPr>
            <a:picLocks noChangeAspect="1" noChangeArrowheads="1"/>
          </p:cNvPicPr>
          <p:nvPr/>
        </p:nvPicPr>
        <p:blipFill>
          <a:blip r:embed="rId2" cstate="print"/>
          <a:srcRect/>
          <a:stretch>
            <a:fillRect/>
          </a:stretch>
        </p:blipFill>
        <p:spPr bwMode="auto">
          <a:xfrm>
            <a:off x="611560" y="188640"/>
            <a:ext cx="4495800" cy="2038350"/>
          </a:xfrm>
          <a:prstGeom prst="rect">
            <a:avLst/>
          </a:prstGeom>
          <a:noFill/>
        </p:spPr>
      </p:pic>
      <p:pic>
        <p:nvPicPr>
          <p:cNvPr id="129028" name="Picture 4" descr="A super simple introduction to neural networks"/>
          <p:cNvPicPr>
            <a:picLocks noChangeAspect="1" noChangeArrowheads="1"/>
          </p:cNvPicPr>
          <p:nvPr/>
        </p:nvPicPr>
        <p:blipFill>
          <a:blip r:embed="rId3" cstate="print"/>
          <a:srcRect l="4797" t="6217" r="5654"/>
          <a:stretch>
            <a:fillRect/>
          </a:stretch>
        </p:blipFill>
        <p:spPr bwMode="auto">
          <a:xfrm>
            <a:off x="611560" y="2204864"/>
            <a:ext cx="3528392" cy="2093251"/>
          </a:xfrm>
          <a:prstGeom prst="rect">
            <a:avLst/>
          </a:prstGeom>
          <a:noFill/>
        </p:spPr>
      </p:pic>
      <p:pic>
        <p:nvPicPr>
          <p:cNvPr id="129032" name="Picture 8" descr="student submitted image, transcription available below"/>
          <p:cNvPicPr>
            <a:picLocks noChangeAspect="1" noChangeArrowheads="1"/>
          </p:cNvPicPr>
          <p:nvPr/>
        </p:nvPicPr>
        <p:blipFill>
          <a:blip r:embed="rId4" cstate="print"/>
          <a:srcRect l="2351" r="9469" b="8365"/>
          <a:stretch>
            <a:fillRect/>
          </a:stretch>
        </p:blipFill>
        <p:spPr bwMode="auto">
          <a:xfrm>
            <a:off x="3743400" y="3789040"/>
            <a:ext cx="5400600" cy="2880320"/>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descr="Solved 4.1) Given a neural network as below, where the | Chegg.com"/>
          <p:cNvPicPr>
            <a:picLocks noChangeAspect="1" noChangeArrowheads="1"/>
          </p:cNvPicPr>
          <p:nvPr/>
        </p:nvPicPr>
        <p:blipFill>
          <a:blip r:embed="rId2" cstate="print"/>
          <a:srcRect/>
          <a:stretch>
            <a:fillRect/>
          </a:stretch>
        </p:blipFill>
        <p:spPr bwMode="auto">
          <a:xfrm>
            <a:off x="467544" y="188640"/>
            <a:ext cx="5256584" cy="2793102"/>
          </a:xfrm>
          <a:prstGeom prst="rect">
            <a:avLst/>
          </a:prstGeom>
          <a:noFill/>
        </p:spPr>
      </p:pic>
      <p:sp>
        <p:nvSpPr>
          <p:cNvPr id="131076" name="AutoShape 4" descr="1: Initial Weights for XOR (2-2-1) problem Table 6.3 shows the...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31078" name="AutoShape 6" descr="1: Initial Weights for XOR (2-2-1) problem Table 6.3 shows the parameters to solve the XOR (2-2-1) problem using the following algorithms: BP, BPM, QP, DBD, OBP, EVDBD, and OBPM respectively.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31079" name="Picture 7"/>
          <p:cNvPicPr>
            <a:picLocks noChangeAspect="1" noChangeArrowheads="1"/>
          </p:cNvPicPr>
          <p:nvPr/>
        </p:nvPicPr>
        <p:blipFill>
          <a:blip r:embed="rId3" cstate="print"/>
          <a:srcRect/>
          <a:stretch>
            <a:fillRect/>
          </a:stretch>
        </p:blipFill>
        <p:spPr bwMode="auto">
          <a:xfrm>
            <a:off x="827584" y="3254881"/>
            <a:ext cx="5881663" cy="3603119"/>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p:cNvPicPr>
            <a:picLocks noChangeAspect="1" noChangeArrowheads="1"/>
          </p:cNvPicPr>
          <p:nvPr/>
        </p:nvPicPr>
        <p:blipFill>
          <a:blip r:embed="rId2" cstate="print"/>
          <a:srcRect/>
          <a:stretch>
            <a:fillRect/>
          </a:stretch>
        </p:blipFill>
        <p:spPr bwMode="auto">
          <a:xfrm>
            <a:off x="323528" y="188640"/>
            <a:ext cx="6696745" cy="2845545"/>
          </a:xfrm>
          <a:prstGeom prst="rect">
            <a:avLst/>
          </a:prstGeom>
          <a:noFill/>
          <a:ln w="9525">
            <a:noFill/>
            <a:miter lim="800000"/>
            <a:headEnd/>
            <a:tailEnd/>
          </a:ln>
        </p:spPr>
      </p:pic>
      <p:pic>
        <p:nvPicPr>
          <p:cNvPr id="132098" name="Picture 2" descr="Neural Network XOR Application and Fundamentals | by Aditya V. D | Becoming  Human: Artificial Intelligence Magazine"/>
          <p:cNvPicPr>
            <a:picLocks noChangeAspect="1" noChangeArrowheads="1"/>
          </p:cNvPicPr>
          <p:nvPr/>
        </p:nvPicPr>
        <p:blipFill>
          <a:blip r:embed="rId3" cstate="print"/>
          <a:srcRect l="13669" t="37417" r="15884" b="14895"/>
          <a:stretch>
            <a:fillRect/>
          </a:stretch>
        </p:blipFill>
        <p:spPr bwMode="auto">
          <a:xfrm>
            <a:off x="1331640" y="3573016"/>
            <a:ext cx="4824536" cy="2448272"/>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p:cNvPicPr>
            <a:picLocks noChangeAspect="1" noChangeArrowheads="1"/>
          </p:cNvPicPr>
          <p:nvPr/>
        </p:nvPicPr>
        <p:blipFill>
          <a:blip r:embed="rId2" cstate="print"/>
          <a:srcRect/>
          <a:stretch>
            <a:fillRect/>
          </a:stretch>
        </p:blipFill>
        <p:spPr bwMode="auto">
          <a:xfrm>
            <a:off x="683568" y="260648"/>
            <a:ext cx="6707671" cy="2592288"/>
          </a:xfrm>
          <a:prstGeom prst="rect">
            <a:avLst/>
          </a:prstGeom>
          <a:noFill/>
          <a:ln w="9525">
            <a:noFill/>
            <a:miter lim="800000"/>
            <a:headEnd/>
            <a:tailEnd/>
          </a:ln>
        </p:spPr>
      </p:pic>
      <p:pic>
        <p:nvPicPr>
          <p:cNvPr id="126980" name="Picture 4"/>
          <p:cNvPicPr>
            <a:picLocks noChangeAspect="1" noChangeArrowheads="1"/>
          </p:cNvPicPr>
          <p:nvPr/>
        </p:nvPicPr>
        <p:blipFill>
          <a:blip r:embed="rId3" cstate="print"/>
          <a:srcRect/>
          <a:stretch>
            <a:fillRect/>
          </a:stretch>
        </p:blipFill>
        <p:spPr bwMode="auto">
          <a:xfrm>
            <a:off x="971600" y="2924944"/>
            <a:ext cx="6181725" cy="3714750"/>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2" cstate="print"/>
          <a:srcRect/>
          <a:stretch>
            <a:fillRect/>
          </a:stretch>
        </p:blipFill>
        <p:spPr bwMode="auto">
          <a:xfrm>
            <a:off x="755577" y="188641"/>
            <a:ext cx="5832648" cy="3668498"/>
          </a:xfrm>
          <a:prstGeom prst="rect">
            <a:avLst/>
          </a:prstGeom>
          <a:noFill/>
          <a:ln w="9525">
            <a:noFill/>
            <a:miter lim="800000"/>
            <a:headEnd/>
            <a:tailEnd/>
          </a:ln>
        </p:spPr>
      </p:pic>
      <p:pic>
        <p:nvPicPr>
          <p:cNvPr id="128004" name="Picture 4"/>
          <p:cNvPicPr>
            <a:picLocks noChangeAspect="1" noChangeArrowheads="1"/>
          </p:cNvPicPr>
          <p:nvPr/>
        </p:nvPicPr>
        <p:blipFill>
          <a:blip r:embed="rId3" cstate="print"/>
          <a:srcRect/>
          <a:stretch>
            <a:fillRect/>
          </a:stretch>
        </p:blipFill>
        <p:spPr bwMode="auto">
          <a:xfrm>
            <a:off x="1187624" y="3736801"/>
            <a:ext cx="5934075" cy="307657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noChangeArrowheads="1"/>
          </p:cNvPicPr>
          <p:nvPr/>
        </p:nvPicPr>
        <p:blipFill>
          <a:blip r:embed="rId2" cstate="print"/>
          <a:srcRect/>
          <a:stretch>
            <a:fillRect/>
          </a:stretch>
        </p:blipFill>
        <p:spPr bwMode="auto">
          <a:xfrm>
            <a:off x="611560" y="4365104"/>
            <a:ext cx="7648575" cy="2114550"/>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nter image description here"/>
          <p:cNvPicPr>
            <a:picLocks noChangeAspect="1" noChangeArrowheads="1"/>
          </p:cNvPicPr>
          <p:nvPr/>
        </p:nvPicPr>
        <p:blipFill>
          <a:blip r:embed="rId2" cstate="print"/>
          <a:srcRect l="3681" r="4286" b="3136"/>
          <a:stretch>
            <a:fillRect/>
          </a:stretch>
        </p:blipFill>
        <p:spPr bwMode="auto">
          <a:xfrm>
            <a:off x="467544" y="188640"/>
            <a:ext cx="5733970" cy="6192688"/>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Activation Function</a:t>
            </a:r>
            <a:endParaRPr lang="en-US" b="1" dirty="0"/>
          </a:p>
        </p:txBody>
      </p:sp>
      <p:sp>
        <p:nvSpPr>
          <p:cNvPr id="3" name="Content Placeholder 2"/>
          <p:cNvSpPr>
            <a:spLocks noGrp="1"/>
          </p:cNvSpPr>
          <p:nvPr>
            <p:ph idx="1"/>
          </p:nvPr>
        </p:nvSpPr>
        <p:spPr>
          <a:xfrm>
            <a:off x="323528" y="1340768"/>
            <a:ext cx="8568952" cy="5256584"/>
          </a:xfrm>
        </p:spPr>
        <p:txBody>
          <a:bodyPr>
            <a:normAutofit fontScale="77500" lnSpcReduction="20000"/>
          </a:bodyPr>
          <a:lstStyle/>
          <a:p>
            <a:r>
              <a:rPr lang="en-US" dirty="0" smtClean="0"/>
              <a:t>is a </a:t>
            </a:r>
            <a:r>
              <a:rPr lang="en-US" b="1" dirty="0" smtClean="0">
                <a:solidFill>
                  <a:srgbClr val="0033CC"/>
                </a:solidFill>
              </a:rPr>
              <a:t>mathematical function </a:t>
            </a:r>
            <a:r>
              <a:rPr lang="en-US" dirty="0" smtClean="0"/>
              <a:t>applied to </a:t>
            </a:r>
            <a:r>
              <a:rPr lang="en-US" b="1" dirty="0" smtClean="0">
                <a:solidFill>
                  <a:srgbClr val="0033CC"/>
                </a:solidFill>
              </a:rPr>
              <a:t>the output of a neuron</a:t>
            </a:r>
            <a:r>
              <a:rPr lang="en-US" dirty="0" smtClean="0"/>
              <a:t>.</a:t>
            </a:r>
          </a:p>
          <a:p>
            <a:r>
              <a:rPr lang="en-US" dirty="0" smtClean="0"/>
              <a:t>use activation functions to </a:t>
            </a:r>
            <a:r>
              <a:rPr lang="en-US" b="1" dirty="0" smtClean="0">
                <a:solidFill>
                  <a:srgbClr val="0033CC"/>
                </a:solidFill>
              </a:rPr>
              <a:t>propagate the output of one layer’s </a:t>
            </a:r>
            <a:r>
              <a:rPr lang="en-US" dirty="0" smtClean="0"/>
              <a:t>nodes </a:t>
            </a:r>
            <a:r>
              <a:rPr lang="en-US" b="1" dirty="0" smtClean="0">
                <a:solidFill>
                  <a:srgbClr val="0033CC"/>
                </a:solidFill>
              </a:rPr>
              <a:t>forward to the next layer </a:t>
            </a:r>
            <a:r>
              <a:rPr lang="en-US" dirty="0" smtClean="0"/>
              <a:t>(up to and including the output layer).</a:t>
            </a:r>
          </a:p>
          <a:p>
            <a:r>
              <a:rPr lang="en-US" dirty="0" smtClean="0"/>
              <a:t>use in the </a:t>
            </a:r>
            <a:r>
              <a:rPr lang="en-US" b="1" dirty="0" smtClean="0">
                <a:solidFill>
                  <a:srgbClr val="0033CC"/>
                </a:solidFill>
              </a:rPr>
              <a:t>hidden layer as well as at the output layer </a:t>
            </a:r>
            <a:r>
              <a:rPr lang="en-US" dirty="0" smtClean="0"/>
              <a:t>of the network.</a:t>
            </a:r>
          </a:p>
          <a:p>
            <a:r>
              <a:rPr lang="en-US" dirty="0" smtClean="0"/>
              <a:t>to </a:t>
            </a:r>
            <a:r>
              <a:rPr lang="en-US" b="1" dirty="0" smtClean="0">
                <a:solidFill>
                  <a:srgbClr val="0033CC"/>
                </a:solidFill>
              </a:rPr>
              <a:t>introduce non-linearity </a:t>
            </a:r>
            <a:r>
              <a:rPr lang="en-US" dirty="0" smtClean="0"/>
              <a:t>into the model, allowing the network to </a:t>
            </a:r>
            <a:r>
              <a:rPr lang="en-US" b="1" dirty="0" smtClean="0">
                <a:solidFill>
                  <a:srgbClr val="0033CC"/>
                </a:solidFill>
              </a:rPr>
              <a:t>learn and represent complex patterns </a:t>
            </a:r>
            <a:r>
              <a:rPr lang="en-US" dirty="0" smtClean="0"/>
              <a:t>in the data</a:t>
            </a:r>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0"/>
            <a:ext cx="8712968" cy="6669360"/>
          </a:xfrm>
        </p:spPr>
        <p:txBody>
          <a:bodyPr numCol="2">
            <a:noAutofit/>
          </a:bodyPr>
          <a:lstStyle/>
          <a:p>
            <a:pPr>
              <a:buNone/>
            </a:pPr>
            <a:r>
              <a:rPr lang="en-US" sz="1400" b="1" u="sng" dirty="0" smtClean="0">
                <a:solidFill>
                  <a:srgbClr val="C00000"/>
                </a:solidFill>
              </a:rPr>
              <a:t>Linear </a:t>
            </a:r>
            <a:r>
              <a:rPr lang="en-US" sz="1400" dirty="0" smtClean="0">
                <a:solidFill>
                  <a:srgbClr val="C00000"/>
                </a:solidFill>
              </a:rPr>
              <a:t>:</a:t>
            </a:r>
            <a:r>
              <a:rPr lang="en-US" sz="1200" dirty="0" smtClean="0"/>
              <a:t>the equation similar to as of a straight line i.e. </a:t>
            </a:r>
            <a:r>
              <a:rPr lang="en-US" sz="1200" b="1" dirty="0" smtClean="0"/>
              <a:t>y = x</a:t>
            </a:r>
            <a:r>
              <a:rPr lang="en-US" sz="1200" dirty="0" smtClean="0"/>
              <a:t>,</a:t>
            </a:r>
          </a:p>
          <a:p>
            <a:pPr fontAlgn="base">
              <a:buNone/>
            </a:pPr>
            <a:r>
              <a:rPr lang="en-US" sz="1200" b="1" dirty="0" smtClean="0"/>
              <a:t>Range :</a:t>
            </a:r>
            <a:r>
              <a:rPr lang="en-US" sz="1200" dirty="0" smtClean="0"/>
              <a:t> -</a:t>
            </a:r>
            <a:r>
              <a:rPr lang="en-US" sz="1200" dirty="0" err="1" smtClean="0"/>
              <a:t>inf</a:t>
            </a:r>
            <a:r>
              <a:rPr lang="en-US" sz="1200" dirty="0" smtClean="0"/>
              <a:t> to +</a:t>
            </a:r>
            <a:r>
              <a:rPr lang="en-US" sz="1200" dirty="0" err="1" smtClean="0"/>
              <a:t>inf</a:t>
            </a:r>
            <a:endParaRPr lang="en-US" sz="1200" dirty="0" smtClean="0"/>
          </a:p>
          <a:p>
            <a:pPr fontAlgn="base">
              <a:buNone/>
            </a:pPr>
            <a:r>
              <a:rPr lang="en-US" sz="1200" b="1" dirty="0" smtClean="0"/>
              <a:t>Uses : Linear activation function</a:t>
            </a:r>
            <a:r>
              <a:rPr lang="en-US" sz="1200" dirty="0" smtClean="0"/>
              <a:t> is used at just one place i.e. </a:t>
            </a:r>
            <a:r>
              <a:rPr lang="en-US" sz="1200" b="1" dirty="0" smtClean="0">
                <a:solidFill>
                  <a:srgbClr val="0033CC"/>
                </a:solidFill>
              </a:rPr>
              <a:t>output layer.</a:t>
            </a:r>
          </a:p>
          <a:p>
            <a:pPr>
              <a:buNone/>
            </a:pPr>
            <a:r>
              <a:rPr lang="en-US" sz="1400" b="1" u="sng" dirty="0" smtClean="0">
                <a:solidFill>
                  <a:srgbClr val="C00000"/>
                </a:solidFill>
              </a:rPr>
              <a:t>Sigmoid :   </a:t>
            </a:r>
            <a:r>
              <a:rPr lang="it-IT" sz="1200" b="1" dirty="0" smtClean="0"/>
              <a:t>Equation : </a:t>
            </a:r>
            <a:r>
              <a:rPr lang="it-IT" sz="1200" dirty="0" smtClean="0"/>
              <a:t>A = 1/(1 + e</a:t>
            </a:r>
            <a:r>
              <a:rPr lang="it-IT" sz="1200" baseline="30000" dirty="0" smtClean="0"/>
              <a:t>-x</a:t>
            </a:r>
            <a:r>
              <a:rPr lang="it-IT" sz="1200" dirty="0" smtClean="0"/>
              <a:t>)</a:t>
            </a:r>
          </a:p>
          <a:p>
            <a:pPr fontAlgn="base">
              <a:buNone/>
            </a:pPr>
            <a:r>
              <a:rPr lang="it-IT" sz="1200" b="1" dirty="0" smtClean="0"/>
              <a:t>Nature :</a:t>
            </a:r>
            <a:r>
              <a:rPr lang="it-IT" sz="1200" dirty="0" smtClean="0"/>
              <a:t> Non-linear. </a:t>
            </a:r>
          </a:p>
          <a:p>
            <a:pPr>
              <a:buNone/>
            </a:pPr>
            <a:r>
              <a:rPr lang="en-US" sz="1200" b="1" dirty="0" smtClean="0"/>
              <a:t>Value Range : </a:t>
            </a:r>
            <a:r>
              <a:rPr lang="en-US" sz="1200" dirty="0" smtClean="0"/>
              <a:t>0 to 1</a:t>
            </a:r>
          </a:p>
          <a:p>
            <a:pPr>
              <a:buNone/>
            </a:pPr>
            <a:r>
              <a:rPr lang="en-US" sz="1200" b="1" dirty="0" smtClean="0"/>
              <a:t>Uses : </a:t>
            </a:r>
            <a:r>
              <a:rPr lang="en-US" sz="1200" dirty="0" smtClean="0"/>
              <a:t>Usually </a:t>
            </a:r>
            <a:r>
              <a:rPr lang="en-US" sz="1200" b="1" dirty="0" smtClean="0">
                <a:solidFill>
                  <a:srgbClr val="0033CC"/>
                </a:solidFill>
              </a:rPr>
              <a:t>used in output layer of a binary classification</a:t>
            </a:r>
            <a:r>
              <a:rPr lang="en-US" sz="1200" dirty="0" smtClean="0"/>
              <a:t>, where result is either 0 or 1, as value for sigmoid function lies between 0 and 1 only so, result can be predicted easily to be </a:t>
            </a:r>
            <a:r>
              <a:rPr lang="en-US" sz="1200" b="1" i="1" dirty="0" smtClean="0"/>
              <a:t>1</a:t>
            </a:r>
            <a:r>
              <a:rPr lang="en-US" sz="1200" dirty="0" smtClean="0"/>
              <a:t> if value is greater than </a:t>
            </a:r>
            <a:r>
              <a:rPr lang="en-US" sz="1200" b="1" dirty="0" smtClean="0"/>
              <a:t>0.5</a:t>
            </a:r>
            <a:r>
              <a:rPr lang="en-US" sz="1200" dirty="0" smtClean="0"/>
              <a:t> and </a:t>
            </a:r>
            <a:r>
              <a:rPr lang="en-US" sz="1200" b="1" i="1" dirty="0" smtClean="0"/>
              <a:t>0</a:t>
            </a:r>
            <a:r>
              <a:rPr lang="en-US" sz="1200" dirty="0" smtClean="0"/>
              <a:t> otherwise.</a:t>
            </a:r>
          </a:p>
          <a:p>
            <a:pPr>
              <a:buNone/>
            </a:pPr>
            <a:r>
              <a:rPr lang="en-US" sz="1400" b="1" u="sng" dirty="0" err="1" smtClean="0">
                <a:solidFill>
                  <a:srgbClr val="C00000"/>
                </a:solidFill>
              </a:rPr>
              <a:t>Tanh</a:t>
            </a:r>
            <a:r>
              <a:rPr lang="en-US" sz="1400" b="1" u="sng" dirty="0" smtClean="0">
                <a:solidFill>
                  <a:srgbClr val="C00000"/>
                </a:solidFill>
              </a:rPr>
              <a:t> </a:t>
            </a:r>
            <a:r>
              <a:rPr lang="en-US" sz="1200" b="1" u="sng" dirty="0" smtClean="0"/>
              <a:t>: </a:t>
            </a:r>
            <a:r>
              <a:rPr lang="en-US" sz="1200" b="1" dirty="0" smtClean="0"/>
              <a:t>Tangent Hyperbolic function</a:t>
            </a:r>
            <a:r>
              <a:rPr lang="en-US" sz="1200" dirty="0" smtClean="0"/>
              <a:t>.</a:t>
            </a:r>
          </a:p>
          <a:p>
            <a:pPr fontAlgn="base">
              <a:buNone/>
            </a:pPr>
            <a:r>
              <a:rPr lang="en-US" sz="1200" dirty="0" smtClean="0"/>
              <a:t>f(x) = </a:t>
            </a:r>
            <a:r>
              <a:rPr lang="en-US" sz="1200" dirty="0" err="1" smtClean="0"/>
              <a:t>tanh</a:t>
            </a:r>
            <a:r>
              <a:rPr lang="en-US" sz="1200" dirty="0" smtClean="0"/>
              <a:t>(x) = 2/(1 + e-2x) – 1</a:t>
            </a:r>
            <a:br>
              <a:rPr lang="en-US" sz="1200" dirty="0" smtClean="0"/>
            </a:br>
            <a:r>
              <a:rPr lang="en-US" sz="1200" dirty="0" smtClean="0"/>
              <a:t>OR   </a:t>
            </a:r>
            <a:r>
              <a:rPr lang="en-US" sz="1200" dirty="0" err="1" smtClean="0"/>
              <a:t>tanh</a:t>
            </a:r>
            <a:r>
              <a:rPr lang="en-US" sz="1200" dirty="0" smtClean="0"/>
              <a:t>(x) = 2 * sigmoid(2x) – 1</a:t>
            </a:r>
          </a:p>
          <a:p>
            <a:pPr fontAlgn="base">
              <a:buNone/>
            </a:pPr>
            <a:r>
              <a:rPr lang="en-US" sz="1200" b="1" dirty="0" smtClean="0"/>
              <a:t>Value Range :- </a:t>
            </a:r>
            <a:r>
              <a:rPr lang="en-US" sz="1200" dirty="0" smtClean="0"/>
              <a:t>-1 to +1     </a:t>
            </a:r>
          </a:p>
          <a:p>
            <a:pPr fontAlgn="base">
              <a:buNone/>
            </a:pPr>
            <a:r>
              <a:rPr lang="en-US" sz="1200" b="1" dirty="0" smtClean="0"/>
              <a:t>Nature :- </a:t>
            </a:r>
            <a:r>
              <a:rPr lang="en-US" sz="1200" dirty="0" smtClean="0"/>
              <a:t>non-linear</a:t>
            </a:r>
          </a:p>
          <a:p>
            <a:pPr fontAlgn="base">
              <a:buNone/>
            </a:pPr>
            <a:r>
              <a:rPr lang="en-US" sz="1200" b="1" dirty="0" smtClean="0"/>
              <a:t>Uses :- </a:t>
            </a:r>
            <a:r>
              <a:rPr lang="en-US" sz="1200" b="1" dirty="0" smtClean="0">
                <a:solidFill>
                  <a:srgbClr val="0033CC"/>
                </a:solidFill>
              </a:rPr>
              <a:t>Usually used in hidden layers</a:t>
            </a:r>
            <a:r>
              <a:rPr lang="en-US" sz="1200" dirty="0" smtClean="0"/>
              <a:t> </a:t>
            </a:r>
          </a:p>
          <a:p>
            <a:pPr>
              <a:buNone/>
            </a:pPr>
            <a:r>
              <a:rPr lang="en-US" sz="1400" b="1" u="sng" dirty="0" smtClean="0">
                <a:solidFill>
                  <a:srgbClr val="C00000"/>
                </a:solidFill>
              </a:rPr>
              <a:t>Hard </a:t>
            </a:r>
            <a:r>
              <a:rPr lang="en-US" sz="1400" b="1" u="sng" dirty="0" err="1" smtClean="0">
                <a:solidFill>
                  <a:srgbClr val="C00000"/>
                </a:solidFill>
              </a:rPr>
              <a:t>Tanh</a:t>
            </a:r>
            <a:r>
              <a:rPr lang="en-US" sz="1400" b="1" u="sng" dirty="0" smtClean="0">
                <a:solidFill>
                  <a:srgbClr val="C00000"/>
                </a:solidFill>
              </a:rPr>
              <a:t>: </a:t>
            </a:r>
            <a:r>
              <a:rPr lang="en-US" sz="1200" dirty="0" smtClean="0"/>
              <a:t>Similar to </a:t>
            </a:r>
            <a:r>
              <a:rPr lang="en-US" sz="1200" dirty="0" err="1" smtClean="0"/>
              <a:t>tanh</a:t>
            </a:r>
            <a:r>
              <a:rPr lang="en-US" sz="1200" dirty="0" smtClean="0"/>
              <a:t>, hard </a:t>
            </a:r>
            <a:r>
              <a:rPr lang="en-US" sz="1200" dirty="0" err="1" smtClean="0"/>
              <a:t>tanh</a:t>
            </a:r>
            <a:r>
              <a:rPr lang="en-US" sz="1200" dirty="0" smtClean="0"/>
              <a:t> simply applies hard caps to the normalized range. Anything more than 1 is made into 1, and anything less than –1 is made into –1. </a:t>
            </a:r>
            <a:r>
              <a:rPr lang="en-US" sz="1200" dirty="0"/>
              <a:t>It is a cheaper and more computationally efficient version of the </a:t>
            </a:r>
            <a:r>
              <a:rPr lang="en-US" sz="1200" dirty="0" err="1">
                <a:hlinkClick r:id="rId2"/>
              </a:rPr>
              <a:t>tanh</a:t>
            </a:r>
            <a:r>
              <a:rPr lang="en-US" sz="1200" dirty="0">
                <a:hlinkClick r:id="rId2"/>
              </a:rPr>
              <a:t> activation</a:t>
            </a:r>
            <a:r>
              <a:rPr lang="en-US" sz="1200" dirty="0"/>
              <a:t>.</a:t>
            </a:r>
            <a:endParaRPr lang="en-US" sz="1200" dirty="0" smtClean="0"/>
          </a:p>
          <a:p>
            <a:pPr>
              <a:buNone/>
            </a:pPr>
            <a:r>
              <a:rPr lang="en-US" sz="1400" b="1" u="sng" dirty="0" err="1" smtClean="0">
                <a:solidFill>
                  <a:srgbClr val="C00000"/>
                </a:solidFill>
              </a:rPr>
              <a:t>Softmax</a:t>
            </a:r>
            <a:r>
              <a:rPr lang="en-US" sz="1400" b="1" u="sng" dirty="0" smtClean="0">
                <a:solidFill>
                  <a:srgbClr val="C00000"/>
                </a:solidFill>
              </a:rPr>
              <a:t>: </a:t>
            </a:r>
          </a:p>
          <a:p>
            <a:pPr fontAlgn="base"/>
            <a:r>
              <a:rPr lang="en-US" sz="1200" dirty="0" smtClean="0"/>
              <a:t>The </a:t>
            </a:r>
            <a:r>
              <a:rPr lang="en-US" sz="1200" dirty="0" err="1" smtClean="0"/>
              <a:t>softmax</a:t>
            </a:r>
            <a:r>
              <a:rPr lang="en-US" sz="1200" dirty="0" smtClean="0"/>
              <a:t> function is also a type of sigmoid function but is handy when we are trying to handle multi- class classification problems.</a:t>
            </a:r>
          </a:p>
          <a:p>
            <a:pPr fontAlgn="base">
              <a:buNone/>
            </a:pPr>
            <a:r>
              <a:rPr lang="en-US" sz="1200" b="1" dirty="0" smtClean="0"/>
              <a:t>Nature :- </a:t>
            </a:r>
            <a:r>
              <a:rPr lang="en-US" sz="1200" dirty="0" smtClean="0"/>
              <a:t>non-linear</a:t>
            </a:r>
          </a:p>
          <a:p>
            <a:pPr fontAlgn="base">
              <a:buNone/>
            </a:pPr>
            <a:r>
              <a:rPr lang="en-US" sz="1200" b="1" dirty="0" smtClean="0"/>
              <a:t>Uses :- </a:t>
            </a:r>
            <a:r>
              <a:rPr lang="en-US" sz="1200" dirty="0" smtClean="0"/>
              <a:t>Usually used when trying to </a:t>
            </a:r>
            <a:r>
              <a:rPr lang="en-US" sz="1200" b="1" dirty="0" smtClean="0">
                <a:solidFill>
                  <a:srgbClr val="0033CC"/>
                </a:solidFill>
              </a:rPr>
              <a:t>handle multiple classes</a:t>
            </a:r>
            <a:r>
              <a:rPr lang="en-US" sz="1200" dirty="0" smtClean="0"/>
              <a:t>. the </a:t>
            </a:r>
            <a:r>
              <a:rPr lang="en-US" sz="1200" dirty="0" err="1" smtClean="0"/>
              <a:t>softmax</a:t>
            </a:r>
            <a:r>
              <a:rPr lang="en-US" sz="1200" dirty="0" smtClean="0"/>
              <a:t> function was </a:t>
            </a:r>
            <a:r>
              <a:rPr lang="en-US" sz="1200" b="1" dirty="0" smtClean="0">
                <a:solidFill>
                  <a:srgbClr val="0033CC"/>
                </a:solidFill>
              </a:rPr>
              <a:t>commonly found in the output layer of image classification problems.</a:t>
            </a:r>
          </a:p>
          <a:p>
            <a:pPr fontAlgn="base">
              <a:buNone/>
            </a:pPr>
            <a:r>
              <a:rPr lang="en-US" sz="1200" dirty="0" smtClean="0"/>
              <a:t>The </a:t>
            </a:r>
            <a:r>
              <a:rPr lang="en-US" sz="1200" dirty="0" err="1" smtClean="0"/>
              <a:t>softmax</a:t>
            </a:r>
            <a:r>
              <a:rPr lang="en-US" sz="1200" dirty="0" smtClean="0"/>
              <a:t> function would squeeze the outputs for each class between 0 and 1 and would also divide by the sum of the outputs.</a:t>
            </a:r>
          </a:p>
          <a:p>
            <a:pPr>
              <a:buNone/>
            </a:pPr>
            <a:r>
              <a:rPr lang="en-US" sz="1200" b="1" dirty="0" smtClean="0"/>
              <a:t>Output:- </a:t>
            </a:r>
            <a:r>
              <a:rPr lang="en-US" sz="1200" dirty="0" smtClean="0"/>
              <a:t>The </a:t>
            </a:r>
            <a:r>
              <a:rPr lang="en-US" sz="1200" dirty="0" err="1" smtClean="0"/>
              <a:t>softmax</a:t>
            </a:r>
            <a:r>
              <a:rPr lang="en-US" sz="1200" dirty="0" smtClean="0"/>
              <a:t> function is ideally used in the output layer of the classifier where we are actually trying to attain the probabilities to define the class of each input.</a:t>
            </a:r>
          </a:p>
          <a:p>
            <a:endParaRPr lang="en-US" sz="1200" dirty="0" smtClean="0"/>
          </a:p>
          <a:p>
            <a:pPr>
              <a:buNone/>
            </a:pPr>
            <a:r>
              <a:rPr lang="en-US" sz="1400" b="1" u="sng" dirty="0" err="1" smtClean="0">
                <a:solidFill>
                  <a:srgbClr val="C00000"/>
                </a:solidFill>
              </a:rPr>
              <a:t>ReLU</a:t>
            </a:r>
            <a:r>
              <a:rPr lang="en-US" sz="1400" b="1" u="sng" dirty="0" smtClean="0">
                <a:solidFill>
                  <a:srgbClr val="C00000"/>
                </a:solidFill>
              </a:rPr>
              <a:t> </a:t>
            </a:r>
            <a:r>
              <a:rPr lang="en-US" sz="1200" b="1" u="sng" dirty="0" smtClean="0"/>
              <a:t>: </a:t>
            </a:r>
            <a:r>
              <a:rPr lang="en-US" sz="1200" b="1" i="1" u="sng" dirty="0" smtClean="0"/>
              <a:t>Rectified linear unit</a:t>
            </a:r>
            <a:r>
              <a:rPr lang="en-US" sz="1200" b="1" u="sng" dirty="0" smtClean="0"/>
              <a:t>.</a:t>
            </a:r>
          </a:p>
          <a:p>
            <a:pPr fontAlgn="base">
              <a:buNone/>
            </a:pPr>
            <a:r>
              <a:rPr lang="en-US" sz="1200" b="1" dirty="0" smtClean="0"/>
              <a:t>Equation :- </a:t>
            </a:r>
            <a:r>
              <a:rPr lang="en-US" sz="1200" b="1" i="1" dirty="0" smtClean="0"/>
              <a:t>A(x) = max(0,x)</a:t>
            </a:r>
            <a:r>
              <a:rPr lang="en-US" sz="1200" dirty="0" smtClean="0"/>
              <a:t>. It gives an output x if x is positive and 0 otherwise.  </a:t>
            </a:r>
            <a:r>
              <a:rPr lang="en-US" sz="1200" b="1" dirty="0" smtClean="0">
                <a:solidFill>
                  <a:srgbClr val="0033CC"/>
                </a:solidFill>
              </a:rPr>
              <a:t>implemented in </a:t>
            </a:r>
            <a:r>
              <a:rPr lang="en-US" sz="1200" b="1" i="1" dirty="0" smtClean="0">
                <a:solidFill>
                  <a:srgbClr val="0033CC"/>
                </a:solidFill>
              </a:rPr>
              <a:t>hidden layers</a:t>
            </a:r>
            <a:endParaRPr lang="en-US" sz="1200" b="1" dirty="0" smtClean="0">
              <a:solidFill>
                <a:srgbClr val="0033CC"/>
              </a:solidFill>
            </a:endParaRPr>
          </a:p>
          <a:p>
            <a:pPr fontAlgn="base">
              <a:buNone/>
            </a:pPr>
            <a:r>
              <a:rPr lang="en-US" sz="1200" b="1" dirty="0" smtClean="0"/>
              <a:t>Value Range :- </a:t>
            </a:r>
            <a:r>
              <a:rPr lang="en-US" sz="1200" dirty="0" smtClean="0"/>
              <a:t>[0, </a:t>
            </a:r>
            <a:r>
              <a:rPr lang="en-US" sz="1200" dirty="0" err="1" smtClean="0"/>
              <a:t>inf</a:t>
            </a:r>
            <a:r>
              <a:rPr lang="en-US" sz="1200" dirty="0" smtClean="0"/>
              <a:t>)</a:t>
            </a:r>
          </a:p>
          <a:p>
            <a:pPr fontAlgn="base">
              <a:buNone/>
            </a:pPr>
            <a:r>
              <a:rPr lang="en-US" sz="1200" b="1" dirty="0" smtClean="0"/>
              <a:t>Nature :- </a:t>
            </a:r>
            <a:r>
              <a:rPr lang="en-US" sz="1200" dirty="0" smtClean="0"/>
              <a:t>non-linear, which means we can easily </a:t>
            </a:r>
            <a:r>
              <a:rPr lang="en-US" sz="1200" dirty="0" err="1" smtClean="0"/>
              <a:t>backpropagate</a:t>
            </a:r>
            <a:r>
              <a:rPr lang="en-US" sz="1200" dirty="0" smtClean="0"/>
              <a:t> the errors and have multiple layers of neurons being activated by the </a:t>
            </a:r>
            <a:r>
              <a:rPr lang="en-US" sz="1200" dirty="0" err="1" smtClean="0"/>
              <a:t>ReLU</a:t>
            </a:r>
            <a:r>
              <a:rPr lang="en-US" sz="1200" dirty="0" smtClean="0"/>
              <a:t> function.</a:t>
            </a:r>
          </a:p>
          <a:p>
            <a:pPr fontAlgn="base">
              <a:buNone/>
            </a:pPr>
            <a:endParaRPr lang="en-US" sz="1200" dirty="0" smtClean="0"/>
          </a:p>
          <a:p>
            <a:pPr>
              <a:buNone/>
            </a:pPr>
            <a:r>
              <a:rPr lang="en-US" sz="1200" b="1" dirty="0" smtClean="0"/>
              <a:t>Uses :- </a:t>
            </a:r>
            <a:r>
              <a:rPr lang="en-US" sz="1200" dirty="0" err="1" smtClean="0"/>
              <a:t>ReLu</a:t>
            </a:r>
            <a:r>
              <a:rPr lang="en-US" sz="1200" dirty="0" smtClean="0"/>
              <a:t> is </a:t>
            </a:r>
            <a:r>
              <a:rPr lang="en-US" sz="1200" b="1" dirty="0" smtClean="0">
                <a:solidFill>
                  <a:srgbClr val="0033CC"/>
                </a:solidFill>
              </a:rPr>
              <a:t>less computationally expensive than </a:t>
            </a:r>
            <a:r>
              <a:rPr lang="en-US" sz="1200" b="1" dirty="0" err="1" smtClean="0">
                <a:solidFill>
                  <a:srgbClr val="0033CC"/>
                </a:solidFill>
              </a:rPr>
              <a:t>tanh</a:t>
            </a:r>
            <a:r>
              <a:rPr lang="en-US" sz="1200" b="1" dirty="0" smtClean="0">
                <a:solidFill>
                  <a:srgbClr val="0033CC"/>
                </a:solidFill>
              </a:rPr>
              <a:t> and sigmoid</a:t>
            </a:r>
            <a:r>
              <a:rPr lang="en-US" sz="1200" dirty="0" smtClean="0"/>
              <a:t> because it involves </a:t>
            </a:r>
            <a:r>
              <a:rPr lang="en-US" sz="1200" b="1" dirty="0" smtClean="0">
                <a:solidFill>
                  <a:srgbClr val="0033CC"/>
                </a:solidFill>
              </a:rPr>
              <a:t>simpler mathematical operations</a:t>
            </a:r>
            <a:r>
              <a:rPr lang="en-US" sz="1200" dirty="0" smtClean="0"/>
              <a:t>.. RELU learns </a:t>
            </a:r>
            <a:r>
              <a:rPr lang="en-US" sz="1200" i="1" dirty="0" smtClean="0"/>
              <a:t>much faster</a:t>
            </a:r>
            <a:r>
              <a:rPr lang="en-US" sz="1200" dirty="0" smtClean="0"/>
              <a:t> than sigmoid and </a:t>
            </a:r>
            <a:r>
              <a:rPr lang="en-US" sz="1200" dirty="0" err="1" smtClean="0"/>
              <a:t>Tanh</a:t>
            </a:r>
            <a:r>
              <a:rPr lang="en-US" sz="1200" dirty="0" smtClean="0"/>
              <a:t> function.</a:t>
            </a:r>
            <a:endParaRPr lang="en-US" sz="1200" dirty="0"/>
          </a:p>
        </p:txBody>
      </p:sp>
      <p:pic>
        <p:nvPicPr>
          <p:cNvPr id="1026" name="Picture 2"/>
          <p:cNvPicPr>
            <a:picLocks noChangeAspect="1" noChangeArrowheads="1"/>
          </p:cNvPicPr>
          <p:nvPr/>
        </p:nvPicPr>
        <p:blipFill>
          <a:blip r:embed="rId3" cstate="print"/>
          <a:srcRect/>
          <a:stretch>
            <a:fillRect/>
          </a:stretch>
        </p:blipFill>
        <p:spPr bwMode="auto">
          <a:xfrm>
            <a:off x="1907704" y="5949280"/>
            <a:ext cx="1609725" cy="485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892480" cy="6336704"/>
          </a:xfrm>
        </p:spPr>
        <p:txBody>
          <a:bodyPr>
            <a:normAutofit fontScale="77500" lnSpcReduction="20000"/>
          </a:bodyPr>
          <a:lstStyle/>
          <a:p>
            <a:pPr fontAlgn="base">
              <a:buNone/>
            </a:pPr>
            <a:r>
              <a:rPr lang="en-US" b="1" u="sng" dirty="0" smtClean="0">
                <a:solidFill>
                  <a:srgbClr val="C00000"/>
                </a:solidFill>
              </a:rPr>
              <a:t>Leaky </a:t>
            </a:r>
            <a:r>
              <a:rPr lang="en-US" b="1" u="sng" dirty="0" err="1" smtClean="0">
                <a:solidFill>
                  <a:srgbClr val="C00000"/>
                </a:solidFill>
              </a:rPr>
              <a:t>ReLU</a:t>
            </a:r>
            <a:r>
              <a:rPr lang="en-US" b="1" u="sng" dirty="0" smtClean="0">
                <a:solidFill>
                  <a:srgbClr val="C00000"/>
                </a:solidFill>
              </a:rPr>
              <a:t>:</a:t>
            </a:r>
          </a:p>
          <a:p>
            <a:pPr fontAlgn="base"/>
            <a:endParaRPr lang="en-US" dirty="0" smtClean="0"/>
          </a:p>
          <a:p>
            <a:pPr fontAlgn="base">
              <a:buNone/>
            </a:pPr>
            <a:r>
              <a:rPr lang="en-US" b="1" u="sng" dirty="0" err="1" smtClean="0">
                <a:solidFill>
                  <a:srgbClr val="C00000"/>
                </a:solidFill>
              </a:rPr>
              <a:t>Softplus</a:t>
            </a:r>
            <a:r>
              <a:rPr lang="en-US" dirty="0" smtClean="0"/>
              <a:t> : smooth version of the </a:t>
            </a:r>
            <a:r>
              <a:rPr lang="en-US" dirty="0" err="1" smtClean="0"/>
              <a:t>ReLU</a:t>
            </a:r>
            <a:r>
              <a:rPr lang="en-US" dirty="0" smtClean="0"/>
              <a:t>.</a:t>
            </a:r>
          </a:p>
          <a:p>
            <a:pPr fontAlgn="base">
              <a:buNone/>
            </a:pPr>
            <a:r>
              <a:rPr lang="en-US" dirty="0" smtClean="0"/>
              <a:t> (f(x) = </a:t>
            </a:r>
            <a:r>
              <a:rPr lang="en-US" dirty="0" err="1" smtClean="0"/>
              <a:t>ln</a:t>
            </a:r>
            <a:r>
              <a:rPr lang="en-US" dirty="0" smtClean="0"/>
              <a:t>[ 1 + exp(x) ])</a:t>
            </a:r>
          </a:p>
          <a:p>
            <a:pPr fontAlgn="base"/>
            <a:r>
              <a:rPr lang="en-US" dirty="0" smtClean="0"/>
              <a:t>The basic rule of thumb is if you really don’t know what activation function to use, then simply use </a:t>
            </a:r>
            <a:r>
              <a:rPr lang="en-US" b="1" i="1" dirty="0" smtClean="0">
                <a:solidFill>
                  <a:srgbClr val="0033CC"/>
                </a:solidFill>
              </a:rPr>
              <a:t>RELU</a:t>
            </a:r>
            <a:r>
              <a:rPr lang="en-US" dirty="0" smtClean="0"/>
              <a:t> as it is a general activation function </a:t>
            </a:r>
            <a:r>
              <a:rPr lang="en-US" b="1" dirty="0" smtClean="0">
                <a:solidFill>
                  <a:srgbClr val="0033CC"/>
                </a:solidFill>
              </a:rPr>
              <a:t>in hidden layers </a:t>
            </a:r>
            <a:r>
              <a:rPr lang="en-US" dirty="0" smtClean="0"/>
              <a:t>and is used in most cases these days.</a:t>
            </a:r>
          </a:p>
          <a:p>
            <a:pPr fontAlgn="base"/>
            <a:r>
              <a:rPr lang="en-US" dirty="0" smtClean="0"/>
              <a:t>If your output is for </a:t>
            </a:r>
            <a:r>
              <a:rPr lang="en-US" b="1" dirty="0" smtClean="0">
                <a:solidFill>
                  <a:srgbClr val="0033CC"/>
                </a:solidFill>
              </a:rPr>
              <a:t>binary classification </a:t>
            </a:r>
            <a:r>
              <a:rPr lang="en-US" dirty="0" smtClean="0"/>
              <a:t>then, </a:t>
            </a:r>
            <a:r>
              <a:rPr lang="en-US" b="1" i="1" dirty="0" smtClean="0">
                <a:solidFill>
                  <a:srgbClr val="0033CC"/>
                </a:solidFill>
              </a:rPr>
              <a:t>sigmoid function</a:t>
            </a:r>
            <a:r>
              <a:rPr lang="en-US" dirty="0" smtClean="0"/>
              <a:t> is very natural choice for </a:t>
            </a:r>
            <a:r>
              <a:rPr lang="en-US" b="1" dirty="0" smtClean="0">
                <a:solidFill>
                  <a:srgbClr val="0033CC"/>
                </a:solidFill>
              </a:rPr>
              <a:t>output layer</a:t>
            </a:r>
            <a:r>
              <a:rPr lang="en-US" dirty="0" smtClean="0"/>
              <a:t>.</a:t>
            </a:r>
          </a:p>
          <a:p>
            <a:pPr fontAlgn="base"/>
            <a:r>
              <a:rPr lang="en-US" dirty="0" smtClean="0"/>
              <a:t>If your output is for </a:t>
            </a:r>
            <a:r>
              <a:rPr lang="en-US" b="1" dirty="0" smtClean="0">
                <a:solidFill>
                  <a:srgbClr val="0033CC"/>
                </a:solidFill>
              </a:rPr>
              <a:t>multi-class classification </a:t>
            </a:r>
            <a:r>
              <a:rPr lang="en-US" dirty="0" smtClean="0"/>
              <a:t>then, </a:t>
            </a:r>
            <a:r>
              <a:rPr lang="en-US" b="1" dirty="0" err="1" smtClean="0">
                <a:solidFill>
                  <a:srgbClr val="0033CC"/>
                </a:solidFill>
              </a:rPr>
              <a:t>Softmax</a:t>
            </a:r>
            <a:r>
              <a:rPr lang="en-US" dirty="0" smtClean="0"/>
              <a:t> is very useful to predict the </a:t>
            </a:r>
            <a:r>
              <a:rPr lang="en-US" b="1" dirty="0" smtClean="0">
                <a:solidFill>
                  <a:srgbClr val="0033CC"/>
                </a:solidFill>
              </a:rPr>
              <a:t>probabilities of each classes</a:t>
            </a:r>
            <a:r>
              <a:rPr lang="en-US" dirty="0" smtClean="0"/>
              <a:t>. </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3059832" y="476672"/>
            <a:ext cx="2476500" cy="723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Most commonly used</a:t>
            </a:r>
            <a:endParaRPr lang="en-US" dirty="0"/>
          </a:p>
        </p:txBody>
      </p:sp>
      <p:sp>
        <p:nvSpPr>
          <p:cNvPr id="3" name="Content Placeholder 2"/>
          <p:cNvSpPr>
            <a:spLocks noGrp="1"/>
          </p:cNvSpPr>
          <p:nvPr>
            <p:ph idx="1"/>
          </p:nvPr>
        </p:nvSpPr>
        <p:spPr>
          <a:xfrm>
            <a:off x="457200" y="1600200"/>
            <a:ext cx="4834880" cy="4525963"/>
          </a:xfrm>
        </p:spPr>
        <p:txBody>
          <a:bodyPr>
            <a:normAutofit fontScale="92500" lnSpcReduction="20000"/>
          </a:bodyPr>
          <a:lstStyle/>
          <a:p>
            <a:r>
              <a:rPr lang="en-US" dirty="0" smtClean="0"/>
              <a:t>Step</a:t>
            </a:r>
          </a:p>
          <a:p>
            <a:endParaRPr lang="en-US" b="1" dirty="0" smtClean="0">
              <a:solidFill>
                <a:srgbClr val="0000FF"/>
              </a:solidFill>
            </a:endParaRPr>
          </a:p>
          <a:p>
            <a:r>
              <a:rPr lang="en-US" b="1" dirty="0" smtClean="0">
                <a:solidFill>
                  <a:srgbClr val="0000FF"/>
                </a:solidFill>
              </a:rPr>
              <a:t>Sigmoid</a:t>
            </a:r>
          </a:p>
          <a:p>
            <a:endParaRPr lang="en-US" b="1" dirty="0" smtClean="0">
              <a:solidFill>
                <a:srgbClr val="0000FF"/>
              </a:solidFill>
            </a:endParaRPr>
          </a:p>
          <a:p>
            <a:r>
              <a:rPr lang="en-US" b="1" dirty="0" err="1" smtClean="0">
                <a:solidFill>
                  <a:srgbClr val="0000FF"/>
                </a:solidFill>
              </a:rPr>
              <a:t>ReLU</a:t>
            </a:r>
            <a:endParaRPr lang="en-US" b="1" dirty="0" smtClean="0">
              <a:solidFill>
                <a:srgbClr val="0000FF"/>
              </a:solidFill>
            </a:endParaRPr>
          </a:p>
          <a:p>
            <a:endParaRPr lang="en-US" b="1" dirty="0" smtClean="0">
              <a:solidFill>
                <a:srgbClr val="0000FF"/>
              </a:solidFill>
            </a:endParaRPr>
          </a:p>
          <a:p>
            <a:r>
              <a:rPr lang="en-US" b="1" dirty="0" err="1" smtClean="0">
                <a:solidFill>
                  <a:srgbClr val="0000FF"/>
                </a:solidFill>
              </a:rPr>
              <a:t>Softmax</a:t>
            </a:r>
            <a:endParaRPr lang="en-US" b="1" dirty="0">
              <a:solidFill>
                <a:srgbClr val="0000FF"/>
              </a:solidFill>
            </a:endParaRPr>
          </a:p>
        </p:txBody>
      </p:sp>
      <p:pic>
        <p:nvPicPr>
          <p:cNvPr id="2050" name="Picture 2"/>
          <p:cNvPicPr>
            <a:picLocks noChangeAspect="1" noChangeArrowheads="1"/>
          </p:cNvPicPr>
          <p:nvPr/>
        </p:nvPicPr>
        <p:blipFill>
          <a:blip r:embed="rId2" cstate="print"/>
          <a:srcRect/>
          <a:stretch>
            <a:fillRect/>
          </a:stretch>
        </p:blipFill>
        <p:spPr bwMode="auto">
          <a:xfrm>
            <a:off x="3275856" y="1628800"/>
            <a:ext cx="1725709" cy="72008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3059832" y="2636912"/>
            <a:ext cx="1800200" cy="939927"/>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2987824" y="4221088"/>
            <a:ext cx="2086232" cy="504056"/>
          </a:xfrm>
          <a:prstGeom prst="rect">
            <a:avLst/>
          </a:prstGeom>
          <a:noFill/>
          <a:ln w="9525">
            <a:noFill/>
            <a:miter lim="800000"/>
            <a:headEnd/>
            <a:tailEnd/>
          </a:ln>
        </p:spPr>
      </p:pic>
      <p:pic>
        <p:nvPicPr>
          <p:cNvPr id="2053" name="Picture 5"/>
          <p:cNvPicPr>
            <a:picLocks noChangeAspect="1" noChangeArrowheads="1"/>
          </p:cNvPicPr>
          <p:nvPr/>
        </p:nvPicPr>
        <p:blipFill>
          <a:blip r:embed="rId5" cstate="print"/>
          <a:srcRect/>
          <a:stretch>
            <a:fillRect/>
          </a:stretch>
        </p:blipFill>
        <p:spPr bwMode="auto">
          <a:xfrm>
            <a:off x="2987824" y="5301208"/>
            <a:ext cx="2201783" cy="720080"/>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712968" cy="6408712"/>
          </a:xfrm>
        </p:spPr>
        <p:txBody>
          <a:bodyPr numCol="2">
            <a:normAutofit fontScale="47500" lnSpcReduction="20000"/>
          </a:bodyPr>
          <a:lstStyle/>
          <a:p>
            <a:pPr>
              <a:buNone/>
            </a:pPr>
            <a:r>
              <a:rPr lang="en-US" b="1" dirty="0" smtClean="0"/>
              <a:t>What Is Meant by "</a:t>
            </a:r>
            <a:r>
              <a:rPr lang="en-US" b="1" dirty="0" err="1" smtClean="0"/>
              <a:t>ReLU</a:t>
            </a:r>
            <a:r>
              <a:rPr lang="en-US" b="1" dirty="0" smtClean="0"/>
              <a:t> Doesn’t Restrict Output"?</a:t>
            </a:r>
          </a:p>
          <a:p>
            <a:pPr>
              <a:buNone/>
            </a:pPr>
            <a:r>
              <a:rPr lang="en-US" dirty="0" smtClean="0"/>
              <a:t>Most activation functions </a:t>
            </a:r>
            <a:r>
              <a:rPr lang="en-US" b="1" dirty="0" smtClean="0"/>
              <a:t>compress (squash)</a:t>
            </a:r>
            <a:r>
              <a:rPr lang="en-US" dirty="0" smtClean="0"/>
              <a:t> their outputs to a limited range (like 0–1 or -1 to 1). But </a:t>
            </a:r>
            <a:r>
              <a:rPr lang="en-US" b="1" dirty="0" err="1" smtClean="0"/>
              <a:t>ReLU</a:t>
            </a:r>
            <a:r>
              <a:rPr lang="en-US" b="1" dirty="0" smtClean="0"/>
              <a:t> doesn’t do that</a:t>
            </a:r>
            <a:r>
              <a:rPr lang="en-US" dirty="0" smtClean="0"/>
              <a:t> — it can output:</a:t>
            </a:r>
          </a:p>
          <a:p>
            <a:pPr>
              <a:buNone/>
            </a:pPr>
            <a:r>
              <a:rPr lang="en-US" dirty="0" smtClean="0"/>
              <a:t>0 for negative inputs</a:t>
            </a:r>
          </a:p>
          <a:p>
            <a:pPr>
              <a:buNone/>
            </a:pPr>
            <a:r>
              <a:rPr lang="en-US" dirty="0" smtClean="0"/>
              <a:t>Any </a:t>
            </a:r>
            <a:r>
              <a:rPr lang="en-US" b="1" dirty="0" smtClean="0"/>
              <a:t>positive value</a:t>
            </a:r>
            <a:r>
              <a:rPr lang="en-US" dirty="0" smtClean="0"/>
              <a:t> for positive inputs (no upper limit)</a:t>
            </a:r>
          </a:p>
          <a:p>
            <a:pPr>
              <a:buNone/>
            </a:pPr>
            <a:r>
              <a:rPr lang="en-US" dirty="0" smtClean="0"/>
              <a:t>So, if the input is 1000, </a:t>
            </a:r>
            <a:r>
              <a:rPr lang="en-US" dirty="0" err="1" smtClean="0"/>
              <a:t>ReLU</a:t>
            </a:r>
            <a:r>
              <a:rPr lang="en-US" dirty="0" smtClean="0"/>
              <a:t> just gives 1000 (not squashed or compressed).</a:t>
            </a:r>
          </a:p>
          <a:p>
            <a:pPr>
              <a:buNone/>
            </a:pPr>
            <a:r>
              <a:rPr lang="en-US" b="1" dirty="0" smtClean="0"/>
              <a:t> What Is “Vanishing Gradient”?</a:t>
            </a:r>
          </a:p>
          <a:p>
            <a:pPr>
              <a:buNone/>
            </a:pPr>
            <a:r>
              <a:rPr lang="en-US" dirty="0" smtClean="0"/>
              <a:t>A gradient is like the </a:t>
            </a:r>
            <a:r>
              <a:rPr lang="en-US" b="1" dirty="0" smtClean="0"/>
              <a:t>slope</a:t>
            </a:r>
            <a:r>
              <a:rPr lang="en-US" dirty="0" smtClean="0"/>
              <a:t> that tells the model how much to change the weights during learning.</a:t>
            </a:r>
          </a:p>
          <a:p>
            <a:pPr>
              <a:buNone/>
            </a:pPr>
            <a:r>
              <a:rPr lang="en-US" b="1" dirty="0" smtClean="0"/>
              <a:t>Vanishing Gradient Problem:</a:t>
            </a:r>
          </a:p>
          <a:p>
            <a:pPr>
              <a:buNone/>
            </a:pPr>
            <a:r>
              <a:rPr lang="en-US" dirty="0" smtClean="0"/>
              <a:t>In deep networks, when using activation functions like </a:t>
            </a:r>
            <a:r>
              <a:rPr lang="en-US" b="1" dirty="0" smtClean="0"/>
              <a:t>sigmoid</a:t>
            </a:r>
            <a:r>
              <a:rPr lang="en-US" dirty="0" smtClean="0"/>
              <a:t> or </a:t>
            </a:r>
            <a:r>
              <a:rPr lang="en-US" b="1" dirty="0" err="1" smtClean="0"/>
              <a:t>tanh</a:t>
            </a:r>
            <a:r>
              <a:rPr lang="en-US" dirty="0" smtClean="0"/>
              <a:t>, the gradients (slopes) become </a:t>
            </a:r>
            <a:r>
              <a:rPr lang="en-US" b="1" dirty="0" smtClean="0"/>
              <a:t>very small</a:t>
            </a:r>
            <a:r>
              <a:rPr lang="en-US" dirty="0" smtClean="0"/>
              <a:t> in deeper layers.</a:t>
            </a:r>
          </a:p>
          <a:p>
            <a:pPr>
              <a:buNone/>
            </a:pPr>
            <a:r>
              <a:rPr lang="en-US" dirty="0" smtClean="0"/>
              <a:t>When you multiply these small gradients many times (in </a:t>
            </a:r>
            <a:r>
              <a:rPr lang="en-US" dirty="0" err="1" smtClean="0"/>
              <a:t>backpropagation</a:t>
            </a:r>
            <a:r>
              <a:rPr lang="en-US" dirty="0" smtClean="0"/>
              <a:t>), they become </a:t>
            </a:r>
            <a:r>
              <a:rPr lang="en-US" b="1" dirty="0" smtClean="0"/>
              <a:t>almost zero</a:t>
            </a:r>
            <a:r>
              <a:rPr lang="en-US" dirty="0" smtClean="0"/>
              <a:t>.</a:t>
            </a:r>
          </a:p>
          <a:p>
            <a:pPr>
              <a:buNone/>
            </a:pPr>
            <a:r>
              <a:rPr lang="en-US" dirty="0" smtClean="0"/>
              <a:t>This makes the weights </a:t>
            </a:r>
            <a:r>
              <a:rPr lang="en-US" b="1" dirty="0" smtClean="0"/>
              <a:t>stop updating</a:t>
            </a:r>
            <a:r>
              <a:rPr lang="en-US" dirty="0" smtClean="0"/>
              <a:t> — and the model </a:t>
            </a:r>
            <a:r>
              <a:rPr lang="en-US" b="1" dirty="0" smtClean="0"/>
              <a:t>stops learning</a:t>
            </a:r>
            <a:r>
              <a:rPr lang="en-US" dirty="0" smtClean="0"/>
              <a:t>.</a:t>
            </a:r>
          </a:p>
          <a:p>
            <a:pPr>
              <a:buNone/>
            </a:pPr>
            <a:r>
              <a:rPr lang="en-US" dirty="0" smtClean="0"/>
              <a:t>This is called the </a:t>
            </a:r>
            <a:r>
              <a:rPr lang="en-US" b="1" dirty="0" smtClean="0"/>
              <a:t>vanishing gradient problem</a:t>
            </a:r>
            <a:r>
              <a:rPr lang="en-US" dirty="0" smtClean="0"/>
              <a:t>.</a:t>
            </a:r>
          </a:p>
          <a:p>
            <a:pPr>
              <a:buNone/>
            </a:pPr>
            <a:r>
              <a:rPr lang="en-US" b="1" dirty="0" smtClean="0"/>
              <a:t>What Is “Squashing”?</a:t>
            </a:r>
          </a:p>
          <a:p>
            <a:pPr>
              <a:buNone/>
            </a:pPr>
            <a:r>
              <a:rPr lang="en-US" b="1" dirty="0" smtClean="0"/>
              <a:t>Squashing</a:t>
            </a:r>
            <a:r>
              <a:rPr lang="en-US" dirty="0" smtClean="0"/>
              <a:t> means </a:t>
            </a:r>
            <a:r>
              <a:rPr lang="en-US" b="1" dirty="0" smtClean="0"/>
              <a:t>compressing the output into a small range</a:t>
            </a:r>
            <a:r>
              <a:rPr lang="en-US" dirty="0" smtClean="0"/>
              <a:t>.</a:t>
            </a:r>
          </a:p>
          <a:p>
            <a:pPr>
              <a:buNone/>
            </a:pPr>
            <a:r>
              <a:rPr lang="en-US" dirty="0" smtClean="0"/>
              <a:t>Examples:</a:t>
            </a:r>
          </a:p>
          <a:p>
            <a:pPr>
              <a:buNone/>
            </a:pPr>
            <a:r>
              <a:rPr lang="en-US" b="1" dirty="0" smtClean="0"/>
              <a:t>Sigmoid:</a:t>
            </a:r>
            <a:r>
              <a:rPr lang="en-US" dirty="0" smtClean="0"/>
              <a:t> squashes input into </a:t>
            </a:r>
            <a:r>
              <a:rPr lang="en-US" b="1" dirty="0" smtClean="0"/>
              <a:t>(0, 1)</a:t>
            </a:r>
            <a:endParaRPr lang="en-US" dirty="0" smtClean="0"/>
          </a:p>
          <a:p>
            <a:pPr>
              <a:buNone/>
            </a:pPr>
            <a:r>
              <a:rPr lang="en-US" b="1" dirty="0" err="1" smtClean="0"/>
              <a:t>Tanh</a:t>
            </a:r>
            <a:r>
              <a:rPr lang="en-US" b="1" dirty="0" smtClean="0"/>
              <a:t>:</a:t>
            </a:r>
            <a:r>
              <a:rPr lang="en-US" dirty="0" smtClean="0"/>
              <a:t> squashes input into </a:t>
            </a:r>
            <a:r>
              <a:rPr lang="en-US" b="1" dirty="0" smtClean="0"/>
              <a:t>(-1, 1)</a:t>
            </a:r>
            <a:endParaRPr lang="en-US" dirty="0" smtClean="0"/>
          </a:p>
          <a:p>
            <a:pPr>
              <a:buNone/>
            </a:pPr>
            <a:r>
              <a:rPr lang="en-US" dirty="0" smtClean="0"/>
              <a:t>Squashing helps keep values in control but also causes small gradients (slopes) for big inputs — which </a:t>
            </a:r>
            <a:r>
              <a:rPr lang="en-US" b="1" dirty="0" smtClean="0"/>
              <a:t>leads to vanishing gradients</a:t>
            </a:r>
            <a:r>
              <a:rPr lang="en-US" dirty="0" smtClean="0"/>
              <a:t>.</a:t>
            </a:r>
          </a:p>
          <a:p>
            <a:pPr>
              <a:buNone/>
            </a:pPr>
            <a:r>
              <a:rPr lang="en-US" b="1" dirty="0" smtClean="0"/>
              <a:t> </a:t>
            </a:r>
          </a:p>
          <a:p>
            <a:pPr>
              <a:buNone/>
            </a:pPr>
            <a:r>
              <a:rPr lang="en-US" b="1" dirty="0" smtClean="0"/>
              <a:t>So Why Is </a:t>
            </a:r>
            <a:r>
              <a:rPr lang="en-US" b="1" dirty="0" err="1" smtClean="0"/>
              <a:t>ReLU</a:t>
            </a:r>
            <a:r>
              <a:rPr lang="en-US" b="1" dirty="0" smtClean="0"/>
              <a:t> Better?</a:t>
            </a:r>
          </a:p>
          <a:p>
            <a:r>
              <a:rPr lang="en-US" b="1" dirty="0" err="1" smtClean="0"/>
              <a:t>ReLU</a:t>
            </a:r>
            <a:r>
              <a:rPr lang="en-US" b="1" dirty="0" smtClean="0"/>
              <a:t> does not squash positive values.</a:t>
            </a:r>
            <a:endParaRPr lang="en-US" dirty="0" smtClean="0"/>
          </a:p>
          <a:p>
            <a:r>
              <a:rPr lang="en-US" dirty="0" smtClean="0"/>
              <a:t>It keeps </a:t>
            </a:r>
            <a:r>
              <a:rPr lang="en-US" b="1" dirty="0" smtClean="0"/>
              <a:t>strong gradients</a:t>
            </a:r>
            <a:r>
              <a:rPr lang="en-US" dirty="0" smtClean="0"/>
              <a:t> for positive inputs.</a:t>
            </a:r>
          </a:p>
          <a:p>
            <a:r>
              <a:rPr lang="en-US" dirty="0" smtClean="0"/>
              <a:t>This helps </a:t>
            </a:r>
            <a:r>
              <a:rPr lang="en-US" b="1" dirty="0" smtClean="0"/>
              <a:t>deep networks learn faster and better</a:t>
            </a:r>
            <a:r>
              <a:rPr lang="en-US" dirty="0" smtClean="0"/>
              <a:t> — especially when there are many layers.</a:t>
            </a:r>
          </a:p>
          <a:p>
            <a:pPr>
              <a:buNone/>
            </a:pPr>
            <a:r>
              <a:rPr lang="en-US" b="1" dirty="0" smtClean="0"/>
              <a:t> </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US" b="1" dirty="0" smtClean="0"/>
              <a:t>Loss function</a:t>
            </a:r>
            <a:endParaRPr lang="en-US" b="1" dirty="0"/>
          </a:p>
        </p:txBody>
      </p:sp>
      <p:sp>
        <p:nvSpPr>
          <p:cNvPr id="3" name="Content Placeholder 2"/>
          <p:cNvSpPr>
            <a:spLocks noGrp="1"/>
          </p:cNvSpPr>
          <p:nvPr>
            <p:ph idx="1"/>
          </p:nvPr>
        </p:nvSpPr>
        <p:spPr>
          <a:xfrm>
            <a:off x="251520" y="1268760"/>
            <a:ext cx="8640960" cy="5400600"/>
          </a:xfrm>
        </p:spPr>
        <p:txBody>
          <a:bodyPr>
            <a:normAutofit fontScale="40000" lnSpcReduction="20000"/>
          </a:bodyPr>
          <a:lstStyle/>
          <a:p>
            <a:r>
              <a:rPr lang="en-US" dirty="0" smtClean="0"/>
              <a:t>A </a:t>
            </a:r>
            <a:r>
              <a:rPr lang="en-US" b="1" dirty="0" smtClean="0"/>
              <a:t>loss function</a:t>
            </a:r>
            <a:r>
              <a:rPr lang="en-US" dirty="0" smtClean="0"/>
              <a:t> is a method </a:t>
            </a:r>
            <a:r>
              <a:rPr lang="en-US" b="1" dirty="0" smtClean="0">
                <a:solidFill>
                  <a:srgbClr val="0000FF"/>
                </a:solidFill>
              </a:rPr>
              <a:t>used to measure how wrong your model's prediction is </a:t>
            </a:r>
            <a:r>
              <a:rPr lang="en-US" dirty="0" smtClean="0"/>
              <a:t>compared to the actual (true) value.</a:t>
            </a:r>
          </a:p>
          <a:p>
            <a:r>
              <a:rPr lang="en-US" dirty="0" smtClean="0"/>
              <a:t>It tells the model </a:t>
            </a:r>
            <a:r>
              <a:rPr lang="en-US" b="1" dirty="0" smtClean="0"/>
              <a:t>how far off its predictions are</a:t>
            </a:r>
            <a:r>
              <a:rPr lang="en-US" dirty="0" smtClean="0"/>
              <a:t> from the expected output.</a:t>
            </a:r>
          </a:p>
          <a:p>
            <a:r>
              <a:rPr lang="en-US" dirty="0" smtClean="0"/>
              <a:t>A </a:t>
            </a:r>
            <a:r>
              <a:rPr lang="en-US" b="1" dirty="0" smtClean="0"/>
              <a:t>loss function</a:t>
            </a:r>
            <a:r>
              <a:rPr lang="en-US" dirty="0" smtClean="0"/>
              <a:t> is a function that </a:t>
            </a:r>
            <a:r>
              <a:rPr lang="en-US" b="1" dirty="0" smtClean="0">
                <a:solidFill>
                  <a:srgbClr val="0033CC"/>
                </a:solidFill>
              </a:rPr>
              <a:t>compares the target and predicted output values</a:t>
            </a:r>
            <a:r>
              <a:rPr lang="en-US" dirty="0" smtClean="0"/>
              <a:t>; measures how well the neural network models the training data. </a:t>
            </a:r>
          </a:p>
          <a:p>
            <a:r>
              <a:rPr lang="en-US" b="1" dirty="0" smtClean="0">
                <a:solidFill>
                  <a:srgbClr val="0033CC"/>
                </a:solidFill>
              </a:rPr>
              <a:t>When training</a:t>
            </a:r>
            <a:r>
              <a:rPr lang="en-US" dirty="0" smtClean="0"/>
              <a:t>, we aim to </a:t>
            </a:r>
            <a:r>
              <a:rPr lang="en-US" b="1" dirty="0" smtClean="0">
                <a:solidFill>
                  <a:srgbClr val="0033CC"/>
                </a:solidFill>
              </a:rPr>
              <a:t>minimize this loss between </a:t>
            </a:r>
            <a:r>
              <a:rPr lang="en-US" dirty="0" smtClean="0"/>
              <a:t>the predicted and target outputs.</a:t>
            </a:r>
          </a:p>
          <a:p>
            <a:r>
              <a:rPr lang="en-US" dirty="0" smtClean="0"/>
              <a:t>The </a:t>
            </a:r>
            <a:r>
              <a:rPr lang="en-US" b="1" dirty="0" err="1" smtClean="0">
                <a:solidFill>
                  <a:srgbClr val="0033CC"/>
                </a:solidFill>
              </a:rPr>
              <a:t>hyperparameters</a:t>
            </a:r>
            <a:r>
              <a:rPr lang="en-US" b="1" dirty="0" smtClean="0">
                <a:solidFill>
                  <a:srgbClr val="0033CC"/>
                </a:solidFill>
              </a:rPr>
              <a:t> are adjusted to minimize the average loss </a:t>
            </a:r>
            <a:r>
              <a:rPr lang="en-US" dirty="0" smtClean="0"/>
              <a:t>— we find the weights, </a:t>
            </a:r>
            <a:r>
              <a:rPr lang="en-US" i="1" dirty="0" err="1" smtClean="0"/>
              <a:t>wT</a:t>
            </a:r>
            <a:r>
              <a:rPr lang="en-US" dirty="0" smtClean="0"/>
              <a:t>, and biases, </a:t>
            </a:r>
            <a:r>
              <a:rPr lang="en-US" i="1" dirty="0" smtClean="0"/>
              <a:t>b</a:t>
            </a:r>
            <a:r>
              <a:rPr lang="en-US" dirty="0" smtClean="0"/>
              <a:t>, that minimize the value of </a:t>
            </a:r>
            <a:r>
              <a:rPr lang="en-US" i="1" dirty="0" smtClean="0"/>
              <a:t>J</a:t>
            </a:r>
            <a:r>
              <a:rPr lang="en-US" dirty="0" smtClean="0"/>
              <a:t> (average loss).</a:t>
            </a:r>
          </a:p>
          <a:p>
            <a:endParaRPr lang="en-US" dirty="0" smtClean="0"/>
          </a:p>
          <a:p>
            <a:pPr>
              <a:buNone/>
            </a:pPr>
            <a:r>
              <a:rPr lang="en-US" dirty="0" smtClean="0"/>
              <a:t>Example:</a:t>
            </a:r>
          </a:p>
          <a:p>
            <a:pPr>
              <a:buNone/>
            </a:pPr>
            <a:r>
              <a:rPr lang="en-US" dirty="0" smtClean="0"/>
              <a:t>Imagine you're predicting house prices.</a:t>
            </a:r>
          </a:p>
          <a:p>
            <a:pPr>
              <a:buNone/>
            </a:pPr>
            <a:r>
              <a:rPr lang="en-US" dirty="0" smtClean="0"/>
              <a:t>True price: ₹10 </a:t>
            </a:r>
            <a:r>
              <a:rPr lang="en-US" dirty="0" err="1" smtClean="0"/>
              <a:t>lakhs</a:t>
            </a:r>
            <a:endParaRPr lang="en-US" dirty="0" smtClean="0"/>
          </a:p>
          <a:p>
            <a:pPr>
              <a:buNone/>
            </a:pPr>
            <a:r>
              <a:rPr lang="en-US" dirty="0" smtClean="0"/>
              <a:t>Model prediction: ₹7 </a:t>
            </a:r>
            <a:r>
              <a:rPr lang="en-US" dirty="0" err="1" smtClean="0"/>
              <a:t>lakhs</a:t>
            </a:r>
            <a:endParaRPr lang="en-US" dirty="0" smtClean="0"/>
          </a:p>
          <a:p>
            <a:pPr>
              <a:buNone/>
            </a:pPr>
            <a:r>
              <a:rPr lang="en-US" dirty="0" smtClean="0"/>
              <a:t>The </a:t>
            </a:r>
            <a:r>
              <a:rPr lang="en-US" b="1" dirty="0" smtClean="0"/>
              <a:t>loss</a:t>
            </a:r>
            <a:r>
              <a:rPr lang="en-US" dirty="0" smtClean="0"/>
              <a:t> = difference between actual and predicted = ₹3 </a:t>
            </a:r>
            <a:r>
              <a:rPr lang="en-US" dirty="0" err="1" smtClean="0"/>
              <a:t>lakhs</a:t>
            </a:r>
            <a:endParaRPr lang="en-US" dirty="0" smtClean="0"/>
          </a:p>
          <a:p>
            <a:pPr>
              <a:buNone/>
            </a:pPr>
            <a:r>
              <a:rPr lang="en-US" dirty="0" smtClean="0"/>
              <a:t>This “difference” is what the </a:t>
            </a:r>
            <a:r>
              <a:rPr lang="en-US" b="1" dirty="0" smtClean="0"/>
              <a:t>loss function</a:t>
            </a:r>
            <a:r>
              <a:rPr lang="en-US" dirty="0" smtClean="0"/>
              <a:t> calculates in mathematical form.</a:t>
            </a:r>
          </a:p>
          <a:p>
            <a:pPr>
              <a:buNone/>
            </a:pPr>
            <a:r>
              <a:rPr lang="en-US" b="1" dirty="0" smtClean="0"/>
              <a:t>Why Is Loss Function Important?</a:t>
            </a:r>
          </a:p>
          <a:p>
            <a:r>
              <a:rPr lang="en-US" dirty="0" smtClean="0"/>
              <a:t>It helps the model </a:t>
            </a:r>
            <a:r>
              <a:rPr lang="en-US" b="1" dirty="0" smtClean="0"/>
              <a:t>understand its mistakes</a:t>
            </a:r>
            <a:endParaRPr lang="en-US" dirty="0" smtClean="0"/>
          </a:p>
          <a:p>
            <a:r>
              <a:rPr lang="en-US" b="1" dirty="0" smtClean="0"/>
              <a:t>Goal of training</a:t>
            </a:r>
            <a:r>
              <a:rPr lang="en-US" dirty="0" smtClean="0"/>
              <a:t>: Minimize the </a:t>
            </a:r>
            <a:r>
              <a:rPr lang="en-US" b="1" dirty="0" smtClean="0"/>
              <a:t>loss</a:t>
            </a:r>
            <a:r>
              <a:rPr lang="en-US" dirty="0" smtClean="0"/>
              <a:t> over time</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r>
              <a:rPr lang="en-US" dirty="0" smtClean="0"/>
              <a:t>Types </a:t>
            </a:r>
            <a:endParaRPr lang="en-US" dirty="0"/>
          </a:p>
        </p:txBody>
      </p:sp>
      <p:sp>
        <p:nvSpPr>
          <p:cNvPr id="3" name="Content Placeholder 2"/>
          <p:cNvSpPr>
            <a:spLocks noGrp="1"/>
          </p:cNvSpPr>
          <p:nvPr>
            <p:ph idx="1"/>
          </p:nvPr>
        </p:nvSpPr>
        <p:spPr>
          <a:xfrm>
            <a:off x="251520" y="836712"/>
            <a:ext cx="8640960" cy="5328592"/>
          </a:xfrm>
        </p:spPr>
        <p:txBody>
          <a:bodyPr numCol="2">
            <a:normAutofit fontScale="47500" lnSpcReduction="20000"/>
          </a:bodyPr>
          <a:lstStyle/>
          <a:p>
            <a:pPr>
              <a:lnSpc>
                <a:spcPct val="170000"/>
              </a:lnSpc>
              <a:buNone/>
            </a:pPr>
            <a:r>
              <a:rPr lang="en-US" b="1" dirty="0" smtClean="0"/>
              <a:t>Binary Cross-Entropy</a:t>
            </a:r>
          </a:p>
          <a:p>
            <a:pPr>
              <a:lnSpc>
                <a:spcPct val="170000"/>
              </a:lnSpc>
            </a:pPr>
            <a:r>
              <a:rPr lang="en-US" dirty="0" smtClean="0"/>
              <a:t>Used for </a:t>
            </a:r>
            <a:r>
              <a:rPr lang="en-US" b="1" dirty="0" smtClean="0"/>
              <a:t>binary classification</a:t>
            </a:r>
            <a:r>
              <a:rPr lang="en-US" dirty="0" smtClean="0"/>
              <a:t> (e.g., 0 or 1, Yes or No)</a:t>
            </a:r>
          </a:p>
          <a:p>
            <a:pPr>
              <a:lnSpc>
                <a:spcPct val="170000"/>
              </a:lnSpc>
            </a:pPr>
            <a:r>
              <a:rPr lang="en-US" dirty="0" smtClean="0"/>
              <a:t>loss='</a:t>
            </a:r>
            <a:r>
              <a:rPr lang="en-US" dirty="0" err="1" smtClean="0"/>
              <a:t>binary_crossentropy</a:t>
            </a:r>
            <a:r>
              <a:rPr lang="en-US" dirty="0" smtClean="0"/>
              <a:t>'</a:t>
            </a:r>
          </a:p>
          <a:p>
            <a:pPr>
              <a:lnSpc>
                <a:spcPct val="170000"/>
              </a:lnSpc>
              <a:buNone/>
            </a:pPr>
            <a:r>
              <a:rPr lang="en-US" b="1" dirty="0" smtClean="0"/>
              <a:t>Categorical Cross-Entropy</a:t>
            </a:r>
          </a:p>
          <a:p>
            <a:pPr>
              <a:lnSpc>
                <a:spcPct val="170000"/>
              </a:lnSpc>
            </a:pPr>
            <a:r>
              <a:rPr lang="en-US" dirty="0" smtClean="0"/>
              <a:t>Used for </a:t>
            </a:r>
            <a:r>
              <a:rPr lang="en-US" b="1" dirty="0" smtClean="0"/>
              <a:t>multi-class classification</a:t>
            </a:r>
            <a:r>
              <a:rPr lang="en-US" dirty="0" smtClean="0"/>
              <a:t> where outputs are </a:t>
            </a:r>
            <a:r>
              <a:rPr lang="en-US" b="1" dirty="0" smtClean="0"/>
              <a:t>one-hot encoded</a:t>
            </a:r>
            <a:endParaRPr lang="en-US" dirty="0" smtClean="0"/>
          </a:p>
          <a:p>
            <a:pPr>
              <a:lnSpc>
                <a:spcPct val="170000"/>
              </a:lnSpc>
            </a:pPr>
            <a:r>
              <a:rPr lang="en-US" dirty="0" smtClean="0"/>
              <a:t>loss='</a:t>
            </a:r>
            <a:r>
              <a:rPr lang="en-US" dirty="0" err="1" smtClean="0"/>
              <a:t>categorical_crossentropy</a:t>
            </a:r>
            <a:r>
              <a:rPr lang="en-US" dirty="0" smtClean="0"/>
              <a:t>‘]</a:t>
            </a:r>
            <a:r>
              <a:rPr lang="en-US" b="1" dirty="0" smtClean="0"/>
              <a:t> </a:t>
            </a:r>
          </a:p>
          <a:p>
            <a:pPr>
              <a:lnSpc>
                <a:spcPct val="170000"/>
              </a:lnSpc>
              <a:buNone/>
            </a:pPr>
            <a:r>
              <a:rPr lang="en-US" b="1" dirty="0" smtClean="0"/>
              <a:t>One-hot encoding</a:t>
            </a:r>
            <a:r>
              <a:rPr lang="en-US" dirty="0" smtClean="0"/>
              <a:t> is a method to convert </a:t>
            </a:r>
            <a:r>
              <a:rPr lang="en-US" b="1" dirty="0" smtClean="0"/>
              <a:t>categorical (non-numeric) values</a:t>
            </a:r>
            <a:r>
              <a:rPr lang="en-US" dirty="0" smtClean="0"/>
              <a:t> into </a:t>
            </a:r>
            <a:r>
              <a:rPr lang="en-US" b="1" dirty="0" smtClean="0"/>
              <a:t>numeric vectors</a:t>
            </a:r>
            <a:r>
              <a:rPr lang="en-US" dirty="0" smtClean="0"/>
              <a:t> so that they can be used in machine learning models.</a:t>
            </a:r>
          </a:p>
          <a:p>
            <a:pPr>
              <a:lnSpc>
                <a:spcPct val="170000"/>
              </a:lnSpc>
            </a:pPr>
            <a:r>
              <a:rPr lang="en-US" dirty="0" smtClean="0"/>
              <a:t>It creates a </a:t>
            </a:r>
            <a:r>
              <a:rPr lang="en-US" b="1" dirty="0" smtClean="0"/>
              <a:t>binary vector</a:t>
            </a:r>
            <a:r>
              <a:rPr lang="en-US" dirty="0" smtClean="0"/>
              <a:t> (full of 0s and one 1) for each category.</a:t>
            </a:r>
          </a:p>
          <a:p>
            <a:pPr>
              <a:lnSpc>
                <a:spcPct val="170000"/>
              </a:lnSpc>
            </a:pPr>
            <a:endParaRPr lang="en-US" dirty="0" smtClean="0"/>
          </a:p>
          <a:p>
            <a:pPr>
              <a:lnSpc>
                <a:spcPct val="170000"/>
              </a:lnSpc>
              <a:buNone/>
            </a:pPr>
            <a:r>
              <a:rPr lang="en-US" b="1" dirty="0" smtClean="0"/>
              <a:t>Sparse Categorical Cross-Entropy</a:t>
            </a:r>
          </a:p>
          <a:p>
            <a:pPr>
              <a:lnSpc>
                <a:spcPct val="170000"/>
              </a:lnSpc>
            </a:pPr>
            <a:r>
              <a:rPr lang="en-US" dirty="0" smtClean="0"/>
              <a:t>Used for multi-class classification but with </a:t>
            </a:r>
            <a:r>
              <a:rPr lang="en-US" b="1" dirty="0" smtClean="0"/>
              <a:t>integer labels</a:t>
            </a:r>
            <a:r>
              <a:rPr lang="en-US" dirty="0" smtClean="0"/>
              <a:t> instead of one-hot</a:t>
            </a:r>
          </a:p>
          <a:p>
            <a:pPr>
              <a:lnSpc>
                <a:spcPct val="170000"/>
              </a:lnSpc>
            </a:pPr>
            <a:r>
              <a:rPr lang="en-US" dirty="0" smtClean="0"/>
              <a:t>loss='</a:t>
            </a:r>
            <a:r>
              <a:rPr lang="en-US" dirty="0" err="1" smtClean="0"/>
              <a:t>sparse_categorical_crossentropy</a:t>
            </a:r>
            <a:r>
              <a:rPr lang="en-US" dirty="0" smtClean="0"/>
              <a:t>' </a:t>
            </a:r>
          </a:p>
          <a:p>
            <a:pPr>
              <a:lnSpc>
                <a:spcPct val="170000"/>
              </a:lnSpc>
              <a:buNone/>
            </a:pPr>
            <a:r>
              <a:rPr lang="en-US" b="1" dirty="0" smtClean="0"/>
              <a:t> Mean Squared Error (MSE)</a:t>
            </a:r>
          </a:p>
          <a:p>
            <a:pPr>
              <a:lnSpc>
                <a:spcPct val="170000"/>
              </a:lnSpc>
            </a:pPr>
            <a:r>
              <a:rPr lang="en-US" dirty="0" smtClean="0"/>
              <a:t>Used in </a:t>
            </a:r>
            <a:r>
              <a:rPr lang="en-US" b="1" dirty="0" smtClean="0"/>
              <a:t>regression problems</a:t>
            </a:r>
            <a:r>
              <a:rPr lang="en-US" dirty="0" smtClean="0"/>
              <a:t> (predicting numbers)</a:t>
            </a:r>
          </a:p>
          <a:p>
            <a:pPr>
              <a:lnSpc>
                <a:spcPct val="170000"/>
              </a:lnSpc>
            </a:pPr>
            <a:r>
              <a:rPr lang="en-US" dirty="0" smtClean="0"/>
              <a:t>loss='</a:t>
            </a:r>
            <a:r>
              <a:rPr lang="en-US" dirty="0" err="1" smtClean="0"/>
              <a:t>mean_squared_error</a:t>
            </a:r>
            <a:r>
              <a:rPr lang="en-US" dirty="0" smtClean="0"/>
              <a:t>'</a:t>
            </a:r>
          </a:p>
          <a:p>
            <a:pPr>
              <a:lnSpc>
                <a:spcPct val="170000"/>
              </a:lnSpc>
            </a:pPr>
            <a:endParaRPr lang="en-US" dirty="0" smtClean="0"/>
          </a:p>
          <a:p>
            <a:pPr>
              <a:lnSpc>
                <a:spcPct val="170000"/>
              </a:lnSpc>
            </a:pPr>
            <a:endParaRPr lang="en-US" dirty="0"/>
          </a:p>
        </p:txBody>
      </p:sp>
      <p:pic>
        <p:nvPicPr>
          <p:cNvPr id="109571" name="Picture 3"/>
          <p:cNvPicPr>
            <a:picLocks noChangeAspect="1" noChangeArrowheads="1"/>
          </p:cNvPicPr>
          <p:nvPr/>
        </p:nvPicPr>
        <p:blipFill>
          <a:blip r:embed="rId2" cstate="print"/>
          <a:srcRect/>
          <a:stretch>
            <a:fillRect/>
          </a:stretch>
        </p:blipFill>
        <p:spPr bwMode="auto">
          <a:xfrm>
            <a:off x="4211960" y="4941168"/>
            <a:ext cx="4716016" cy="1428727"/>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Loss Function for regression</a:t>
            </a:r>
            <a:endParaRPr lang="en-US" dirty="0"/>
          </a:p>
        </p:txBody>
      </p:sp>
      <p:sp>
        <p:nvSpPr>
          <p:cNvPr id="3" name="Content Placeholder 2"/>
          <p:cNvSpPr>
            <a:spLocks noGrp="1"/>
          </p:cNvSpPr>
          <p:nvPr>
            <p:ph idx="1"/>
          </p:nvPr>
        </p:nvSpPr>
        <p:spPr/>
        <p:txBody>
          <a:bodyPr/>
          <a:lstStyle/>
          <a:p>
            <a:r>
              <a:rPr lang="en-US" dirty="0" smtClean="0"/>
              <a:t>Mean </a:t>
            </a:r>
            <a:r>
              <a:rPr lang="en-US" dirty="0"/>
              <a:t>Squared Error Loss </a:t>
            </a:r>
            <a:r>
              <a:rPr lang="en-US" dirty="0" smtClean="0"/>
              <a:t>Function</a:t>
            </a:r>
          </a:p>
          <a:p>
            <a:r>
              <a:rPr lang="en-US" dirty="0" smtClean="0"/>
              <a:t>Mean Absolute Error Loss </a:t>
            </a:r>
            <a:endParaRPr lang="en-US" dirty="0"/>
          </a:p>
          <a:p>
            <a:r>
              <a:rPr lang="en-US" dirty="0" smtClean="0"/>
              <a:t>Mean </a:t>
            </a:r>
            <a:r>
              <a:rPr lang="en-US" dirty="0"/>
              <a:t>Absolute Percentage </a:t>
            </a:r>
            <a:r>
              <a:rPr lang="en-US" dirty="0" smtClean="0"/>
              <a:t>Error loss</a:t>
            </a:r>
            <a:endParaRPr lang="en-US" dirty="0"/>
          </a:p>
          <a:p>
            <a:r>
              <a:rPr lang="en-US" dirty="0" smtClean="0"/>
              <a:t>Mean Squared log error loss</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76672"/>
            <a:ext cx="8363272" cy="5649491"/>
          </a:xfrm>
        </p:spPr>
        <p:txBody>
          <a:bodyPr>
            <a:normAutofit/>
          </a:bodyPr>
          <a:lstStyle/>
          <a:p>
            <a:pPr>
              <a:buNone/>
            </a:pPr>
            <a:r>
              <a:rPr lang="en-US" sz="2400" b="1" u="sng" dirty="0" smtClean="0"/>
              <a:t>Mean Squared Error Loss Function:</a:t>
            </a:r>
          </a:p>
        </p:txBody>
      </p:sp>
      <p:pic>
        <p:nvPicPr>
          <p:cNvPr id="1028" name="Picture 4" descr="https://miro.medium.com/v2/resize:fit:376/1*kjfms6RCnHVMLRSq75AD0Q.png"/>
          <p:cNvPicPr>
            <a:picLocks noChangeAspect="1" noChangeArrowheads="1"/>
          </p:cNvPicPr>
          <p:nvPr/>
        </p:nvPicPr>
        <p:blipFill>
          <a:blip r:embed="rId2" cstate="print"/>
          <a:srcRect/>
          <a:stretch>
            <a:fillRect/>
          </a:stretch>
        </p:blipFill>
        <p:spPr bwMode="auto">
          <a:xfrm>
            <a:off x="539552" y="1196752"/>
            <a:ext cx="3581400" cy="1047751"/>
          </a:xfrm>
          <a:prstGeom prst="rect">
            <a:avLst/>
          </a:prstGeom>
          <a:noFill/>
        </p:spPr>
      </p:pic>
      <p:sp>
        <p:nvSpPr>
          <p:cNvPr id="6" name="Rectangle 5"/>
          <p:cNvSpPr/>
          <p:nvPr/>
        </p:nvSpPr>
        <p:spPr>
          <a:xfrm>
            <a:off x="179512" y="2276872"/>
            <a:ext cx="8748464" cy="2123658"/>
          </a:xfrm>
          <a:prstGeom prst="rect">
            <a:avLst/>
          </a:prstGeom>
        </p:spPr>
        <p:txBody>
          <a:bodyPr wrap="square">
            <a:spAutoFit/>
          </a:bodyPr>
          <a:lstStyle/>
          <a:p>
            <a:r>
              <a:rPr lang="en-US" sz="2400" b="1" dirty="0">
                <a:latin typeface="Times New Roman" pitchFamily="18" charset="0"/>
                <a:cs typeface="Times New Roman" pitchFamily="18" charset="0"/>
              </a:rPr>
              <a:t>sensitive to outliers in the data</a:t>
            </a:r>
            <a:r>
              <a:rPr lang="en-US" sz="2400" dirty="0">
                <a:latin typeface="Times New Roman" pitchFamily="18" charset="0"/>
                <a:cs typeface="Times New Roman" pitchFamily="18" charset="0"/>
              </a:rPr>
              <a:t>, making it less suitable for some tasks</a:t>
            </a:r>
            <a:r>
              <a:rPr lang="en-US" sz="2400" dirty="0" smtClean="0">
                <a:latin typeface="Times New Roman" pitchFamily="18" charset="0"/>
                <a:cs typeface="Times New Roman" pitchFamily="18" charset="0"/>
              </a:rPr>
              <a:t>.</a:t>
            </a:r>
          </a:p>
          <a:p>
            <a:endParaRPr lang="en-US" sz="2400" b="1" dirty="0" smtClean="0">
              <a:latin typeface="Times New Roman" pitchFamily="18" charset="0"/>
              <a:cs typeface="Times New Roman" pitchFamily="18" charset="0"/>
            </a:endParaRPr>
          </a:p>
          <a:p>
            <a:r>
              <a:rPr lang="en-US" sz="2400" b="1" u="sng" dirty="0" smtClean="0">
                <a:latin typeface="Times New Roman" pitchFamily="18" charset="0"/>
                <a:cs typeface="Times New Roman" pitchFamily="18" charset="0"/>
              </a:rPr>
              <a:t>Mean </a:t>
            </a:r>
            <a:r>
              <a:rPr lang="en-US" sz="2400" b="1" u="sng" dirty="0">
                <a:latin typeface="Times New Roman" pitchFamily="18" charset="0"/>
                <a:cs typeface="Times New Roman" pitchFamily="18" charset="0"/>
              </a:rPr>
              <a:t>Absolute Error (MAE)</a:t>
            </a:r>
          </a:p>
          <a:p>
            <a:r>
              <a:rPr lang="en-US" dirty="0">
                <a:latin typeface="Times New Roman" pitchFamily="18" charset="0"/>
                <a:cs typeface="Times New Roman" pitchFamily="18" charset="0"/>
              </a:rPr>
              <a:t>MAE finds the average of the absolute differences between the target and the predicted outputs.</a:t>
            </a:r>
          </a:p>
        </p:txBody>
      </p:sp>
      <p:pic>
        <p:nvPicPr>
          <p:cNvPr id="1030" name="Picture 6" descr="https://miro.medium.com/v2/resize:fit:376/1*78B4XwuVtBbacdTFIkjOXQ.png"/>
          <p:cNvPicPr>
            <a:picLocks noChangeAspect="1" noChangeArrowheads="1"/>
          </p:cNvPicPr>
          <p:nvPr/>
        </p:nvPicPr>
        <p:blipFill>
          <a:blip r:embed="rId3" cstate="print"/>
          <a:srcRect/>
          <a:stretch>
            <a:fillRect/>
          </a:stretch>
        </p:blipFill>
        <p:spPr bwMode="auto">
          <a:xfrm>
            <a:off x="251520" y="4509120"/>
            <a:ext cx="3581400" cy="1047751"/>
          </a:xfrm>
          <a:prstGeom prst="rect">
            <a:avLst/>
          </a:prstGeom>
          <a:noFill/>
        </p:spPr>
      </p:pic>
      <p:pic>
        <p:nvPicPr>
          <p:cNvPr id="1031" name="Picture 7"/>
          <p:cNvPicPr>
            <a:picLocks noChangeAspect="1" noChangeArrowheads="1"/>
          </p:cNvPicPr>
          <p:nvPr/>
        </p:nvPicPr>
        <p:blipFill>
          <a:blip r:embed="rId4" cstate="print"/>
          <a:srcRect/>
          <a:stretch>
            <a:fillRect/>
          </a:stretch>
        </p:blipFill>
        <p:spPr bwMode="auto">
          <a:xfrm>
            <a:off x="4211960" y="1340768"/>
            <a:ext cx="3219450" cy="733425"/>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332656"/>
            <a:ext cx="8964488" cy="6408712"/>
          </a:xfrm>
        </p:spPr>
        <p:txBody>
          <a:bodyPr>
            <a:normAutofit fontScale="47500" lnSpcReduction="20000"/>
          </a:bodyPr>
          <a:lstStyle/>
          <a:p>
            <a:pPr>
              <a:buNone/>
            </a:pPr>
            <a:r>
              <a:rPr lang="en-US" sz="4400" b="1" u="sng" dirty="0" smtClean="0"/>
              <a:t>Mean Squared Logarithmic Error Loss</a:t>
            </a:r>
          </a:p>
          <a:p>
            <a:r>
              <a:rPr lang="en-US" b="1" dirty="0" smtClean="0"/>
              <a:t>Mean squared logarithmic error (MSLE)</a:t>
            </a:r>
            <a:r>
              <a:rPr lang="en-US" dirty="0" smtClean="0"/>
              <a:t> loss is a function used for regression tasks. It is similar to </a:t>
            </a:r>
            <a:r>
              <a:rPr lang="en-US" b="1" dirty="0" smtClean="0"/>
              <a:t>mean squared error (MSE)</a:t>
            </a:r>
            <a:r>
              <a:rPr lang="en-US" dirty="0" smtClean="0"/>
              <a:t> loss, but it takes the logarithm of the predicted output before squaring the difference between the predicted and true values.</a:t>
            </a:r>
          </a:p>
          <a:p>
            <a:r>
              <a:rPr lang="en-US" dirty="0" smtClean="0"/>
              <a:t>The following equation gives the MSLE loss</a:t>
            </a:r>
          </a:p>
          <a:p>
            <a:endParaRPr lang="en-US" sz="2400" dirty="0" smtClean="0"/>
          </a:p>
          <a:p>
            <a:endParaRPr lang="en-US" dirty="0" smtClean="0"/>
          </a:p>
          <a:p>
            <a:endParaRPr lang="en-US" dirty="0" smtClean="0"/>
          </a:p>
          <a:p>
            <a:endParaRPr lang="en-US" dirty="0" smtClean="0"/>
          </a:p>
          <a:p>
            <a:endParaRPr lang="en-US" dirty="0" smtClean="0"/>
          </a:p>
          <a:p>
            <a:r>
              <a:rPr lang="en-US" sz="4400" b="1" u="sng" dirty="0" smtClean="0"/>
              <a:t>Mean Absolute Percentage Error (MAPE) or mean absolute percentage deviation (MAPD)</a:t>
            </a:r>
          </a:p>
          <a:p>
            <a:endParaRPr lang="en-US" dirty="0" smtClean="0"/>
          </a:p>
          <a:p>
            <a:pPr>
              <a:buNone/>
            </a:pPr>
            <a:r>
              <a:rPr lang="en-US" dirty="0" smtClean="0"/>
              <a:t>Where:</a:t>
            </a:r>
          </a:p>
          <a:p>
            <a:r>
              <a:rPr lang="en-US" dirty="0" smtClean="0"/>
              <a:t>N is the number of fitted points;</a:t>
            </a:r>
          </a:p>
          <a:p>
            <a:r>
              <a:rPr lang="en-US" dirty="0" smtClean="0"/>
              <a:t>A is the actual value;</a:t>
            </a:r>
          </a:p>
          <a:p>
            <a:r>
              <a:rPr lang="en-US" dirty="0" smtClean="0"/>
              <a:t>F is the forecast value; and</a:t>
            </a:r>
          </a:p>
          <a:p>
            <a:r>
              <a:rPr lang="en-US" dirty="0" smtClean="0"/>
              <a:t>Σ is </a:t>
            </a:r>
            <a:r>
              <a:rPr lang="en-US" dirty="0" smtClean="0">
                <a:hlinkClick r:id="rId2"/>
              </a:rPr>
              <a:t>summation notation</a:t>
            </a:r>
            <a:r>
              <a:rPr lang="en-US" dirty="0" smtClean="0"/>
              <a:t> (the absolute value is summed for every forecasted point in time).</a:t>
            </a:r>
          </a:p>
          <a:p>
            <a:endParaRPr lang="en-US" dirty="0" smtClean="0"/>
          </a:p>
          <a:p>
            <a:endParaRPr lang="en-US" dirty="0" smtClean="0"/>
          </a:p>
          <a:p>
            <a:endParaRPr lang="en-US" dirty="0" smtClean="0"/>
          </a:p>
          <a:p>
            <a:endParaRPr lang="en-US" dirty="0"/>
          </a:p>
        </p:txBody>
      </p:sp>
      <p:pic>
        <p:nvPicPr>
          <p:cNvPr id="22530" name="Picture 2"/>
          <p:cNvPicPr>
            <a:picLocks noChangeAspect="1" noChangeArrowheads="1"/>
          </p:cNvPicPr>
          <p:nvPr/>
        </p:nvPicPr>
        <p:blipFill>
          <a:blip r:embed="rId3" cstate="print"/>
          <a:srcRect/>
          <a:stretch>
            <a:fillRect/>
          </a:stretch>
        </p:blipFill>
        <p:spPr bwMode="auto">
          <a:xfrm>
            <a:off x="1475656" y="2420888"/>
            <a:ext cx="4067175" cy="542925"/>
          </a:xfrm>
          <a:prstGeom prst="rect">
            <a:avLst/>
          </a:prstGeom>
          <a:noFill/>
          <a:ln w="9525">
            <a:noFill/>
            <a:miter lim="800000"/>
            <a:headEnd/>
            <a:tailEnd/>
          </a:ln>
        </p:spPr>
      </p:pic>
      <p:sp>
        <p:nvSpPr>
          <p:cNvPr id="3074" name="AutoShape 2" descr="mape how to calculat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6" name="AutoShape 4" descr="mape how to calculat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7" name="Picture 5"/>
          <p:cNvPicPr>
            <a:picLocks noChangeAspect="1" noChangeArrowheads="1"/>
          </p:cNvPicPr>
          <p:nvPr/>
        </p:nvPicPr>
        <p:blipFill>
          <a:blip r:embed="rId4" cstate="print"/>
          <a:srcRect/>
          <a:stretch>
            <a:fillRect/>
          </a:stretch>
        </p:blipFill>
        <p:spPr bwMode="auto">
          <a:xfrm>
            <a:off x="4932040" y="4437112"/>
            <a:ext cx="2016223" cy="684322"/>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Loss Function for classification</a:t>
            </a:r>
            <a:endParaRPr lang="en-US" dirty="0"/>
          </a:p>
        </p:txBody>
      </p:sp>
      <p:sp>
        <p:nvSpPr>
          <p:cNvPr id="3" name="Content Placeholder 2"/>
          <p:cNvSpPr>
            <a:spLocks noGrp="1"/>
          </p:cNvSpPr>
          <p:nvPr>
            <p:ph idx="1"/>
          </p:nvPr>
        </p:nvSpPr>
        <p:spPr>
          <a:xfrm>
            <a:off x="323528" y="1268760"/>
            <a:ext cx="8568952" cy="5589240"/>
          </a:xfrm>
        </p:spPr>
        <p:txBody>
          <a:bodyPr numCol="2">
            <a:noAutofit/>
          </a:bodyPr>
          <a:lstStyle/>
          <a:p>
            <a:pPr>
              <a:buNone/>
            </a:pPr>
            <a:r>
              <a:rPr lang="en-US" sz="1400" b="1" dirty="0"/>
              <a:t>Binary classification loss functions</a:t>
            </a:r>
            <a:r>
              <a:rPr lang="en-US" sz="1400" dirty="0"/>
              <a:t> in neural networks are functions that are used to evaluate the performance of a machine learning model on a </a:t>
            </a:r>
            <a:r>
              <a:rPr lang="en-US" sz="1400" b="1" dirty="0">
                <a:solidFill>
                  <a:srgbClr val="C00000"/>
                </a:solidFill>
              </a:rPr>
              <a:t>binary classification task.</a:t>
            </a:r>
            <a:r>
              <a:rPr lang="en-US" sz="1400" dirty="0"/>
              <a:t> Binary classification is a machine learning task involving predicting a binary outcome, such as a Yes/No decision or a 0/1 label</a:t>
            </a:r>
            <a:r>
              <a:rPr lang="en-US" sz="1400" dirty="0" smtClean="0"/>
              <a:t>.</a:t>
            </a:r>
          </a:p>
          <a:p>
            <a:pPr>
              <a:buNone/>
            </a:pPr>
            <a:r>
              <a:rPr lang="en-US" sz="1400" b="1" dirty="0"/>
              <a:t>Binary </a:t>
            </a:r>
            <a:r>
              <a:rPr lang="en-US" sz="1400" b="1" dirty="0" smtClean="0"/>
              <a:t>Cross-Entropy:</a:t>
            </a:r>
            <a:endParaRPr lang="en-US" sz="1400" b="1" dirty="0"/>
          </a:p>
          <a:p>
            <a:r>
              <a:rPr lang="en-US" sz="1400" b="1" dirty="0"/>
              <a:t>Binary cross-entropy</a:t>
            </a:r>
            <a:r>
              <a:rPr lang="en-US" sz="1400" dirty="0"/>
              <a:t> loss is a loss function used for binary classification tasks. It is defined as the negative log probability of the true class. It is calculated by taking the negative log of the predicted probability of the true class.</a:t>
            </a:r>
          </a:p>
          <a:p>
            <a:r>
              <a:rPr lang="en-US" sz="1400" dirty="0"/>
              <a:t>The mathematical formulation for binary cross-entropy loss is:</a:t>
            </a:r>
          </a:p>
          <a:p>
            <a:endParaRPr lang="en-US" sz="1400" dirty="0" smtClean="0"/>
          </a:p>
          <a:p>
            <a:endParaRPr lang="en-US" sz="1400" dirty="0" smtClean="0"/>
          </a:p>
          <a:p>
            <a:endParaRPr lang="en-US" sz="1400" dirty="0" smtClean="0"/>
          </a:p>
          <a:p>
            <a:pPr>
              <a:buNone/>
            </a:pPr>
            <a:r>
              <a:rPr lang="en-US" sz="1400" b="1" dirty="0" smtClean="0"/>
              <a:t>Hinge Loss: (mostly for binary </a:t>
            </a:r>
            <a:r>
              <a:rPr lang="en-US" sz="1400" b="1" dirty="0" err="1" smtClean="0"/>
              <a:t>clsssification</a:t>
            </a:r>
            <a:r>
              <a:rPr lang="en-US" sz="1400" b="1" dirty="0" smtClean="0"/>
              <a:t>)</a:t>
            </a:r>
          </a:p>
          <a:p>
            <a:r>
              <a:rPr lang="en-US" sz="1400" b="1" dirty="0" smtClean="0"/>
              <a:t>Hinge loss</a:t>
            </a:r>
            <a:r>
              <a:rPr lang="en-US" sz="1400" dirty="0" smtClean="0"/>
              <a:t> is a function that trains linear classifiers, such as support vector machines (SVMs). It is the maximum difference between the predicted and true margins and a constant value. The predicted margin is the distance between the decision boundary and the closest training data point. The true margin is the distance between the decision boundary and the true label.</a:t>
            </a:r>
          </a:p>
          <a:p>
            <a:pPr>
              <a:buNone/>
            </a:pPr>
            <a:r>
              <a:rPr lang="en-US" sz="1400" dirty="0" smtClean="0"/>
              <a:t>The following equation gives the hinge loss:</a:t>
            </a:r>
          </a:p>
          <a:p>
            <a:r>
              <a:rPr lang="en-US" sz="1400" b="1" dirty="0" smtClean="0"/>
              <a:t>Hinge Loss=𝑚𝑎𝑥(0,1−𝑦𝑡</a:t>
            </a:r>
            <a:r>
              <a:rPr lang="en-US" sz="1400" b="1" baseline="-25000" dirty="0" smtClean="0"/>
              <a:t>𝑟𝑢𝑒</a:t>
            </a:r>
            <a:r>
              <a:rPr lang="en-US" sz="1400" b="1" dirty="0" smtClean="0"/>
              <a:t>∗𝑦</a:t>
            </a:r>
            <a:r>
              <a:rPr lang="en-US" sz="1400" b="1" baseline="-25000" dirty="0" smtClean="0"/>
              <a:t>𝑝𝑟𝑒𝑑</a:t>
            </a:r>
            <a:r>
              <a:rPr lang="en-US" sz="1400" b="1" dirty="0" smtClean="0"/>
              <a:t>)Hinge Loss=</a:t>
            </a:r>
            <a:r>
              <a:rPr lang="en-US" sz="1400" b="1" i="1" dirty="0" smtClean="0"/>
              <a:t>max</a:t>
            </a:r>
            <a:r>
              <a:rPr lang="en-US" sz="1400" b="1" dirty="0" smtClean="0"/>
              <a:t>(0,1−</a:t>
            </a:r>
            <a:r>
              <a:rPr lang="en-US" sz="1400" b="1" i="1" dirty="0" smtClean="0"/>
              <a:t>y</a:t>
            </a:r>
            <a:r>
              <a:rPr lang="en-US" sz="1400" b="1" i="1" baseline="-25000" dirty="0" smtClean="0"/>
              <a:t>true</a:t>
            </a:r>
            <a:r>
              <a:rPr lang="en-US" sz="1400" b="1" dirty="0" smtClean="0"/>
              <a:t>​∗</a:t>
            </a:r>
            <a:r>
              <a:rPr lang="en-US" sz="1400" b="1" i="1" dirty="0" err="1" smtClean="0"/>
              <a:t>y</a:t>
            </a:r>
            <a:r>
              <a:rPr lang="en-US" sz="1400" b="1" i="1" baseline="-25000" dirty="0" err="1" smtClean="0"/>
              <a:t>pred</a:t>
            </a:r>
            <a:r>
              <a:rPr lang="en-US" sz="1400" b="1" dirty="0" smtClean="0"/>
              <a:t>​)</a:t>
            </a:r>
          </a:p>
          <a:p>
            <a:endParaRPr lang="en-US" sz="1400" b="1" dirty="0" smtClean="0"/>
          </a:p>
          <a:p>
            <a:endParaRPr lang="en-US" sz="1400" dirty="0"/>
          </a:p>
        </p:txBody>
      </p:sp>
      <p:pic>
        <p:nvPicPr>
          <p:cNvPr id="3074" name="Picture 2"/>
          <p:cNvPicPr>
            <a:picLocks noChangeAspect="1" noChangeArrowheads="1"/>
          </p:cNvPicPr>
          <p:nvPr/>
        </p:nvPicPr>
        <p:blipFill>
          <a:blip r:embed="rId2" cstate="print"/>
          <a:srcRect/>
          <a:stretch>
            <a:fillRect/>
          </a:stretch>
        </p:blipFill>
        <p:spPr bwMode="auto">
          <a:xfrm>
            <a:off x="179512" y="5877272"/>
            <a:ext cx="4248472" cy="360040"/>
          </a:xfrm>
          <a:prstGeom prst="rect">
            <a:avLst/>
          </a:prstGeom>
          <a:noFill/>
          <a:ln w="9525">
            <a:noFill/>
            <a:miter lim="800000"/>
            <a:headEnd/>
            <a:tailEnd/>
          </a:ln>
        </p:spPr>
      </p:pic>
      <p:pic>
        <p:nvPicPr>
          <p:cNvPr id="2049" name="Picture 1"/>
          <p:cNvPicPr>
            <a:picLocks noChangeAspect="1" noChangeArrowheads="1"/>
          </p:cNvPicPr>
          <p:nvPr/>
        </p:nvPicPr>
        <p:blipFill>
          <a:blip r:embed="rId3" cstate="print"/>
          <a:srcRect/>
          <a:stretch>
            <a:fillRect/>
          </a:stretch>
        </p:blipFill>
        <p:spPr bwMode="auto">
          <a:xfrm>
            <a:off x="4716016" y="5805264"/>
            <a:ext cx="4248471" cy="648072"/>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404664"/>
            <a:ext cx="8219256" cy="5721499"/>
          </a:xfrm>
        </p:spPr>
        <p:txBody>
          <a:bodyPr/>
          <a:lstStyle/>
          <a:p>
            <a:r>
              <a:rPr lang="en-US" dirty="0" smtClean="0"/>
              <a:t>Logistic loss</a:t>
            </a:r>
          </a:p>
          <a:p>
            <a:r>
              <a:rPr lang="en-US" dirty="0" smtClean="0"/>
              <a:t>Negative log likelihood</a:t>
            </a:r>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Loss function for Reconstruction</a:t>
            </a:r>
            <a:endParaRPr lang="en-US" b="1" dirty="0"/>
          </a:p>
        </p:txBody>
      </p:sp>
      <p:sp>
        <p:nvSpPr>
          <p:cNvPr id="3" name="Content Placeholder 2"/>
          <p:cNvSpPr>
            <a:spLocks noGrp="1"/>
          </p:cNvSpPr>
          <p:nvPr>
            <p:ph idx="1"/>
          </p:nvPr>
        </p:nvSpPr>
        <p:spPr>
          <a:xfrm>
            <a:off x="107504" y="1268760"/>
            <a:ext cx="8784976" cy="4176465"/>
          </a:xfrm>
        </p:spPr>
        <p:txBody>
          <a:bodyPr>
            <a:normAutofit fontScale="62500" lnSpcReduction="20000"/>
          </a:bodyPr>
          <a:lstStyle/>
          <a:p>
            <a:r>
              <a:rPr lang="en-US" dirty="0" smtClean="0"/>
              <a:t>The reconstruction loss, on the other hand, is pivotal in </a:t>
            </a:r>
            <a:r>
              <a:rPr lang="en-US" dirty="0" smtClean="0">
                <a:hlinkClick r:id="rId2"/>
              </a:rPr>
              <a:t>unsupervised learning</a:t>
            </a:r>
            <a:r>
              <a:rPr lang="en-US" dirty="0" smtClean="0"/>
              <a:t>, particularly in models like </a:t>
            </a:r>
            <a:r>
              <a:rPr lang="en-US" dirty="0" err="1" smtClean="0">
                <a:hlinkClick r:id="rId3"/>
              </a:rPr>
              <a:t>autoencoders</a:t>
            </a:r>
            <a:r>
              <a:rPr lang="en-US" dirty="0" err="1" smtClean="0"/>
              <a:t>that</a:t>
            </a:r>
            <a:r>
              <a:rPr lang="en-US" dirty="0" smtClean="0"/>
              <a:t> learn efficient data coding in an unsupervised manner. This loss function measures how well the output of the model can reconstruct the original input data after being encoded and decoded.</a:t>
            </a:r>
          </a:p>
          <a:p>
            <a:r>
              <a:rPr lang="en-US" dirty="0" err="1" smtClean="0"/>
              <a:t>Kullback-Leibler</a:t>
            </a:r>
            <a:r>
              <a:rPr lang="en-US" dirty="0" smtClean="0"/>
              <a:t> (KL) divergence, or relative entropy, is a metric used to compare two data distributions. It is a concept of information theory that contrasts the information contained in two probability distributions. </a:t>
            </a:r>
          </a:p>
          <a:p>
            <a:pPr>
              <a:buNone/>
            </a:pPr>
            <a:r>
              <a:rPr lang="en-US" b="1" dirty="0" smtClean="0"/>
              <a:t>Divergence in Statistics</a:t>
            </a:r>
          </a:p>
          <a:p>
            <a:r>
              <a:rPr lang="en-US" dirty="0" smtClean="0"/>
              <a:t>The divergence between two probability distributions quantifies how much the two differ from each other.</a:t>
            </a:r>
          </a:p>
          <a:p>
            <a:endParaRPr lang="en-US" dirty="0"/>
          </a:p>
        </p:txBody>
      </p:sp>
      <p:pic>
        <p:nvPicPr>
          <p:cNvPr id="1025" name="Picture 1"/>
          <p:cNvPicPr>
            <a:picLocks noChangeAspect="1" noChangeArrowheads="1"/>
          </p:cNvPicPr>
          <p:nvPr/>
        </p:nvPicPr>
        <p:blipFill>
          <a:blip r:embed="rId4" cstate="print"/>
          <a:srcRect/>
          <a:stretch>
            <a:fillRect/>
          </a:stretch>
        </p:blipFill>
        <p:spPr bwMode="auto">
          <a:xfrm>
            <a:off x="3779912" y="5661248"/>
            <a:ext cx="4924425" cy="781050"/>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RBM</a:t>
            </a:r>
            <a:endParaRPr lang="en-US" dirty="0"/>
          </a:p>
        </p:txBody>
      </p:sp>
      <p:sp>
        <p:nvSpPr>
          <p:cNvPr id="3" name="Content Placeholder 2"/>
          <p:cNvSpPr>
            <a:spLocks noGrp="1"/>
          </p:cNvSpPr>
          <p:nvPr>
            <p:ph idx="1"/>
          </p:nvPr>
        </p:nvSpPr>
        <p:spPr>
          <a:xfrm>
            <a:off x="323528" y="1340768"/>
            <a:ext cx="8496944" cy="5184576"/>
          </a:xfrm>
        </p:spPr>
        <p:txBody>
          <a:bodyPr>
            <a:normAutofit/>
          </a:bodyPr>
          <a:lstStyle/>
          <a:p>
            <a:pPr algn="just"/>
            <a:r>
              <a:rPr lang="en-US" sz="2600" dirty="0" smtClean="0"/>
              <a:t>A Restricted Boltzmann Machine (RBM) is a generative stochastic neural network that can learn a probability distribution over its set of inputs.</a:t>
            </a:r>
          </a:p>
          <a:p>
            <a:pPr algn="just">
              <a:buNone/>
            </a:pPr>
            <a:endParaRPr lang="en-US" sz="2600" dirty="0" smtClean="0"/>
          </a:p>
          <a:p>
            <a:pPr algn="just"/>
            <a:r>
              <a:rPr lang="en-US" sz="2600" dirty="0" smtClean="0"/>
              <a:t> RBMs are </a:t>
            </a:r>
            <a:r>
              <a:rPr lang="en-US" sz="2600" b="1" dirty="0" smtClean="0">
                <a:solidFill>
                  <a:srgbClr val="0000FF"/>
                </a:solidFill>
              </a:rPr>
              <a:t>building blocks for Deep Belief Networks </a:t>
            </a:r>
            <a:r>
              <a:rPr lang="en-US" sz="2600" dirty="0" smtClean="0"/>
              <a:t>(DBNs) and are primarily used for </a:t>
            </a:r>
            <a:r>
              <a:rPr lang="en-US" sz="2600" b="1" dirty="0" smtClean="0">
                <a:solidFill>
                  <a:srgbClr val="C00000"/>
                </a:solidFill>
              </a:rPr>
              <a:t>dimensionality reduction, feature learning</a:t>
            </a:r>
            <a:r>
              <a:rPr lang="en-US" sz="2600" b="1" dirty="0" smtClean="0">
                <a:solidFill>
                  <a:srgbClr val="0000FF"/>
                </a:solidFill>
              </a:rPr>
              <a:t>, collaborative filtering, and </a:t>
            </a:r>
            <a:r>
              <a:rPr lang="en-US" sz="2600" b="1" dirty="0" err="1" smtClean="0">
                <a:solidFill>
                  <a:srgbClr val="0000FF"/>
                </a:solidFill>
              </a:rPr>
              <a:t>pretraining</a:t>
            </a:r>
            <a:r>
              <a:rPr lang="en-US" sz="2600" b="1" dirty="0" smtClean="0">
                <a:solidFill>
                  <a:srgbClr val="0000FF"/>
                </a:solidFill>
              </a:rPr>
              <a:t> deep networks.</a:t>
            </a:r>
          </a:p>
          <a:p>
            <a:endParaRPr lang="en-US" sz="26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568952" cy="6192688"/>
          </a:xfrm>
        </p:spPr>
        <p:txBody>
          <a:bodyPr>
            <a:normAutofit fontScale="70000" lnSpcReduction="20000"/>
          </a:bodyPr>
          <a:lstStyle/>
          <a:p>
            <a:pPr>
              <a:buNone/>
            </a:pPr>
            <a:r>
              <a:rPr lang="en-US" b="1" dirty="0" smtClean="0"/>
              <a:t>What is an RBM?</a:t>
            </a:r>
          </a:p>
          <a:p>
            <a:pPr>
              <a:buNone/>
            </a:pPr>
            <a:r>
              <a:rPr lang="en-US" dirty="0" smtClean="0"/>
              <a:t>	An RBM is a </a:t>
            </a:r>
            <a:r>
              <a:rPr lang="en-US" b="1" dirty="0" smtClean="0">
                <a:solidFill>
                  <a:srgbClr val="0000FF"/>
                </a:solidFill>
              </a:rPr>
              <a:t>two-layer neural network </a:t>
            </a:r>
            <a:r>
              <a:rPr lang="en-US" dirty="0" smtClean="0"/>
              <a:t>that is undirected and bipartite(because of only two layers </a:t>
            </a:r>
            <a:r>
              <a:rPr lang="en-US" dirty="0" err="1" smtClean="0"/>
              <a:t>conencted</a:t>
            </a:r>
            <a:r>
              <a:rPr lang="en-US" dirty="0" smtClean="0"/>
              <a:t> with each other and no interconnection within the same layer), consisting of:</a:t>
            </a:r>
          </a:p>
          <a:p>
            <a:endParaRPr lang="en-US" dirty="0" smtClean="0"/>
          </a:p>
          <a:p>
            <a:r>
              <a:rPr lang="en-US" b="1" dirty="0" smtClean="0">
                <a:solidFill>
                  <a:srgbClr val="0000FF"/>
                </a:solidFill>
              </a:rPr>
              <a:t>Visible layer </a:t>
            </a:r>
            <a:r>
              <a:rPr lang="en-US" b="1" dirty="0" smtClean="0"/>
              <a:t>(v):</a:t>
            </a:r>
            <a:r>
              <a:rPr lang="en-US" dirty="0" smtClean="0"/>
              <a:t> Input layer</a:t>
            </a:r>
          </a:p>
          <a:p>
            <a:r>
              <a:rPr lang="en-US" b="1" dirty="0" smtClean="0">
                <a:solidFill>
                  <a:srgbClr val="0000FF"/>
                </a:solidFill>
              </a:rPr>
              <a:t>Hidden layer </a:t>
            </a:r>
            <a:r>
              <a:rPr lang="en-US" b="1" dirty="0" smtClean="0"/>
              <a:t>(h):</a:t>
            </a:r>
            <a:r>
              <a:rPr lang="en-US" dirty="0" smtClean="0"/>
              <a:t> Extracts features or latent representations . Hidden units are </a:t>
            </a:r>
            <a:r>
              <a:rPr lang="en-US" b="1" dirty="0" smtClean="0">
                <a:solidFill>
                  <a:srgbClr val="C00000"/>
                </a:solidFill>
              </a:rPr>
              <a:t>feature detectors</a:t>
            </a:r>
            <a:r>
              <a:rPr lang="en-US" dirty="0" smtClean="0"/>
              <a:t>, learning features from the input data.</a:t>
            </a:r>
          </a:p>
          <a:p>
            <a:r>
              <a:rPr lang="en-US" b="1" dirty="0" smtClean="0">
                <a:solidFill>
                  <a:srgbClr val="0000FF"/>
                </a:solidFill>
              </a:rPr>
              <a:t>No intra-layer connections</a:t>
            </a:r>
            <a:r>
              <a:rPr lang="en-US" dirty="0" smtClean="0"/>
              <a:t>: Neurons within the same layer are not connected.</a:t>
            </a:r>
          </a:p>
          <a:p>
            <a:r>
              <a:rPr lang="en-US" dirty="0" smtClean="0"/>
              <a:t>RBMs are called </a:t>
            </a:r>
            <a:r>
              <a:rPr lang="en-US" b="1" dirty="0" smtClean="0">
                <a:solidFill>
                  <a:srgbClr val="0000FF"/>
                </a:solidFill>
              </a:rPr>
              <a:t>“restricted” </a:t>
            </a:r>
            <a:r>
              <a:rPr lang="en-US" dirty="0" smtClean="0"/>
              <a:t>because of this </a:t>
            </a:r>
            <a:r>
              <a:rPr lang="en-US" b="1" dirty="0" smtClean="0">
                <a:solidFill>
                  <a:srgbClr val="0000FF"/>
                </a:solidFill>
              </a:rPr>
              <a:t>restriction of no intra-layer connection</a:t>
            </a:r>
            <a:r>
              <a:rPr lang="en-US" b="1" dirty="0" smtClean="0"/>
              <a:t>s</a:t>
            </a:r>
            <a:r>
              <a:rPr lang="en-US" dirty="0" smtClean="0"/>
              <a:t>, which simplifies computation and learning.</a:t>
            </a:r>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stricted Boltzmann Machine (RBM) | by Prateek Puranik | Medium"/>
          <p:cNvPicPr>
            <a:picLocks noChangeAspect="1" noChangeArrowheads="1"/>
          </p:cNvPicPr>
          <p:nvPr/>
        </p:nvPicPr>
        <p:blipFill>
          <a:blip r:embed="rId2" cstate="print"/>
          <a:srcRect l="3571" t="1658" r="5952" b="3810"/>
          <a:stretch>
            <a:fillRect/>
          </a:stretch>
        </p:blipFill>
        <p:spPr bwMode="auto">
          <a:xfrm>
            <a:off x="827584" y="692696"/>
            <a:ext cx="7488832" cy="5616624"/>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640960" cy="6264696"/>
          </a:xfrm>
        </p:spPr>
        <p:txBody>
          <a:bodyPr>
            <a:normAutofit fontScale="77500" lnSpcReduction="20000"/>
          </a:bodyPr>
          <a:lstStyle/>
          <a:p>
            <a:pPr>
              <a:buNone/>
            </a:pPr>
            <a:r>
              <a:rPr lang="en-US" b="1" u="sng" dirty="0" smtClean="0"/>
              <a:t>Training</a:t>
            </a:r>
          </a:p>
          <a:p>
            <a:r>
              <a:rPr lang="en-US" dirty="0" smtClean="0"/>
              <a:t>The technique known as </a:t>
            </a:r>
            <a:r>
              <a:rPr lang="en-US" b="1" dirty="0" err="1" smtClean="0">
                <a:solidFill>
                  <a:srgbClr val="0000FF"/>
                </a:solidFill>
              </a:rPr>
              <a:t>pretraining</a:t>
            </a:r>
            <a:r>
              <a:rPr lang="en-US" dirty="0" smtClean="0"/>
              <a:t> using RBMs means </a:t>
            </a:r>
            <a:r>
              <a:rPr lang="en-US" b="1" dirty="0" smtClean="0">
                <a:solidFill>
                  <a:srgbClr val="0000FF"/>
                </a:solidFill>
              </a:rPr>
              <a:t>teaching it to reconstruct the original data from a limited sample of that data</a:t>
            </a:r>
            <a:r>
              <a:rPr lang="en-US" dirty="0" smtClean="0"/>
              <a:t>. RBMs learn to reconstruct the input dataset.</a:t>
            </a:r>
          </a:p>
          <a:p>
            <a:pPr>
              <a:buNone/>
            </a:pPr>
            <a:r>
              <a:rPr lang="en-US" b="1" u="sng" dirty="0" smtClean="0"/>
              <a:t>Reconstruction</a:t>
            </a:r>
          </a:p>
          <a:p>
            <a:r>
              <a:rPr lang="en-US" dirty="0" smtClean="0"/>
              <a:t>Deep neural networks with unsupervised </a:t>
            </a:r>
            <a:r>
              <a:rPr lang="en-US" dirty="0" err="1" smtClean="0"/>
              <a:t>pretraining</a:t>
            </a:r>
            <a:r>
              <a:rPr lang="en-US" dirty="0" smtClean="0"/>
              <a:t> (RBMs, </a:t>
            </a:r>
            <a:r>
              <a:rPr lang="en-US" dirty="0" err="1" smtClean="0"/>
              <a:t>autoencoders</a:t>
            </a:r>
            <a:r>
              <a:rPr lang="en-US" dirty="0" smtClean="0"/>
              <a:t>) perform </a:t>
            </a:r>
            <a:r>
              <a:rPr lang="en-US" b="1" dirty="0" smtClean="0">
                <a:solidFill>
                  <a:srgbClr val="0000FF"/>
                </a:solidFill>
              </a:rPr>
              <a:t>feature engineering from unlabeled data </a:t>
            </a:r>
            <a:r>
              <a:rPr lang="en-US" b="1" dirty="0" smtClean="0">
                <a:solidFill>
                  <a:srgbClr val="C00000"/>
                </a:solidFill>
              </a:rPr>
              <a:t>through reconstruction</a:t>
            </a:r>
            <a:r>
              <a:rPr lang="en-US" dirty="0" smtClean="0"/>
              <a:t>.</a:t>
            </a:r>
          </a:p>
          <a:p>
            <a:r>
              <a:rPr lang="en-US" dirty="0" smtClean="0"/>
              <a:t> In </a:t>
            </a:r>
            <a:r>
              <a:rPr lang="en-US" dirty="0" err="1" smtClean="0"/>
              <a:t>pretraining</a:t>
            </a:r>
            <a:r>
              <a:rPr lang="en-US" dirty="0" smtClean="0"/>
              <a:t>, the weights learned through unsupervised </a:t>
            </a:r>
            <a:r>
              <a:rPr lang="en-US" dirty="0" err="1" smtClean="0"/>
              <a:t>pretrain</a:t>
            </a:r>
            <a:r>
              <a:rPr lang="en-US" dirty="0" smtClean="0"/>
              <a:t> learning are used for weight initialization in networks such as Deep Belief Networks.</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ChangeAspect="1" noChangeArrowheads="1"/>
          </p:cNvPicPr>
          <p:nvPr/>
        </p:nvPicPr>
        <p:blipFill>
          <a:blip r:embed="rId2" cstate="print"/>
          <a:srcRect/>
          <a:stretch>
            <a:fillRect/>
          </a:stretch>
        </p:blipFill>
        <p:spPr bwMode="auto">
          <a:xfrm>
            <a:off x="467544" y="332656"/>
            <a:ext cx="7842556" cy="4608512"/>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9"/>
            <a:ext cx="8363272" cy="1728191"/>
          </a:xfrm>
        </p:spPr>
        <p:txBody>
          <a:bodyPr>
            <a:normAutofit fontScale="47500" lnSpcReduction="20000"/>
          </a:bodyPr>
          <a:lstStyle/>
          <a:p>
            <a:pPr>
              <a:buNone/>
            </a:pPr>
            <a:r>
              <a:rPr lang="en-US" b="1" dirty="0" smtClean="0"/>
              <a:t>How to Perform Reconstruction in a Restricted Boltzmann Machine (RBM)</a:t>
            </a:r>
          </a:p>
          <a:p>
            <a:pPr>
              <a:buNone/>
            </a:pPr>
            <a:r>
              <a:rPr lang="en-US" dirty="0" smtClean="0"/>
              <a:t>		Reconstruction is a </a:t>
            </a:r>
            <a:r>
              <a:rPr lang="en-US" b="1" dirty="0" smtClean="0"/>
              <a:t>key step</a:t>
            </a:r>
            <a:r>
              <a:rPr lang="en-US" dirty="0" smtClean="0"/>
              <a:t> in RBM training. It refers to the process of trying </a:t>
            </a:r>
            <a:r>
              <a:rPr lang="en-US" b="1" dirty="0" smtClean="0">
                <a:solidFill>
                  <a:srgbClr val="0000FF"/>
                </a:solidFill>
              </a:rPr>
              <a:t>to recreate the original input </a:t>
            </a:r>
            <a:r>
              <a:rPr lang="en-US" dirty="0" smtClean="0"/>
              <a:t>after passing it </a:t>
            </a:r>
            <a:r>
              <a:rPr lang="en-US" b="1" dirty="0" smtClean="0">
                <a:solidFill>
                  <a:srgbClr val="0000FF"/>
                </a:solidFill>
              </a:rPr>
              <a:t>through the hidden layer and back again</a:t>
            </a:r>
            <a:r>
              <a:rPr lang="en-US" dirty="0" smtClean="0"/>
              <a:t>. This helps the RBM learn useful representations by minimizing the difference between original and reconstructed input.</a:t>
            </a:r>
            <a:endParaRPr lang="en-US" dirty="0"/>
          </a:p>
        </p:txBody>
      </p:sp>
      <p:pic>
        <p:nvPicPr>
          <p:cNvPr id="148482" name="Picture 2"/>
          <p:cNvPicPr>
            <a:picLocks noChangeAspect="1" noChangeArrowheads="1"/>
          </p:cNvPicPr>
          <p:nvPr/>
        </p:nvPicPr>
        <p:blipFill>
          <a:blip r:embed="rId2" cstate="print"/>
          <a:srcRect t="3532" b="2861"/>
          <a:stretch>
            <a:fillRect/>
          </a:stretch>
        </p:blipFill>
        <p:spPr bwMode="auto">
          <a:xfrm>
            <a:off x="611560" y="2636912"/>
            <a:ext cx="6768752" cy="3862198"/>
          </a:xfrm>
          <a:prstGeom prst="rect">
            <a:avLst/>
          </a:prstGeom>
          <a:noFill/>
          <a:ln w="9525">
            <a:noFill/>
            <a:miter lim="800000"/>
            <a:headEnd/>
            <a:tailEnd/>
          </a:ln>
        </p:spPr>
      </p:pic>
      <p:sp>
        <p:nvSpPr>
          <p:cNvPr id="5" name="Rectangle 4"/>
          <p:cNvSpPr/>
          <p:nvPr/>
        </p:nvSpPr>
        <p:spPr>
          <a:xfrm>
            <a:off x="251520" y="1844824"/>
            <a:ext cx="8568952" cy="646331"/>
          </a:xfrm>
          <a:prstGeom prst="rect">
            <a:avLst/>
          </a:prstGeom>
        </p:spPr>
        <p:txBody>
          <a:bodyPr wrap="square">
            <a:spAutoFit/>
          </a:bodyPr>
          <a:lstStyle/>
          <a:p>
            <a:r>
              <a:rPr lang="en-US" b="1" dirty="0" smtClean="0"/>
              <a:t>Reconstruction Workflow (Forward and Backward Pass)</a:t>
            </a:r>
          </a:p>
          <a:p>
            <a:r>
              <a:rPr lang="en-US" dirty="0" smtClean="0">
                <a:latin typeface="Times New Roman" pitchFamily="18" charset="0"/>
                <a:cs typeface="Times New Roman" pitchFamily="18" charset="0"/>
              </a:rPr>
              <a:t>Let’s say you start with an input vector v.</a:t>
            </a:r>
            <a:endParaRPr lang="en-US" dirty="0">
              <a:latin typeface="Times New Roman" pitchFamily="18" charset="0"/>
              <a:cs typeface="Times New Roman"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404664"/>
            <a:ext cx="8352928" cy="2664296"/>
          </a:xfrm>
        </p:spPr>
        <p:txBody>
          <a:bodyPr>
            <a:normAutofit fontScale="77500" lnSpcReduction="20000"/>
          </a:bodyPr>
          <a:lstStyle/>
          <a:p>
            <a:pPr>
              <a:buNone/>
            </a:pPr>
            <a:r>
              <a:rPr lang="en-US" b="1" dirty="0" smtClean="0"/>
              <a:t>Purpose of Reconstruction</a:t>
            </a:r>
          </a:p>
          <a:p>
            <a:r>
              <a:rPr lang="en-US" dirty="0" smtClean="0"/>
              <a:t>Compare the original input v and the reconstructed input v’.</a:t>
            </a:r>
          </a:p>
          <a:p>
            <a:r>
              <a:rPr lang="en-US" dirty="0" smtClean="0"/>
              <a:t>Compute reconstruction loss, often mean squared error or cross-entropy loss, to train the RBM using Contrastive Divergence.</a:t>
            </a:r>
            <a:endParaRPr lang="en-US" dirty="0"/>
          </a:p>
        </p:txBody>
      </p:sp>
      <p:pic>
        <p:nvPicPr>
          <p:cNvPr id="149506" name="Picture 2"/>
          <p:cNvPicPr>
            <a:picLocks noChangeAspect="1" noChangeArrowheads="1"/>
          </p:cNvPicPr>
          <p:nvPr/>
        </p:nvPicPr>
        <p:blipFill>
          <a:blip r:embed="rId3" cstate="print"/>
          <a:srcRect/>
          <a:stretch>
            <a:fillRect/>
          </a:stretch>
        </p:blipFill>
        <p:spPr bwMode="auto">
          <a:xfrm>
            <a:off x="611560" y="3284984"/>
            <a:ext cx="7920880" cy="3294198"/>
          </a:xfrm>
          <a:prstGeom prst="rect">
            <a:avLst/>
          </a:prstGeom>
          <a:noFill/>
          <a:ln w="9525">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640960" cy="6408712"/>
          </a:xfrm>
        </p:spPr>
        <p:txBody>
          <a:bodyPr>
            <a:normAutofit fontScale="62500" lnSpcReduction="20000"/>
          </a:bodyPr>
          <a:lstStyle/>
          <a:p>
            <a:pPr>
              <a:buNone/>
            </a:pPr>
            <a:r>
              <a:rPr lang="en-US" b="1" dirty="0" smtClean="0"/>
              <a:t>Sample RBM Architecture</a:t>
            </a:r>
          </a:p>
          <a:p>
            <a:r>
              <a:rPr lang="en-US" b="1" dirty="0" smtClean="0"/>
              <a:t>Visible units (input layer)</a:t>
            </a:r>
            <a:r>
              <a:rPr lang="en-US" dirty="0" smtClean="0"/>
              <a:t>: 3 units (v₁, v₂, v₃)</a:t>
            </a:r>
          </a:p>
          <a:p>
            <a:r>
              <a:rPr lang="en-US" b="1" dirty="0" smtClean="0"/>
              <a:t>Hidden units (feature layer)</a:t>
            </a:r>
            <a:r>
              <a:rPr lang="en-US" dirty="0" smtClean="0"/>
              <a:t>: 2 units (h₁, h₂)</a:t>
            </a:r>
          </a:p>
          <a:p>
            <a:pPr>
              <a:buNone/>
            </a:pPr>
            <a:r>
              <a:rPr lang="en-US" dirty="0" smtClean="0"/>
              <a:t>Let’s define:</a:t>
            </a:r>
          </a:p>
          <a:p>
            <a:pPr>
              <a:buNone/>
            </a:pPr>
            <a:endParaRPr lang="en-US" b="1" dirty="0" smtClean="0"/>
          </a:p>
          <a:p>
            <a:pPr>
              <a:buNone/>
            </a:pPr>
            <a:endParaRPr lang="en-US" b="1" dirty="0" smtClean="0"/>
          </a:p>
          <a:p>
            <a:pPr>
              <a:buNone/>
            </a:pPr>
            <a:endParaRPr lang="en-US" b="1" dirty="0" smtClean="0"/>
          </a:p>
          <a:p>
            <a:pPr>
              <a:buNone/>
            </a:pPr>
            <a:endParaRPr lang="en-US" b="1" dirty="0" smtClean="0"/>
          </a:p>
          <a:p>
            <a:pPr>
              <a:buNone/>
            </a:pPr>
            <a:endParaRPr lang="en-US" b="1" dirty="0" smtClean="0"/>
          </a:p>
          <a:p>
            <a:pPr>
              <a:buNone/>
            </a:pPr>
            <a:endParaRPr lang="en-US" b="1" dirty="0" smtClean="0"/>
          </a:p>
          <a:p>
            <a:pPr>
              <a:buNone/>
            </a:pPr>
            <a:r>
              <a:rPr lang="en-US" b="1" dirty="0" smtClean="0"/>
              <a:t>Input vector:</a:t>
            </a:r>
          </a:p>
          <a:p>
            <a:r>
              <a:rPr lang="en-US" dirty="0" smtClean="0"/>
              <a:t>Each row corresponds to a visible unit; each column to a hidden unit.</a:t>
            </a:r>
          </a:p>
          <a:p>
            <a:pPr>
              <a:buNone/>
            </a:pPr>
            <a:r>
              <a:rPr lang="en-US" b="1" dirty="0" smtClean="0"/>
              <a:t> Biases:</a:t>
            </a:r>
          </a:p>
          <a:p>
            <a:r>
              <a:rPr lang="en-US" dirty="0" smtClean="0"/>
              <a:t>Hidden layer biases: b=[0.1,0.2]</a:t>
            </a:r>
          </a:p>
          <a:p>
            <a:r>
              <a:rPr lang="en-US" dirty="0" smtClean="0"/>
              <a:t>Visible layer biases: a=[0.05,0.05,0.05]</a:t>
            </a:r>
          </a:p>
          <a:p>
            <a:endParaRPr lang="en-US" dirty="0"/>
          </a:p>
        </p:txBody>
      </p:sp>
      <p:pic>
        <p:nvPicPr>
          <p:cNvPr id="150530" name="Picture 2"/>
          <p:cNvPicPr>
            <a:picLocks noChangeAspect="1" noChangeArrowheads="1"/>
          </p:cNvPicPr>
          <p:nvPr/>
        </p:nvPicPr>
        <p:blipFill>
          <a:blip r:embed="rId2" cstate="print"/>
          <a:srcRect/>
          <a:stretch>
            <a:fillRect/>
          </a:stretch>
        </p:blipFill>
        <p:spPr bwMode="auto">
          <a:xfrm>
            <a:off x="1115616" y="1844824"/>
            <a:ext cx="4974751" cy="2304256"/>
          </a:xfrm>
          <a:prstGeom prst="rect">
            <a:avLst/>
          </a:prstGeom>
          <a:noFill/>
          <a:ln w="9525">
            <a:noFill/>
            <a:miter lim="800000"/>
            <a:headEnd/>
            <a:tailEnd/>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424936" cy="1296144"/>
          </a:xfrm>
        </p:spPr>
        <p:txBody>
          <a:bodyPr>
            <a:normAutofit fontScale="62500" lnSpcReduction="20000"/>
          </a:bodyPr>
          <a:lstStyle/>
          <a:p>
            <a:pPr>
              <a:buNone/>
            </a:pPr>
            <a:r>
              <a:rPr lang="en-US" b="1" u="sng" dirty="0" smtClean="0"/>
              <a:t>Step-by-Step Reconstruction</a:t>
            </a:r>
          </a:p>
          <a:p>
            <a:pPr>
              <a:buNone/>
            </a:pPr>
            <a:r>
              <a:rPr lang="en-US" dirty="0" smtClean="0"/>
              <a:t>Step 1: Forward Pass — Compute Hidden Probabilities</a:t>
            </a:r>
          </a:p>
          <a:p>
            <a:pPr>
              <a:buNone/>
            </a:pPr>
            <a:r>
              <a:rPr lang="en-US" dirty="0" smtClean="0"/>
              <a:t>Using:</a:t>
            </a:r>
          </a:p>
        </p:txBody>
      </p:sp>
      <p:pic>
        <p:nvPicPr>
          <p:cNvPr id="151554" name="Picture 2"/>
          <p:cNvPicPr>
            <a:picLocks noChangeAspect="1" noChangeArrowheads="1"/>
          </p:cNvPicPr>
          <p:nvPr/>
        </p:nvPicPr>
        <p:blipFill>
          <a:blip r:embed="rId2" cstate="print"/>
          <a:srcRect/>
          <a:stretch>
            <a:fillRect/>
          </a:stretch>
        </p:blipFill>
        <p:spPr bwMode="auto">
          <a:xfrm>
            <a:off x="1115616" y="1484784"/>
            <a:ext cx="3064465" cy="792087"/>
          </a:xfrm>
          <a:prstGeom prst="rect">
            <a:avLst/>
          </a:prstGeom>
          <a:noFill/>
          <a:ln w="9525">
            <a:noFill/>
            <a:miter lim="800000"/>
            <a:headEnd/>
            <a:tailEnd/>
          </a:ln>
        </p:spPr>
      </p:pic>
      <p:pic>
        <p:nvPicPr>
          <p:cNvPr id="151555" name="Picture 3"/>
          <p:cNvPicPr>
            <a:picLocks noChangeAspect="1" noChangeArrowheads="1"/>
          </p:cNvPicPr>
          <p:nvPr/>
        </p:nvPicPr>
        <p:blipFill>
          <a:blip r:embed="rId3" cstate="print"/>
          <a:srcRect/>
          <a:stretch>
            <a:fillRect/>
          </a:stretch>
        </p:blipFill>
        <p:spPr bwMode="auto">
          <a:xfrm>
            <a:off x="179512" y="2348880"/>
            <a:ext cx="8269764" cy="3342428"/>
          </a:xfrm>
          <a:prstGeom prst="rect">
            <a:avLst/>
          </a:prstGeom>
          <a:noFill/>
          <a:ln w="9525">
            <a:noFill/>
            <a:miter lim="800000"/>
            <a:headEnd/>
            <a:tailEnd/>
          </a:ln>
        </p:spPr>
      </p:pic>
      <p:pic>
        <p:nvPicPr>
          <p:cNvPr id="151556" name="Picture 4"/>
          <p:cNvPicPr>
            <a:picLocks noChangeAspect="1" noChangeArrowheads="1"/>
          </p:cNvPicPr>
          <p:nvPr/>
        </p:nvPicPr>
        <p:blipFill>
          <a:blip r:embed="rId4" cstate="print"/>
          <a:srcRect/>
          <a:stretch>
            <a:fillRect/>
          </a:stretch>
        </p:blipFill>
        <p:spPr bwMode="auto">
          <a:xfrm>
            <a:off x="2051720" y="6021288"/>
            <a:ext cx="2448272" cy="507039"/>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2" cstate="print"/>
          <a:srcRect/>
          <a:stretch>
            <a:fillRect/>
          </a:stretch>
        </p:blipFill>
        <p:spPr bwMode="auto">
          <a:xfrm>
            <a:off x="899592" y="260648"/>
            <a:ext cx="7880260" cy="6336704"/>
          </a:xfrm>
          <a:prstGeom prst="rect">
            <a:avLst/>
          </a:prstGeom>
          <a:noFill/>
          <a:ln w="9525">
            <a:noFill/>
            <a:miter lim="800000"/>
            <a:headEnd/>
            <a:tailEnd/>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p:cNvPicPr>
            <a:picLocks noChangeAspect="1" noChangeArrowheads="1"/>
          </p:cNvPicPr>
          <p:nvPr/>
        </p:nvPicPr>
        <p:blipFill>
          <a:blip r:embed="rId2" cstate="print"/>
          <a:srcRect/>
          <a:stretch>
            <a:fillRect/>
          </a:stretch>
        </p:blipFill>
        <p:spPr bwMode="auto">
          <a:xfrm>
            <a:off x="683568" y="476672"/>
            <a:ext cx="6840760" cy="3372206"/>
          </a:xfrm>
          <a:prstGeom prst="rect">
            <a:avLst/>
          </a:prstGeom>
          <a:noFill/>
          <a:ln w="9525">
            <a:noFill/>
            <a:miter lim="800000"/>
            <a:headEnd/>
            <a:tailEnd/>
          </a:ln>
        </p:spPr>
      </p:pic>
      <p:pic>
        <p:nvPicPr>
          <p:cNvPr id="153603" name="Picture 3"/>
          <p:cNvPicPr>
            <a:picLocks noChangeAspect="1" noChangeArrowheads="1"/>
          </p:cNvPicPr>
          <p:nvPr/>
        </p:nvPicPr>
        <p:blipFill>
          <a:blip r:embed="rId3" cstate="print"/>
          <a:srcRect/>
          <a:stretch>
            <a:fillRect/>
          </a:stretch>
        </p:blipFill>
        <p:spPr bwMode="auto">
          <a:xfrm>
            <a:off x="971600" y="4077072"/>
            <a:ext cx="6619770" cy="2232248"/>
          </a:xfrm>
          <a:prstGeom prst="rect">
            <a:avLst/>
          </a:prstGeom>
          <a:noFill/>
          <a:ln w="9525">
            <a:noFill/>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ma\Downloads\WhatsApp Image 2025-07-17 at 5.31.17 AM.jpeg"/>
          <p:cNvPicPr>
            <a:picLocks noChangeAspect="1" noChangeArrowheads="1"/>
          </p:cNvPicPr>
          <p:nvPr/>
        </p:nvPicPr>
        <p:blipFill>
          <a:blip r:embed="rId2" cstate="print"/>
          <a:srcRect l="2273" t="11102" b="2550"/>
          <a:stretch>
            <a:fillRect/>
          </a:stretch>
        </p:blipFill>
        <p:spPr bwMode="auto">
          <a:xfrm rot="16200000">
            <a:off x="1182481" y="-94252"/>
            <a:ext cx="6635023" cy="7056783"/>
          </a:xfrm>
          <a:prstGeom prst="rect">
            <a:avLst/>
          </a:prstGeom>
          <a:noFill/>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descr="C:\Users\Hema\Downloads\WhatsApp Image 2025-07-17 at 6.04.25 AM.jpeg"/>
          <p:cNvPicPr>
            <a:picLocks noChangeAspect="1" noChangeArrowheads="1"/>
          </p:cNvPicPr>
          <p:nvPr/>
        </p:nvPicPr>
        <p:blipFill>
          <a:blip r:embed="rId2" cstate="print"/>
          <a:srcRect l="6639" r="34822"/>
          <a:stretch>
            <a:fillRect/>
          </a:stretch>
        </p:blipFill>
        <p:spPr bwMode="auto">
          <a:xfrm rot="5400000">
            <a:off x="770614" y="389626"/>
            <a:ext cx="6597352" cy="6339396"/>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2298</TotalTime>
  <Words>8184</Words>
  <Application>Microsoft Office PowerPoint</Application>
  <PresentationFormat>On-screen Show (4:3)</PresentationFormat>
  <Paragraphs>1284</Paragraphs>
  <Slides>111</Slides>
  <Notes>2</Notes>
  <HiddenSlides>0</HiddenSlides>
  <MMClips>0</MMClips>
  <ScaleCrop>false</ScaleCrop>
  <HeadingPairs>
    <vt:vector size="4" baseType="variant">
      <vt:variant>
        <vt:lpstr>Theme</vt:lpstr>
      </vt:variant>
      <vt:variant>
        <vt:i4>1</vt:i4>
      </vt:variant>
      <vt:variant>
        <vt:lpstr>Slide Titles</vt:lpstr>
      </vt:variant>
      <vt:variant>
        <vt:i4>111</vt:i4>
      </vt:variant>
    </vt:vector>
  </HeadingPairs>
  <TitlesOfParts>
    <vt:vector size="112" baseType="lpstr">
      <vt:lpstr>Office Theme</vt:lpstr>
      <vt:lpstr>UNIT I</vt:lpstr>
      <vt:lpstr>Neural Network (NN)</vt:lpstr>
      <vt:lpstr>Slide 3</vt:lpstr>
      <vt:lpstr>Artificial Neuron (Perceptron or Node)</vt:lpstr>
      <vt:lpstr>A Perceptron</vt:lpstr>
      <vt:lpstr>Perceptron</vt:lpstr>
      <vt:lpstr>Slide 7</vt:lpstr>
      <vt:lpstr>Slide 8</vt:lpstr>
      <vt:lpstr>Slide 9</vt:lpstr>
      <vt:lpstr>Key terms</vt:lpstr>
      <vt:lpstr>Bias – to understand</vt:lpstr>
      <vt:lpstr>Slide 12</vt:lpstr>
      <vt:lpstr>Slide 13</vt:lpstr>
      <vt:lpstr>Artificial Neural Network (ANN)</vt:lpstr>
      <vt:lpstr>Multi-Layer Perceptron Learning in Tensorflow </vt:lpstr>
      <vt:lpstr>Slide 16</vt:lpstr>
      <vt:lpstr>Slide 17</vt:lpstr>
      <vt:lpstr>Common Architectural Principles of Deep Networks </vt:lpstr>
      <vt:lpstr>Parameters and Hyperparameters</vt:lpstr>
      <vt:lpstr>Model Parameters </vt:lpstr>
      <vt:lpstr>Hyperparameters</vt:lpstr>
      <vt:lpstr>Creating a simple Multilayer Neural Network (MLP) in Keras (with TensorFlow backend)</vt:lpstr>
      <vt:lpstr>Slide 23</vt:lpstr>
      <vt:lpstr>Slide 24</vt:lpstr>
      <vt:lpstr>Slide 25</vt:lpstr>
      <vt:lpstr>Slide 26</vt:lpstr>
      <vt:lpstr>Slide 27</vt:lpstr>
      <vt:lpstr>Slide 28</vt:lpstr>
      <vt:lpstr>Slide 29</vt:lpstr>
      <vt:lpstr>Slide 30</vt:lpstr>
      <vt:lpstr>Regularization Techniques</vt:lpstr>
      <vt:lpstr>Slide 32</vt:lpstr>
      <vt:lpstr>Slide 33</vt:lpstr>
      <vt:lpstr>Slide 34</vt:lpstr>
      <vt:lpstr>Slide 35</vt:lpstr>
      <vt:lpstr>Overfitting, underfitting, good fit</vt:lpstr>
      <vt:lpstr>Slide 37</vt:lpstr>
      <vt:lpstr>Example </vt:lpstr>
      <vt:lpstr>Hyperparameter Tuning</vt:lpstr>
      <vt:lpstr>Methods of hyperparameter tuning</vt:lpstr>
      <vt:lpstr>Slide 41</vt:lpstr>
      <vt:lpstr>Gridsearch</vt:lpstr>
      <vt:lpstr>Random search</vt:lpstr>
      <vt:lpstr>Automated Tuning Tools</vt:lpstr>
      <vt:lpstr>hyperparameter</vt:lpstr>
      <vt:lpstr>Slide 46</vt:lpstr>
      <vt:lpstr>Slide 47</vt:lpstr>
      <vt:lpstr>Activation Function - ReLU </vt:lpstr>
      <vt:lpstr>Overfitting and underfitting</vt:lpstr>
      <vt:lpstr>Loss function </vt:lpstr>
      <vt:lpstr>Slide 51</vt:lpstr>
      <vt:lpstr>Question 3: with a simple loss function — the Mean Squared Error (MSE) — to compare Model A and Model B step-by-step.</vt:lpstr>
      <vt:lpstr>Slide 53</vt:lpstr>
      <vt:lpstr>Steps to create a simple neural network </vt:lpstr>
      <vt:lpstr>Slide 55</vt:lpstr>
      <vt:lpstr>Implementation of Neural Network using TensorFlow</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understand the building block networks of deep networks</vt:lpstr>
      <vt:lpstr>Slide 70</vt:lpstr>
      <vt:lpstr>Slide 71</vt:lpstr>
      <vt:lpstr>Slide 72</vt:lpstr>
      <vt:lpstr>Problems </vt:lpstr>
      <vt:lpstr>Slide 74</vt:lpstr>
      <vt:lpstr>Slide 75</vt:lpstr>
      <vt:lpstr>Slide 76</vt:lpstr>
      <vt:lpstr>Find the net input</vt:lpstr>
      <vt:lpstr>Slide 78</vt:lpstr>
      <vt:lpstr>Slide 79</vt:lpstr>
      <vt:lpstr>Slide 80</vt:lpstr>
      <vt:lpstr>Slide 81</vt:lpstr>
      <vt:lpstr>Slide 82</vt:lpstr>
      <vt:lpstr>Slide 83</vt:lpstr>
      <vt:lpstr>Slide 84</vt:lpstr>
      <vt:lpstr>Slide 85</vt:lpstr>
      <vt:lpstr>Activation Function</vt:lpstr>
      <vt:lpstr>Slide 87</vt:lpstr>
      <vt:lpstr>Slide 88</vt:lpstr>
      <vt:lpstr>Most commonly used</vt:lpstr>
      <vt:lpstr>Slide 90</vt:lpstr>
      <vt:lpstr>Loss function</vt:lpstr>
      <vt:lpstr>Types </vt:lpstr>
      <vt:lpstr>Loss Function for regression</vt:lpstr>
      <vt:lpstr>Slide 94</vt:lpstr>
      <vt:lpstr>Slide 95</vt:lpstr>
      <vt:lpstr>Loss Function for classification</vt:lpstr>
      <vt:lpstr>Slide 97</vt:lpstr>
      <vt:lpstr>Loss function for Reconstruction</vt:lpstr>
      <vt:lpstr>RBM</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Hema</dc:creator>
  <cp:lastModifiedBy>Hema</cp:lastModifiedBy>
  <cp:revision>258</cp:revision>
  <dcterms:created xsi:type="dcterms:W3CDTF">2024-07-11T15:37:21Z</dcterms:created>
  <dcterms:modified xsi:type="dcterms:W3CDTF">2025-08-07T23:23:55Z</dcterms:modified>
</cp:coreProperties>
</file>